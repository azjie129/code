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71" r:id="rId3"/>
    <p:sldMasterId id="2147483685" r:id="rId4"/>
    <p:sldMasterId id="2147483704" r:id="rId5"/>
  </p:sldMasterIdLst>
  <p:notesMasterIdLst>
    <p:notesMasterId r:id="rId7"/>
  </p:notesMasterIdLst>
  <p:handoutMasterIdLst>
    <p:handoutMasterId r:id="rId16"/>
  </p:handoutMasterIdLst>
  <p:sldIdLst>
    <p:sldId id="256" r:id="rId6"/>
    <p:sldId id="257" r:id="rId8"/>
    <p:sldId id="265" r:id="v4newslide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8" userDrawn="1">
          <p15:clr>
            <a:srgbClr val="A4A3A4"/>
          </p15:clr>
        </p15:guide>
        <p15:guide id="2" orient="horz" pos="22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2C7"/>
    <a:srgbClr val="D99694"/>
    <a:srgbClr val="2B71B1"/>
    <a:srgbClr val="17375E"/>
    <a:srgbClr val="002060"/>
    <a:srgbClr val="003F98"/>
    <a:srgbClr val="CDE1F2"/>
    <a:srgbClr val="F80304"/>
    <a:srgbClr val="BD3D6E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0" autoAdjust="0"/>
    <p:restoredTop sz="91269" autoAdjust="0"/>
  </p:normalViewPr>
  <p:slideViewPr>
    <p:cSldViewPr snapToGrid="0" showGuides="1">
      <p:cViewPr varScale="1">
        <p:scale>
          <a:sx n="101" d="100"/>
          <a:sy n="101" d="100"/>
        </p:scale>
        <p:origin x="1008" y="72"/>
      </p:cViewPr>
      <p:guideLst>
        <p:guide pos="3838"/>
        <p:guide orient="horz" pos="22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4237"/>
    </p:cViewPr>
  </p:sorter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v4newslide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A402E-0A3A-4BB2-892E-2A006059FE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47892-CE47-41FF-9649-DF0E141C2D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CCD68-BB16-4B09-96DE-77E75F617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B5D0D-1737-4DFB-8E55-DAD58C6B9E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v4master" Type="http://schemas.openxmlformats.org/officeDocument/2006/relationships/notesMaster" Target="../notesMasters/notesMaster1.xml"/><Relationship Id="v4slide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v4master" Type="http://schemas.openxmlformats.org/officeDocument/2006/relationships/notesMaster" Target="../notesMasters/notesMaster1.xml"/><Relationship Id="v4slide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定位：用稀土作探针，检验封装型Cu@Na-Beta中界面Cu电子态与CO₂加氢制乙醇的关系，不以性能提升为成败标准。依据用户2026-10-12最终版逻辑文件；两篇原始论文：[1] Ding et al., Chem 2020, 6, 2673–2689, DOI:10.1016/j.chempr.2020.07.001；[2] Zhang et al., Angew. Chem. Int. Ed. 2025, 64, e202514920, DOI:10.1002/anie.202514920。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性能条件：1.3MPa/300°C下STY258、CO₂转化率7.9%、有机产物中乙醇约100%、CO选择性30.5%；2.1MPa下STY约398、乙醇收率约14%。均为GHSV12000 mL gcat−1 h−1，H₂/CO₂=3。100h稳定性在1.3MPa验证。价态证据：XAFS为250°C/0.5MPa；XPS/AES前同条件处理40min后无空气转移。体相与表面灵敏度不同，少量电正性Cu与主要为金属Cu并非必然矛盾。缺口是目标性能工况下界面Cu价态定量及其功能归因。原文也讨论Cu与骨架氧相互作用，不能说只有纯几何叙事。逻辑文件Cu@Na-ZSM-5表格仍误把25.4%记为乙醇选择性；原文Table1为乙醇85.0%、CO25.4%，本页不引用该错误。图截自主文PDF第6页Fig.2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片为主文PDF第4页Fig.2d、2h。Y固定6wt%、脱铝Beta、350°C纯H₂还原后，Cu(I)绝对量为0.39±0.02、0.53±0.04、0.43±0.17wt%，支持该系列存在近似有限的难还原Cu池。不能证明池容量与Y量线性缩放，也不能推断Cu负载是唯一可调变量。按0.45wt%容量外推，Cu0.4/1.0/2.0/8.24wt%对应f(Cu⁺)=min(100%,0.45/Cu×100%)约100/45/22.5/5.46%，属样品设计假设而非实测或硬上限。本体系是封装Cu颗粒，与脱铝Beta不同。原文乙醇脱氢中Cu(I)活性较低，乙醇暴露可继续将其还原；不能直接视为CO₂加氢的严格逆反应或据此给出结局先验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学问题采用用户指定表述。晶内引入Y/La单原子并在还原气氛下锁定Cu(I)是待检验的研究目标，不是已有文献证明的本体系事实。拟先用HAADF-STEM/EXAFS核验稀土原子分散、位置与Cu–RE近邻，再在300°C/1.3MPa目标评价工况下进行Cu K-edge XANES线性组合定量并考察压力依赖，结合CO-DRIFTS表面响应与EXAFS交叉验证。将工况Cu⁺/Cu⁰变化与乙醇全碳口径选择性及表面Cu归一速率关联，控制粒径/配位、孔结构和酸性等共变量；由同位素瞬态、原位红外和DFT共同检验候选活性位点及反应步骤。未校准的CO峰比不直接等于绝对Cu⁺覆盖率；相关性不单独构成因果或位点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样品清单为11种配方：A1/A2/A3、B1/B2/B3、S5、S0、P1、L1、X1。首轮制备12釜，来自S0独立重复两釜，未计补做/放大。低Cu0.4–2.0wt%处于单原子—小颗粒过渡区，同载量有无Y仍可能改变Cu配位和粒径，成对比较不能自动保证几何相同。L1的La目标9.4wt%基于同一最终催化剂质量基准下6×138.905/88.905=9.374%，实现近似等摩尔RE原子数，实际投料需按最终收率及ICP修正。X1位置与制备方式同时变化，比较前须核验孔结构/分散度/酸性。文献固定Y6wt%的容量不证明Y2wt%必为0.13wt%Cu(I)，不作线性缩放硬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拟沿用户DGC配方路线，在壳凝胶阶段加入Y(NO₃)₃·6H₂O或La(NO₃)₃·6H₂O。壳凝胶具体组分比例没有随本次逻辑文件给出，执行前按既定配方补齐，不能凭这页直接完成全配方称量。目标是晶内分散/锚定，不宣称加稀土盐即可自动进入骨架位。酸洗ICP、N₂吸附及XRD用于初筛；酸洗条件1MHNO₃、2h，Cu保留≥80%为项目拟定门槛，须在可比酸洗条件及无Y基线上验证，单项不能充分证明封装成功。XRD未见Y₂O₃不能排除无定形或微量团簇。HAADF-STEM/EXAFS共同检查稀土分散与Cu–RE邻近；无邻近证据不沿用双单原子机制，仍可探索载体或酸性效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文件详细计划明确只排合成与出釜判定，但末尾又提12周回答SQ1及形成SQ2散点图；这里按具体合成排期界定交付，避免在无机时/装置信息时承诺12周完成全链验证。W1–W2五釜：S0×2、A2、B2、S5；W5–W6六釜：A1/A3/B1/B3/L1/X1；W9–W10新增P1一釜，另补做/放大。W3–W4、W7–W8、W11–W12用于各批质量核验与下一批决策。若S5表明Y6wt%导致孔结构破坏，先于第二批下调Y，Cu梯度同步重设；同比下调仅是实验设计，不意味着容量必随Y线性变化。同步辐射在第1月提交申请，CO-DRIFTS方法标定可并行，但不把离线低温CO信号直接标为工况覆盖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截自Chem主文PDF第9页Fig.3A，原文已经完成¹²CO₂/¹³CO₂瞬态切换，创新不在重复方法，而是在可比结构、可分辨界面Cu谱学水平上比较混合同位素乙醇形成速率和时间常数。气相滞留、取样时间和同位素混合必须校正。通过CH₃COO*红外动态和动力学判断对CH₃*形成、偶联、乙酸根加氢各步的影响；相同信号可有多种机理解释，不能仅凭同位素或相关性指认Cu(I)。XANES LCF与EXAFS用于交叉验证，统一S₀²处理并报告误差，避免跨样品CN表观差异直接作粒径定量。CO探针可能改变氧化态/覆盖度，准工况转移须验证状态保真。DFT模型依据实测近邻/配位，采用自洽电荷补偿，不能人为指定一个Cu⁺便声称实现真实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预期六类结果均为条件化解释。A正相关只支持电子态作用假设，不充分证明Cu(I)参与偶联；B负相关与未检出应分开解释，后者不能证明纯几何机制；C结构破坏仅定义已测工艺范围，不能断言两种调控永不兼容；D可评估选择性/稳定性权衡，但抗水汽或CO抑制须实测；E无近邻证据不能自动证明载体电子效应，应调整模型并检验其他解释；F工况下Cu⁺信号消失必须排除探针扰动与检测限，只能约束本体系/测量范围，不能泛化所有热催化体系。文献综述清单仅有文件自述的Crossref元数据核验，未提供完整原文；本报告不据其断言全领域首次、无人研究或最可能结局。成功标准为可重复的方法、受控构效证据或清晰的可用边界，而非超过STY258/398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《遗留问题.md》及Chem原文。原位XANES在250°C/0.5MPa反应气中测量；XPS/AES为相同温压、气氛处理40min后无空气转移测量。两者具有不同测量状态与体相/表面灵敏度，主要为Cu⁰与少量电正性Cu可以共存，不能仅据此断言结果互相矛盾。原文用mainly（主要），并未声称Cu⁰是唯一活性物种。SI Fig.S6表明Cu2p的Cu⁰/Cu⁺峰位重叠，Cu LMM提供辅助区分，稳态含量和功能归因仍待验证。拟在300°C/1.3MPa同步测量价态和产物，并增加压力点。0.5MPa下94.6% CO选择性来自300°C的压力系列，不能移植为250°C XAS条件的数据。负相关或未检出关联不能自动证明纯几何机制。图片直接截自用户提供的mmc1.pdf第8页Fig.S6，未重绘数据。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s.cn/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as.cn/" TargetMode="External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 flipH="1">
            <a:off x="-1" y="1"/>
            <a:ext cx="12192001" cy="6858000"/>
          </a:xfrm>
          <a:prstGeom prst="rect">
            <a:avLst/>
          </a:prstGeom>
          <a:gradFill flip="none" rotWithShape="1">
            <a:gsLst>
              <a:gs pos="76000">
                <a:schemeClr val="bg1">
                  <a:lumMod val="85000"/>
                  <a:alpha val="30000"/>
                </a:schemeClr>
              </a:gs>
              <a:gs pos="14000">
                <a:srgbClr val="256385">
                  <a:alpha val="75000"/>
                </a:srgbClr>
              </a:gs>
              <a:gs pos="44000">
                <a:schemeClr val="bg1">
                  <a:lumMod val="85000"/>
                  <a:alpha val="5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pic>
        <p:nvPicPr>
          <p:cNvPr id="9" name="图片 8" descr="资源 9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8460" y="443230"/>
            <a:ext cx="1275080" cy="1275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04567" y="6356351"/>
            <a:ext cx="447502" cy="343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Noto Serif CJK SC" panose="020B0604020202020204" pitchFamily="34" charset="0"/>
                <a:cs typeface="Noto Serif CJK SC" panose="020B0604020202020204" pitchFamily="34" charset="0"/>
              </a:defRPr>
            </a:lvl1pPr>
          </a:lstStyle>
          <a:p>
            <a:fld id="{5D42E840-DB4D-4613-9801-0A608BBD03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69B5D-2B9E-4097-B447-B9AE8A9D542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0D15-1A6B-4929-BF9A-52CE8FD03295}" type="datetime1">
              <a:rPr lang="zh-CN" altLang="en-US" smtClean="0"/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6.png"/><Relationship Id="rId23" Type="http://schemas.openxmlformats.org/officeDocument/2006/relationships/image" Target="../media/image5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1" Type="http://schemas.openxmlformats.org/officeDocument/2006/relationships/theme" Target="../theme/theme3.xml"/><Relationship Id="rId20" Type="http://schemas.openxmlformats.org/officeDocument/2006/relationships/image" Target="../media/image6.png"/><Relationship Id="rId2" Type="http://schemas.openxmlformats.org/officeDocument/2006/relationships/slideLayout" Target="../slideLayouts/slideLayout37.xml"/><Relationship Id="rId19" Type="http://schemas.openxmlformats.org/officeDocument/2006/relationships/image" Target="../media/image5.jpeg"/><Relationship Id="rId18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0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5" Type="http://schemas.openxmlformats.org/officeDocument/2006/relationships/theme" Target="../theme/theme4.xml"/><Relationship Id="rId24" Type="http://schemas.openxmlformats.org/officeDocument/2006/relationships/image" Target="../media/image6.png"/><Relationship Id="rId23" Type="http://schemas.openxmlformats.org/officeDocument/2006/relationships/image" Target="../media/image5.jpeg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  <a:latin typeface="Noto Serif CJK SC" panose="020B0604020202020204" pitchFamily="34" charset="0"/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4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microsoft.com/office/2007/relationships/hdphoto" Target="../media/image8.wdp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v4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v4img1" Type="http://schemas.openxmlformats.org/officeDocument/2006/relationships/image" Target="../media/v4_image.png"/><Relationship Id="v4notes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Photocopy trans="30000" detail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7084"/>
            <a:ext cx="12192000" cy="4390916"/>
          </a:xfrm>
          <a:prstGeom prst="rect">
            <a:avLst/>
          </a:prstGeom>
        </p:spPr>
      </p:pic>
      <p:sp>
        <p:nvSpPr>
          <p:cNvPr id="12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rPr>
              <a:t> 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erif CJK SC" panose="02010600030101010101" pitchFamily="2" charset="-122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-1" y="1576873"/>
            <a:ext cx="12192001" cy="1813093"/>
          </a:xfrm>
          <a:prstGeom prst="roundRect">
            <a:avLst>
              <a:gd name="adj" fmla="val 10350"/>
            </a:avLst>
          </a:prstGeom>
          <a:solidFill>
            <a:srgbClr val="014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erif CJK SC" panose="02010600030101010101" pitchFamily="2" charset="-122"/>
              <a:ea typeface="Noto Serif CJK SC" panose="02010600030101010101" pitchFamily="2" charset="-122"/>
              <a:cs typeface="Noto Serif CJK SC" panose="02010600030101010101" pitchFamily="2" charset="-122"/>
            </a:endParaRPr>
          </a:p>
        </p:txBody>
      </p:sp>
      <p:grpSp>
        <p:nvGrpSpPr>
          <p:cNvPr id="14" name="组合 21"/>
          <p:cNvGrpSpPr/>
          <p:nvPr/>
        </p:nvGrpSpPr>
        <p:grpSpPr>
          <a:xfrm>
            <a:off x="-38391" y="5731544"/>
            <a:ext cx="3468343" cy="1366557"/>
            <a:chOff x="-38391" y="5726916"/>
            <a:chExt cx="3468343" cy="1366557"/>
          </a:xfrm>
        </p:grpSpPr>
        <p:sp>
          <p:nvSpPr>
            <p:cNvPr id="15" name="任意多边形: 形状 3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  <p:sp>
          <p:nvSpPr>
            <p:cNvPr id="16" name="任意多边形: 形状 4"/>
            <p:cNvSpPr/>
            <p:nvPr/>
          </p:nvSpPr>
          <p:spPr>
            <a:xfrm rot="20929187">
              <a:off x="-38391" y="6080250"/>
              <a:ext cx="2200002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16730 w 2200002"/>
                <a:gd name="connsiteY0-2" fmla="*/ 0 h 1000529"/>
                <a:gd name="connsiteX1-3" fmla="*/ 430196 w 2200002"/>
                <a:gd name="connsiteY1-4" fmla="*/ 182654 h 1000529"/>
                <a:gd name="connsiteX2-5" fmla="*/ 1815586 w 2200002"/>
                <a:gd name="connsiteY2-6" fmla="*/ 848052 h 1000529"/>
                <a:gd name="connsiteX3-7" fmla="*/ 2200002 w 2200002"/>
                <a:gd name="connsiteY3-8" fmla="*/ 1000529 h 1000529"/>
                <a:gd name="connsiteX4-9" fmla="*/ 0 w 2200002"/>
                <a:gd name="connsiteY4-10" fmla="*/ 572989 h 1000529"/>
                <a:gd name="connsiteX5-11" fmla="*/ 54717 w 2200002"/>
                <a:gd name="connsiteY5-12" fmla="*/ 313759 h 1000529"/>
                <a:gd name="connsiteX6" fmla="*/ 116730 w 2200002"/>
                <a:gd name="connsiteY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" y="connsiteY6"/>
                </a:cxn>
              </a:cxnLst>
              <a:rect l="l" t="t" r="r" b="b"/>
              <a:pathLst>
                <a:path w="2200002" h="1000529">
                  <a:moveTo>
                    <a:pt x="116730" y="0"/>
                  </a:moveTo>
                  <a:lnTo>
                    <a:pt x="430196" y="182654"/>
                  </a:lnTo>
                  <a:cubicBezTo>
                    <a:pt x="856807" y="419361"/>
                    <a:pt x="1319919" y="641763"/>
                    <a:pt x="1815586" y="848052"/>
                  </a:cubicBezTo>
                  <a:lnTo>
                    <a:pt x="2200002" y="1000529"/>
                  </a:lnTo>
                  <a:lnTo>
                    <a:pt x="0" y="572989"/>
                  </a:lnTo>
                  <a:lnTo>
                    <a:pt x="54717" y="313759"/>
                  </a:lnTo>
                  <a:lnTo>
                    <a:pt x="11673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</p:grpSp>
      <p:grpSp>
        <p:nvGrpSpPr>
          <p:cNvPr id="17" name="组合 24"/>
          <p:cNvGrpSpPr/>
          <p:nvPr/>
        </p:nvGrpSpPr>
        <p:grpSpPr>
          <a:xfrm flipH="1">
            <a:off x="8764681" y="5731544"/>
            <a:ext cx="3466057" cy="1366557"/>
            <a:chOff x="-36105" y="5726916"/>
            <a:chExt cx="3466057" cy="1366557"/>
          </a:xfrm>
        </p:grpSpPr>
        <p:sp>
          <p:nvSpPr>
            <p:cNvPr id="18" name="任意多边形: 形状 9"/>
            <p:cNvSpPr/>
            <p:nvPr/>
          </p:nvSpPr>
          <p:spPr>
            <a:xfrm rot="21140193">
              <a:off x="-10067" y="5726916"/>
              <a:ext cx="3440019" cy="1366557"/>
            </a:xfrm>
            <a:custGeom>
              <a:avLst/>
              <a:gdLst>
                <a:gd name="connsiteX0" fmla="*/ 86597 w 3440019"/>
                <a:gd name="connsiteY0" fmla="*/ 0 h 1366557"/>
                <a:gd name="connsiteX1" fmla="*/ 127728 w 3440019"/>
                <a:gd name="connsiteY1" fmla="*/ 26486 h 1366557"/>
                <a:gd name="connsiteX2" fmla="*/ 3192470 w 3440019"/>
                <a:gd name="connsiteY2" fmla="*/ 1301380 h 1366557"/>
                <a:gd name="connsiteX3" fmla="*/ 3440019 w 3440019"/>
                <a:gd name="connsiteY3" fmla="*/ 1366557 h 1366557"/>
                <a:gd name="connsiteX4" fmla="*/ 0 w 3440019"/>
                <a:gd name="connsiteY4" fmla="*/ 903682 h 1366557"/>
                <a:gd name="connsiteX5" fmla="*/ 0 w 3440019"/>
                <a:gd name="connsiteY5" fmla="*/ 643579 h 1366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0019" h="1366557">
                  <a:moveTo>
                    <a:pt x="86597" y="0"/>
                  </a:moveTo>
                  <a:lnTo>
                    <a:pt x="127728" y="26486"/>
                  </a:lnTo>
                  <a:cubicBezTo>
                    <a:pt x="959851" y="535988"/>
                    <a:pt x="2000799" y="969821"/>
                    <a:pt x="3192470" y="1301380"/>
                  </a:cubicBezTo>
                  <a:lnTo>
                    <a:pt x="3440019" y="1366557"/>
                  </a:lnTo>
                  <a:lnTo>
                    <a:pt x="0" y="903682"/>
                  </a:lnTo>
                  <a:lnTo>
                    <a:pt x="0" y="643579"/>
                  </a:lnTo>
                  <a:close/>
                </a:path>
              </a:pathLst>
            </a:custGeom>
            <a:gradFill flip="none" rotWithShape="1">
              <a:gsLst>
                <a:gs pos="87000">
                  <a:schemeClr val="accent1"/>
                </a:gs>
                <a:gs pos="0">
                  <a:schemeClr val="accent2">
                    <a:lumMod val="58000"/>
                    <a:lumOff val="42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5552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1978" tIns="55988" rIns="111978" bIns="55988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20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  <p:sp>
          <p:nvSpPr>
            <p:cNvPr id="19" name="任意多边形: 形状 10"/>
            <p:cNvSpPr/>
            <p:nvPr/>
          </p:nvSpPr>
          <p:spPr>
            <a:xfrm rot="20929187">
              <a:off x="-36105" y="6080027"/>
              <a:ext cx="2197695" cy="1000529"/>
            </a:xfrm>
            <a:custGeom>
              <a:avLst/>
              <a:gdLst>
                <a:gd name="connsiteX0" fmla="*/ 77968 w 2161240"/>
                <a:gd name="connsiteY0" fmla="*/ 0 h 1000529"/>
                <a:gd name="connsiteX1" fmla="*/ 391434 w 2161240"/>
                <a:gd name="connsiteY1" fmla="*/ 182654 h 1000529"/>
                <a:gd name="connsiteX2" fmla="*/ 1776824 w 2161240"/>
                <a:gd name="connsiteY2" fmla="*/ 848052 h 1000529"/>
                <a:gd name="connsiteX3" fmla="*/ 2161240 w 2161240"/>
                <a:gd name="connsiteY3" fmla="*/ 1000529 h 1000529"/>
                <a:gd name="connsiteX4" fmla="*/ 0 w 2161240"/>
                <a:gd name="connsiteY4" fmla="*/ 573368 h 1000529"/>
                <a:gd name="connsiteX5" fmla="*/ 15955 w 2161240"/>
                <a:gd name="connsiteY5" fmla="*/ 313759 h 1000529"/>
                <a:gd name="connsiteX0-1" fmla="*/ 129362 w 2212634"/>
                <a:gd name="connsiteY0-2" fmla="*/ 0 h 1000529"/>
                <a:gd name="connsiteX1-3" fmla="*/ 442828 w 2212634"/>
                <a:gd name="connsiteY1-4" fmla="*/ 182654 h 1000529"/>
                <a:gd name="connsiteX2-5" fmla="*/ 1828218 w 2212634"/>
                <a:gd name="connsiteY2-6" fmla="*/ 848052 h 1000529"/>
                <a:gd name="connsiteX3-7" fmla="*/ 2212634 w 2212634"/>
                <a:gd name="connsiteY3-8" fmla="*/ 1000529 h 1000529"/>
                <a:gd name="connsiteX4-9" fmla="*/ 0 w 2212634"/>
                <a:gd name="connsiteY4-10" fmla="*/ 563211 h 1000529"/>
                <a:gd name="connsiteX5-11" fmla="*/ 67349 w 2212634"/>
                <a:gd name="connsiteY5-12" fmla="*/ 313759 h 1000529"/>
                <a:gd name="connsiteX6" fmla="*/ 129362 w 2212634"/>
                <a:gd name="connsiteY6" fmla="*/ 0 h 1000529"/>
                <a:gd name="connsiteX0-13" fmla="*/ 114423 w 2197695"/>
                <a:gd name="connsiteY0-14" fmla="*/ 0 h 1000529"/>
                <a:gd name="connsiteX1-15" fmla="*/ 427889 w 2197695"/>
                <a:gd name="connsiteY1-16" fmla="*/ 182654 h 1000529"/>
                <a:gd name="connsiteX2-17" fmla="*/ 1813279 w 2197695"/>
                <a:gd name="connsiteY2-18" fmla="*/ 848052 h 1000529"/>
                <a:gd name="connsiteX3-19" fmla="*/ 2197695 w 2197695"/>
                <a:gd name="connsiteY3-20" fmla="*/ 1000529 h 1000529"/>
                <a:gd name="connsiteX4-21" fmla="*/ 0 w 2197695"/>
                <a:gd name="connsiteY4-22" fmla="*/ 561310 h 1000529"/>
                <a:gd name="connsiteX5-23" fmla="*/ 52410 w 2197695"/>
                <a:gd name="connsiteY5-24" fmla="*/ 313759 h 1000529"/>
                <a:gd name="connsiteX6-25" fmla="*/ 114423 w 2197695"/>
                <a:gd name="connsiteY6-26" fmla="*/ 0 h 100052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25" y="connsiteY6-26"/>
                </a:cxn>
              </a:cxnLst>
              <a:rect l="l" t="t" r="r" b="b"/>
              <a:pathLst>
                <a:path w="2197695" h="1000529">
                  <a:moveTo>
                    <a:pt x="114423" y="0"/>
                  </a:moveTo>
                  <a:lnTo>
                    <a:pt x="427889" y="182654"/>
                  </a:lnTo>
                  <a:cubicBezTo>
                    <a:pt x="854500" y="419361"/>
                    <a:pt x="1317612" y="641763"/>
                    <a:pt x="1813279" y="848052"/>
                  </a:cubicBezTo>
                  <a:lnTo>
                    <a:pt x="2197695" y="1000529"/>
                  </a:lnTo>
                  <a:lnTo>
                    <a:pt x="0" y="561310"/>
                  </a:lnTo>
                  <a:lnTo>
                    <a:pt x="52410" y="313759"/>
                  </a:lnTo>
                  <a:lnTo>
                    <a:pt x="114423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endParaRPr>
            </a:p>
          </p:txBody>
        </p:sp>
      </p:grpSp>
      <p:pic>
        <p:nvPicPr>
          <p:cNvPr id="20" name="图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44" y="189577"/>
            <a:ext cx="4490450" cy="687501"/>
          </a:xfrm>
          <a:prstGeom prst="rect">
            <a:avLst/>
          </a:prstGeom>
        </p:spPr>
      </p:pic>
      <p:pic>
        <p:nvPicPr>
          <p:cNvPr id="21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890" y="207483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稀土调控 Cu 电子态&#10;用于 CO₂ 加氢制乙醇"/>
          <p:cNvSpPr>
            <a:spLocks noGrp="1"/>
          </p:cNvSpPr>
          <p:nvPr/>
        </p:nvSpPr>
        <p:spPr>
          <a:xfrm>
            <a:off x="640080" y="1819656"/>
            <a:ext cx="10908792" cy="12527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稀土调控 Cu 电子态</a:t>
            </a:r>
            <a:endParaRPr sz="3300" b="1">
              <a:solidFill>
                <a:srgbClr val="FFFFFF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>
              <a:defRPr sz="33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用于 CO₂ 加氢制乙醇</a:t>
            </a:r>
            <a:endParaRPr sz="3300" b="1">
              <a:solidFill>
                <a:srgbClr val="FFFFFF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5" name="2026年10月12日"/>
          <p:cNvSpPr>
            <a:spLocks noGrp="1"/>
          </p:cNvSpPr>
          <p:nvPr/>
        </p:nvSpPr>
        <p:spPr>
          <a:xfrm>
            <a:off x="2377440" y="6035040"/>
            <a:ext cx="7434072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2026年10月12日</a:t>
            </a:r>
            <a:endParaRPr sz="17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3951605" y="4203700"/>
          <a:ext cx="4895215" cy="1828800"/>
        </p:xfrm>
        <a:graphic>
          <a:graphicData uri="http://schemas.openxmlformats.org/drawingml/2006/table">
            <a:tbl>
              <a:tblPr firstRow="1" bandRow="1"/>
              <a:tblGrid>
                <a:gridCol w="1506855"/>
                <a:gridCol w="3388360"/>
              </a:tblGrid>
              <a:tr h="422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r>
                        <a:rPr lang="zh-CN" altLang="en-US" sz="2400" b="1" dirty="0">
                          <a:latin typeface="+mn-ea"/>
                        </a:rPr>
                        <a:t>  汇报人：</a:t>
                      </a: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l"/>
                      <a:r>
                        <a:rPr lang="zh-CN" altLang="en-US" sz="2400" b="1" dirty="0"/>
                        <a:t>张</a:t>
                      </a:r>
                      <a:r>
                        <a:rPr lang="en-US" altLang="zh-CN" sz="2400" b="1" dirty="0"/>
                        <a:t>    </a:t>
                      </a:r>
                      <a:r>
                        <a:rPr lang="zh-CN" altLang="en-US" sz="2400" b="1" dirty="0"/>
                        <a:t>捷</a:t>
                      </a: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r>
                        <a:rPr lang="zh-CN" altLang="en-US" sz="2400" b="1" dirty="0">
                          <a:latin typeface="+mn-ea"/>
                        </a:rPr>
                        <a:t>  导</a:t>
                      </a:r>
                      <a:r>
                        <a:rPr lang="en-US" altLang="zh-CN" sz="2400" b="1" dirty="0">
                          <a:latin typeface="+mn-ea"/>
                        </a:rPr>
                        <a:t> </a:t>
                      </a:r>
                      <a:r>
                        <a:rPr lang="zh-CN" altLang="en-US" sz="2400" b="1" dirty="0">
                          <a:latin typeface="+mn-ea"/>
                        </a:rPr>
                        <a:t>  师：</a:t>
                      </a: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latin typeface="+mn-ea"/>
                          <a:sym typeface="+mn-ea"/>
                        </a:rPr>
                        <a:t>胡国平  </a:t>
                      </a:r>
                      <a:r>
                        <a:rPr lang="zh-CN" altLang="en-US" sz="2400" b="1" dirty="0">
                          <a:latin typeface="+mn-ea"/>
                          <a:sym typeface="+mn-ea"/>
                        </a:rPr>
                        <a:t>赵生迎</a:t>
                      </a:r>
                      <a:endParaRPr lang="zh-CN" altLang="en-US" sz="2400" b="1" dirty="0">
                        <a:latin typeface="+mn-ea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algn="r"/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4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8"/>
    </mc:Choice>
    <mc:Fallback>
      <p:transition spd="slow" advTm="9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立项依据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性能基线与工况价态缺口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性能基线与工况价态缺口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2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2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已建立：封装 Cu 的性能基线"/>
          <p:cNvSpPr>
            <a:spLocks noGrp="1"/>
          </p:cNvSpPr>
          <p:nvPr/>
        </p:nvSpPr>
        <p:spPr>
          <a:xfrm>
            <a:off x="676656" y="1097280"/>
            <a:ext cx="5212080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已建立：封装 Cu 的性能基线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76656" y="1719072"/>
          <a:ext cx="5001768" cy="1563624"/>
        </p:xfrm>
        <a:graphic>
          <a:graphicData uri="http://schemas.openxmlformats.org/drawingml/2006/table">
            <a:tbl>
              <a:tblPr/>
              <a:tblGrid>
                <a:gridCol w="1490472"/>
                <a:gridCol w="1700784"/>
                <a:gridCol w="1810512"/>
              </a:tblGrid>
              <a:tr h="521208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压力</a:t>
                      </a:r>
                      <a:endParaRPr sz="19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乙醇 STY</a:t>
                      </a:r>
                      <a:endParaRPr sz="19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CO</a:t>
                      </a:r>
                      <a:r>
                        <a:rPr lang="en-US" altLang="zh-CN" sz="1900" b="1" baseline="-2500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2</a:t>
                      </a:r>
                      <a:r>
                        <a:rPr lang="zh-CN" sz="19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转化率</a:t>
                      </a:r>
                      <a:endParaRPr lang="zh-CN" sz="19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1.3 MPa</a:t>
                      </a:r>
                      <a:endParaRPr sz="19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258</a:t>
                      </a:r>
                      <a:endParaRPr sz="19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en-US" altLang="zh-CN" sz="1900">
                          <a:solidFill>
                            <a:srgbClr val="25364A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7.9 %</a:t>
                      </a:r>
                      <a:endParaRPr lang="en-US" altLang="zh-CN" sz="1900">
                        <a:solidFill>
                          <a:srgbClr val="25364A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2.1 MPa</a:t>
                      </a:r>
                      <a:endParaRPr sz="19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398</a:t>
                      </a:r>
                      <a:endParaRPr sz="19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1</a:t>
                      </a:r>
                      <a:r>
                        <a:rPr lang="en-US"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8</a:t>
                      </a:r>
                      <a:r>
                        <a:rPr sz="19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%</a:t>
                      </a:r>
                      <a:endParaRPr sz="19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9" name="乙醇为唯一有机产物，仍有 CO 副产物。&#10;1.3 "/>
          <p:cNvSpPr>
            <a:spLocks noGrp="1"/>
          </p:cNvSpPr>
          <p:nvPr/>
        </p:nvSpPr>
        <p:spPr>
          <a:xfrm>
            <a:off x="713232" y="3483864"/>
            <a:ext cx="4882896" cy="8412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乙醇为唯一有机产物，仍有 CO 副产物。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1.3 MPa 下已验证 100 h 稳定性。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300 °C；H₂/CO₂ = 3；GHSV = "/>
          <p:cNvSpPr>
            <a:spLocks noGrp="1"/>
          </p:cNvSpPr>
          <p:nvPr/>
        </p:nvSpPr>
        <p:spPr>
          <a:xfrm>
            <a:off x="759587" y="4380738"/>
            <a:ext cx="4919472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300 °C；H₂/CO₂ = 3；GHSV = 12,000</a:t>
            </a:r>
            <a:endParaRPr sz="12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STY：mg·gcat⁻¹·h⁻¹；GHSV：mL·gcat⁻¹·h⁻¹</a:t>
            </a:r>
            <a:endParaRPr sz="12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1496542"/>
            <a:ext cx="2331720" cy="3041957"/>
          </a:xfrm>
          <a:prstGeom prst="rect">
            <a:avLst/>
          </a:prstGeom>
        </p:spPr>
      </p:pic>
      <p:sp>
        <p:nvSpPr>
          <p:cNvPr id="22" name="已有价态证据&#10;250 °C / 0.5 MPa"/>
          <p:cNvSpPr>
            <a:spLocks noGrp="1"/>
          </p:cNvSpPr>
          <p:nvPr/>
        </p:nvSpPr>
        <p:spPr>
          <a:xfrm>
            <a:off x="8686800" y="1490472"/>
            <a:ext cx="2651760" cy="6766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250 °C / 0.5 MPa</a:t>
            </a:r>
            <a:endParaRPr sz="19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3" name="XANES：以 Cu⁰ 为主&#10;表面谱学：少量&#10;电正"/>
          <p:cNvSpPr>
            <a:spLocks noGrp="1"/>
          </p:cNvSpPr>
          <p:nvPr/>
        </p:nvSpPr>
        <p:spPr>
          <a:xfrm>
            <a:off x="8686800" y="2587752"/>
            <a:ext cx="2651760" cy="9418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XANES：以 Cu⁰ 为主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表面谱学：少量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电正性 Cu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目标性能工况&#10;300 °C / 1.3–2.1 M"/>
          <p:cNvSpPr>
            <a:spLocks noGrp="1"/>
          </p:cNvSpPr>
          <p:nvPr/>
        </p:nvSpPr>
        <p:spPr>
          <a:xfrm>
            <a:off x="8686800" y="4041648"/>
            <a:ext cx="2651760" cy="9509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目标性能工况</a:t>
            </a:r>
            <a:endParaRPr sz="18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300 °C / 1.3–2.1 MPa</a:t>
            </a:r>
            <a:endParaRPr sz="18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界面价态仍需验证</a:t>
            </a:r>
            <a:endParaRPr sz="18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5" name="Fig. 2G｜反应气氛 XANES"/>
          <p:cNvSpPr>
            <a:spLocks noGrp="1"/>
          </p:cNvSpPr>
          <p:nvPr/>
        </p:nvSpPr>
        <p:spPr>
          <a:xfrm>
            <a:off x="6089523" y="4681347"/>
            <a:ext cx="2496312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Fig. 2G｜反应气氛 XANES</a:t>
            </a:r>
            <a:endParaRPr sz="11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21792" y="5555361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7" name="核心缺口：目标工况下的界面 Cu 价态，是否影响乙"/>
          <p:cNvSpPr>
            <a:spLocks noGrp="1"/>
          </p:cNvSpPr>
          <p:nvPr/>
        </p:nvSpPr>
        <p:spPr>
          <a:xfrm>
            <a:off x="713359" y="5733669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核心缺口：目标工况下的界面 Cu 价态，是否影响乙醇形成？</a:t>
            </a:r>
            <a:endParaRPr sz="18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6486525"/>
            <a:ext cx="5193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Chem 6, 2673–2689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稀土依据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难还原 Cu 池：文献规律与外推边界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难还原 Cu 池：文献规律与外推边界</a:t>
            </a:r>
            <a:endParaRPr sz="25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6" name="3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4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91357"/>
            <a:ext cx="2523744" cy="331750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60" y="1481328"/>
            <a:ext cx="2523521" cy="3337560"/>
          </a:xfrm>
          <a:prstGeom prst="rect">
            <a:avLst/>
          </a:prstGeom>
        </p:spPr>
      </p:pic>
      <p:sp>
        <p:nvSpPr>
          <p:cNvPr id="19" name="Cu-Y/Beta"/>
          <p:cNvSpPr>
            <a:spLocks noGrp="1"/>
          </p:cNvSpPr>
          <p:nvPr/>
        </p:nvSpPr>
        <p:spPr>
          <a:xfrm>
            <a:off x="713232" y="1005840"/>
            <a:ext cx="2340864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Cu-Y/Beta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Cu-Beta"/>
          <p:cNvSpPr>
            <a:spLocks noGrp="1"/>
          </p:cNvSpPr>
          <p:nvPr/>
        </p:nvSpPr>
        <p:spPr>
          <a:xfrm>
            <a:off x="3465576" y="1005840"/>
            <a:ext cx="2313432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buClrTx/>
              <a:buSzTx/>
              <a:buFontTx/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Cu-Beta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1" name="Fig. 2d / 2h｜Y = 6 wt%；35"/>
          <p:cNvSpPr>
            <a:spLocks noGrp="1"/>
          </p:cNvSpPr>
          <p:nvPr/>
        </p:nvSpPr>
        <p:spPr>
          <a:xfrm>
            <a:off x="731520" y="4901184"/>
            <a:ext cx="5038344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Fig. 2d / 2h｜Y = 6 wt%；350 °C，纯 H₂</a:t>
            </a:r>
            <a:endParaRPr sz="12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2" name="文献实测：Cu(I) ≈0.4–0.5 wt%"/>
          <p:cNvSpPr>
            <a:spLocks noGrp="1"/>
          </p:cNvSpPr>
          <p:nvPr/>
        </p:nvSpPr>
        <p:spPr>
          <a:xfrm>
            <a:off x="6391656" y="1097280"/>
            <a:ext cx="5111496" cy="4480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文献实测：Cu(I) ≈0.4–0.5 wt%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3" name="该数值为占催化剂总质量的含量。&#10;仅在原文固定 Y、"/>
          <p:cNvSpPr>
            <a:spLocks noGrp="1"/>
          </p:cNvSpPr>
          <p:nvPr/>
        </p:nvSpPr>
        <p:spPr>
          <a:xfrm>
            <a:off x="6400800" y="1728216"/>
            <a:ext cx="502920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该数值为占催化剂总质量的含量。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仅在原文固定 Y、脱铝 Beta 系列验证。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6391656" y="2798064"/>
            <a:ext cx="5038344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据此设计：低 Cu 主线，高 Cu 对标"/>
          <p:cNvSpPr>
            <a:spLocks noGrp="1"/>
          </p:cNvSpPr>
          <p:nvPr/>
        </p:nvSpPr>
        <p:spPr>
          <a:xfrm>
            <a:off x="6391656" y="2990088"/>
            <a:ext cx="5038344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据此设计：低 Cu 主线，高 Cu 对标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6" name="低 Cu：扩大可检验的价态差异&#10;高 Cu：验证容量"/>
          <p:cNvSpPr>
            <a:spLocks noGrp="1"/>
          </p:cNvSpPr>
          <p:nvPr/>
        </p:nvSpPr>
        <p:spPr>
          <a:xfrm>
            <a:off x="6400800" y="3648456"/>
            <a:ext cx="5010912" cy="8138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低 Cu：扩大可检验的价态差异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高 Cu：验证容量规律能否迁移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7" name="遇乙醇后 Cu(I) 可继续还原，&#10;不能将“难还原"/>
          <p:cNvSpPr>
            <a:spLocks noGrp="1"/>
          </p:cNvSpPr>
          <p:nvPr/>
        </p:nvSpPr>
        <p:spPr>
          <a:xfrm>
            <a:off x="6400800" y="4754880"/>
            <a:ext cx="5010912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0">
                <a:solidFill>
                  <a:srgbClr val="945E1D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遇乙醇后 Cu(I) 可继续还原；</a:t>
            </a:r>
            <a:endParaRPr sz="1700" b="0">
              <a:solidFill>
                <a:srgbClr val="945E1D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700" b="0">
                <a:solidFill>
                  <a:srgbClr val="945E1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0">
                <a:solidFill>
                  <a:srgbClr val="945E1D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能否通过晶内稀土稳定 Cu(I)，需工况验证。</a:t>
            </a:r>
            <a:endParaRPr sz="1700" b="0">
              <a:solidFill>
                <a:srgbClr val="945E1D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8" name="假设容量为 0.45 wt%：Cu 0.4 / 1"/>
          <p:cNvSpPr>
            <a:spLocks noGrp="1"/>
          </p:cNvSpPr>
          <p:nvPr/>
        </p:nvSpPr>
        <p:spPr>
          <a:xfrm>
            <a:off x="749808" y="5495544"/>
            <a:ext cx="1065276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3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假设容量为 0.45 wt%：Cu 0.4 / 1 / 2 / 8.24 wt% → f(Cu⁺) ≈100 / 45 / 22.5 / 5.5%（待检验）</a:t>
            </a:r>
            <a:endParaRPr sz="13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0" name="Y 6 wt% 是文献对齐的起点；封顶量、检出限和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Y 6 wt% 是文献对齐的起点；封顶量、检出限和工况稳定性均需本体系验证。</a:t>
            </a:r>
            <a:endParaRPr sz="17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6486525"/>
            <a:ext cx="5193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Angew. Chem. Int. Ed. 2025.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/>
      <p:grpSp>
        <p:nvGrpSpPr>
          <p:cNvPr id="10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0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0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科学问题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04" name="科学问题与界面谱学判据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科学问题：稀土单原子调控 Cu⁺/Cu⁰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05" name="4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5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06" name="文本框 4"/>
          <p:cNvSpPr txBox="1"/>
          <p:nvPr/>
        </p:nvSpPr>
        <p:spPr>
          <a:xfrm>
            <a:off x="0" y="6486525"/>
            <a:ext cx="10515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Chem 6, 2673–2689; Angew. Chem. Int. Ed. 2025.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在封装型 Cu@Na-Beta 体系中，能否通过">
            <a:extLst>
              <a:ext uri="{FF2B5EF4-FFF2-40B4-BE49-F238E27FC236}">
                <a16:creationId xmlns:a16="http://schemas.microsoft.com/office/drawing/2014/main" id="{6B1C067B-6877-4788-96FA-4D5B6889D8FF}"/>
              </a:ext>
            </a:extLst>
          </p:cNvPr>
          <p:cNvSpPr>
            <a:spLocks noGrp="1"/>
          </p:cNvSpPr>
          <p:nvPr/>
        </p:nvSpPr>
        <p:spPr>
          <a:xfrm>
            <a:off x="786384" y="1234440"/>
            <a:ext cx="10634472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4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4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在封装型 Cu@Na-Beta 体系中，能否通过</a:t>
            </a:r>
          </a:p>
        </p:txBody>
      </p:sp>
      <p:sp>
        <p:nvSpPr>
          <p:cNvPr id="108" name="晶内引入稀土单原子（Y/La）在还原气氛下锁定 Cu(I)，">
            <a:extLst>
              <a:ext uri="{FF2B5EF4-FFF2-40B4-BE49-F238E27FC236}">
                <a16:creationId xmlns:a16="http://schemas.microsoft.com/office/drawing/2014/main" id="{47FC02E1-DCFB-46F6-989C-9B717C0F7CB1}"/>
              </a:ext>
            </a:extLst>
          </p:cNvPr>
          <p:cNvSpPr>
            <a:spLocks noGrp="1"/>
          </p:cNvSpPr>
          <p:nvPr/>
        </p:nvSpPr>
        <p:spPr>
          <a:xfrm>
            <a:off x="786384" y="1792224"/>
            <a:ext cx="1063447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5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晶内引入稀土单原子（Y/La）在还原气氛下锁定 Cu(I)，</a:t>
            </a:r>
          </a:p>
        </p:txBody>
      </p:sp>
      <p:sp>
        <p:nvSpPr>
          <p:cNvPr id="109" name="把 Cu⁺/Cu⁰ 比例从“被观测参数”升级为“可设计的结构">
            <a:extLst>
              <a:ext uri="{FF2B5EF4-FFF2-40B4-BE49-F238E27FC236}">
                <a16:creationId xmlns:a16="http://schemas.microsoft.com/office/drawing/2014/main" id="{D69317A0-33EF-4E2A-AD43-EF93DEF0AB05}"/>
              </a:ext>
            </a:extLst>
          </p:cNvPr>
          <p:cNvSpPr>
            <a:spLocks noGrp="1"/>
          </p:cNvSpPr>
          <p:nvPr/>
        </p:nvSpPr>
        <p:spPr>
          <a:xfrm>
            <a:off x="786384" y="2432304"/>
            <a:ext cx="1063447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5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35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35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把 Cu⁺/Cu⁰ 比例从“被观测参数”升级为“可设计的结构变量”，</a:t>
            </a:r>
          </a:p>
        </p:txBody>
      </p:sp>
      <p:sp>
        <p:nvSpPr>
          <p:cNvPr id="110" name="并给出其调控乙醇选择性的定量构效关系与作用位点？">
            <a:extLst>
              <a:ext uri="{FF2B5EF4-FFF2-40B4-BE49-F238E27FC236}">
                <a16:creationId xmlns:a16="http://schemas.microsoft.com/office/drawing/2014/main" id="{4CE96FD7-D7BF-478F-99B7-7AE3CBD0E3E5}"/>
              </a:ext>
            </a:extLst>
          </p:cNvPr>
          <p:cNvSpPr>
            <a:spLocks noGrp="1"/>
          </p:cNvSpPr>
          <p:nvPr/>
        </p:nvSpPr>
        <p:spPr>
          <a:xfrm>
            <a:off x="786384" y="3063240"/>
            <a:ext cx="10634472" cy="4846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4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4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并给出其调控乙醇选择性的定量构效关系与作用位点？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B903883B-5631-4A89-A00A-FDBB758C022D}"/>
              </a:ext>
            </a:extLst>
          </p:cNvPr>
          <p:cNvSpPr>
            <a:spLocks noGrp="1"/>
          </p:cNvSpPr>
          <p:nvPr/>
        </p:nvSpPr>
        <p:spPr>
          <a:xfrm>
            <a:off x="795528" y="3840480"/>
            <a:ext cx="10588752" cy="0"/>
          </a:xfrm>
          <a:prstGeom prst="line">
            <a:avLst/>
          </a:prstGeom>
          <a:ln w="11906">
            <a:solidFill>
              <a:srgbClr val="014099"/>
            </a:solidFill>
          </a:ln>
        </p:spPr>
      </p:sp>
      <p:sp>
        <p:nvSpPr>
          <p:cNvPr id="112" name="01  稳定化">
            <a:extLst>
              <a:ext uri="{FF2B5EF4-FFF2-40B4-BE49-F238E27FC236}">
                <a16:creationId xmlns:a16="http://schemas.microsoft.com/office/drawing/2014/main" id="{32757296-8450-4ECB-AF3B-B461091497B2}"/>
              </a:ext>
            </a:extLst>
          </p:cNvPr>
          <p:cNvSpPr>
            <a:spLocks noGrp="1"/>
          </p:cNvSpPr>
          <p:nvPr/>
        </p:nvSpPr>
        <p:spPr>
          <a:xfrm>
            <a:off x="813816" y="4114800"/>
            <a:ext cx="334670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01  稳定化</a:t>
            </a:r>
          </a:p>
        </p:txBody>
      </p:sp>
      <p:sp>
        <p:nvSpPr>
          <p:cNvPr id="113" name="晶内 Y/La 单原子能否&#10;在还原气氛下稳定 Cu(I)？">
            <a:extLst>
              <a:ext uri="{FF2B5EF4-FFF2-40B4-BE49-F238E27FC236}">
                <a16:creationId xmlns:a16="http://schemas.microsoft.com/office/drawing/2014/main" id="{C06ED394-A4AC-43AD-8F24-1DFC84BFB9B1}"/>
              </a:ext>
            </a:extLst>
          </p:cNvPr>
          <p:cNvSpPr>
            <a:spLocks noGrp="1"/>
          </p:cNvSpPr>
          <p:nvPr/>
        </p:nvSpPr>
        <p:spPr>
          <a:xfrm>
            <a:off x="813816" y="4773168"/>
            <a:ext cx="3346704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晶内 Y/La 单原子能否</a:t>
            </a:r>
          </a:p>
          <a:p>
            <a: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在还原气氛下稳定 Cu(I)？</a:t>
            </a:r>
          </a:p>
        </p:txBody>
      </p:sp>
      <p:sp>
        <p:nvSpPr>
          <p:cNvPr id="114" name="02  可设计性">
            <a:extLst>
              <a:ext uri="{FF2B5EF4-FFF2-40B4-BE49-F238E27FC236}">
                <a16:creationId xmlns:a16="http://schemas.microsoft.com/office/drawing/2014/main" id="{3276C567-2976-4FA6-B507-4FD5B711BB4D}"/>
              </a:ext>
            </a:extLst>
          </p:cNvPr>
          <p:cNvSpPr>
            <a:spLocks noGrp="1"/>
          </p:cNvSpPr>
          <p:nvPr/>
        </p:nvSpPr>
        <p:spPr>
          <a:xfrm>
            <a:off x="4416552" y="4114800"/>
            <a:ext cx="334670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02  可设计性</a:t>
            </a:r>
          </a:p>
        </p:txBody>
      </p:sp>
      <p:sp>
        <p:nvSpPr>
          <p:cNvPr id="115" name="稀土配位与近邻结构&#10;如何调节 Cu⁺/Cu⁰ 比例？">
            <a:extLst>
              <a:ext uri="{FF2B5EF4-FFF2-40B4-BE49-F238E27FC236}">
                <a16:creationId xmlns:a16="http://schemas.microsoft.com/office/drawing/2014/main" id="{EC4205F7-56B2-4497-BDC3-D9F3319FD130}"/>
              </a:ext>
            </a:extLst>
          </p:cNvPr>
          <p:cNvSpPr>
            <a:spLocks noGrp="1"/>
          </p:cNvSpPr>
          <p:nvPr/>
        </p:nvSpPr>
        <p:spPr>
          <a:xfrm>
            <a:off x="4416552" y="4773168"/>
            <a:ext cx="3346704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稀土配位与近邻结构</a:t>
            </a:r>
          </a:p>
          <a:p>
            <a: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如何调节 Cu⁺/Cu⁰ 比例？</a:t>
            </a:r>
          </a:p>
        </p:txBody>
      </p:sp>
      <p:sp>
        <p:nvSpPr>
          <p:cNvPr id="116" name="03  选择性与位点">
            <a:extLst>
              <a:ext uri="{FF2B5EF4-FFF2-40B4-BE49-F238E27FC236}">
                <a16:creationId xmlns:a16="http://schemas.microsoft.com/office/drawing/2014/main" id="{D0C36E85-C5F2-499C-A44D-70CED5152428}"/>
              </a:ext>
            </a:extLst>
          </p:cNvPr>
          <p:cNvSpPr>
            <a:spLocks noGrp="1"/>
          </p:cNvSpPr>
          <p:nvPr/>
        </p:nvSpPr>
        <p:spPr>
          <a:xfrm>
            <a:off x="8019288" y="4114800"/>
            <a:ext cx="334670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03  选择性与位点</a:t>
            </a:r>
          </a:p>
        </p:txBody>
      </p:sp>
      <p:sp>
        <p:nvSpPr>
          <p:cNvPr id="117" name="建立定量构效关系，&#10;识别影响乙醇形成的位点。">
            <a:extLst>
              <a:ext uri="{FF2B5EF4-FFF2-40B4-BE49-F238E27FC236}">
                <a16:creationId xmlns:a16="http://schemas.microsoft.com/office/drawing/2014/main" id="{CF9DECA9-1AA8-45F9-8C49-50496EBF8C0A}"/>
              </a:ext>
            </a:extLst>
          </p:cNvPr>
          <p:cNvSpPr>
            <a:spLocks noGrp="1"/>
          </p:cNvSpPr>
          <p:nvPr/>
        </p:nvSpPr>
        <p:spPr>
          <a:xfrm>
            <a:off x="8019288" y="4773168"/>
            <a:ext cx="3346704" cy="7406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建立定量构效关系，</a:t>
            </a:r>
          </a:p>
          <a:p>
            <a:pPr algn="l">
              <a:def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识别影响乙醇形成的位点。</a:t>
            </a:r>
          </a:p>
        </p:txBody>
      </p:sp>
      <p:sp>
        <p:nvSpPr>
          <p:cNvPr id="118" name="">
            <a:extLst>
              <a:ext uri="{FF2B5EF4-FFF2-40B4-BE49-F238E27FC236}">
                <a16:creationId xmlns:a16="http://schemas.microsoft.com/office/drawing/2014/main" id="{686E5E70-F957-455D-B63F-E9F098FCDA4C}"/>
              </a:ext>
            </a:extLst>
          </p:cNvPr>
          <p:cNvSpPr>
            <a:spLocks noGrp="1"/>
          </p:cNvSpPr>
          <p:nvPr/>
        </p:nvSpPr>
        <p:spPr>
          <a:xfrm>
            <a:off x="658368" y="5943600"/>
            <a:ext cx="10890504" cy="0"/>
          </a:xfrm>
          <a:prstGeom prst="line">
            <a:avLst/>
          </a:prstGeom>
          <a:ln w="11906">
            <a:solidFill>
              <a:srgbClr val="014099"/>
            </a:solidFill>
          </a:ln>
        </p:spPr>
      </p:sp>
      <p:sp>
        <p:nvSpPr>
          <p:cNvPr id="119" name="验证路径：工况 Cu 价态定量 → 乙醇选择性构效关系 → ">
            <a:extLst>
              <a:ext uri="{FF2B5EF4-FFF2-40B4-BE49-F238E27FC236}">
                <a16:creationId xmlns:a16="http://schemas.microsoft.com/office/drawing/2014/main" id="{BC01C183-AA60-4C45-9722-28D0277446EB}"/>
              </a:ext>
            </a:extLst>
          </p:cNvPr>
          <p:cNvSpPr>
            <a:spLocks noGrp="1"/>
          </p:cNvSpPr>
          <p:nvPr/>
        </p:nvSpPr>
        <p:spPr>
          <a:xfrm>
            <a:off x="740664" y="6016752"/>
            <a:ext cx="10725912" cy="3383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验证路径：工况 Cu 价态定量 → 乙醇选择性构效关系 → 活性位点与基元步骤归因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样品设计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样品矩阵与成对对照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样品矩阵与成对对照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5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6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11 种配方；首轮计划 12 釜（S0 独立重复两"/>
          <p:cNvSpPr>
            <a:spLocks noGrp="1"/>
          </p:cNvSpPr>
          <p:nvPr/>
        </p:nvSpPr>
        <p:spPr>
          <a:xfrm>
            <a:off x="685800" y="1042416"/>
            <a:ext cx="10799064" cy="4754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11 种配方；首轮计划 12 釜（S0 独立重复两釜）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694944" y="1764792"/>
          <a:ext cx="10771632" cy="3456432"/>
        </p:xfrm>
        <a:graphic>
          <a:graphicData uri="http://schemas.openxmlformats.org/drawingml/2006/table">
            <a:tbl>
              <a:tblPr/>
              <a:tblGrid>
                <a:gridCol w="1344168"/>
                <a:gridCol w="2322576"/>
                <a:gridCol w="2450592"/>
                <a:gridCol w="4654296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组别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Cu / wt%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稀土 / wt%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用途</a:t>
                      </a:r>
                      <a:endParaRPr sz="175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A1–A3</a:t>
                      </a:r>
                      <a:endParaRPr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0.4 / 1.0 / 2.0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Y 6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主系列：检验界面电子态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B1–B3</a:t>
                      </a:r>
                      <a:endParaRPr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0.4 / 1.0 / 2.0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无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与 A 系列同载量配对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S5</a:t>
                      </a:r>
                      <a:endParaRPr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0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Y 6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CO 背景；孔结构／酸性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S0 / P1</a:t>
                      </a:r>
                      <a:endParaRPr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8.24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无 / Y 6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原文基线／高 Cu 对标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L1</a:t>
                      </a:r>
                      <a:endParaRPr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1.0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La 9.4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与 Y 6 近似等摩尔对照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75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X1</a:t>
                      </a:r>
                      <a:endParaRPr sz="175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8.24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Y 6（晶外）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5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位置与接触方式对照</a:t>
                      </a:r>
                      <a:endParaRPr sz="175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9" name="比较前匹配 Cu 配位／粒径、孔结构与酸性；低 C"/>
          <p:cNvSpPr>
            <a:spLocks noGrp="1"/>
          </p:cNvSpPr>
          <p:nvPr/>
        </p:nvSpPr>
        <p:spPr>
          <a:xfrm>
            <a:off x="749808" y="5458968"/>
            <a:ext cx="1069848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6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比较前匹配 Cu 配位／粒径、孔结构与酸性；低 Cu 成对比较也不能预设几何相同。</a:t>
            </a:r>
            <a:endParaRPr sz="16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1" name="低 Cu 系列回答科学问题；高 Cu 系列对照文献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低 Cu 系列回答科学问题；高 Cu 系列对照文献性能并检验容量外推。</a:t>
            </a:r>
            <a:endParaRPr sz="18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合成路线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拟定合成路线与结构核验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拟定合成路线与结构核验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6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7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1"/>
          <p:cNvSpPr>
            <a:spLocks noGrp="1"/>
          </p:cNvSpPr>
          <p:nvPr/>
        </p:nvSpPr>
        <p:spPr>
          <a:xfrm>
            <a:off x="768096" y="1234440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1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8" name="碱处理与载 Cu"/>
          <p:cNvSpPr>
            <a:spLocks noGrp="1"/>
          </p:cNvSpPr>
          <p:nvPr/>
        </p:nvSpPr>
        <p:spPr>
          <a:xfrm>
            <a:off x="1472184" y="1234440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碱处理与载 Cu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9" name="Na-Beta / NaOH：65 °C，30 m"/>
          <p:cNvSpPr>
            <a:spLocks noGrp="1"/>
          </p:cNvSpPr>
          <p:nvPr/>
        </p:nvSpPr>
        <p:spPr>
          <a:xfrm>
            <a:off x="1490472" y="1709928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Na-Beta / NaOH：65 °C，30 min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Cu(NO₃)₂ 浸渍；450 °C，3 h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77240" y="2340864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1" name="2"/>
          <p:cNvSpPr>
            <a:spLocks noGrp="1"/>
          </p:cNvSpPr>
          <p:nvPr/>
        </p:nvSpPr>
        <p:spPr>
          <a:xfrm>
            <a:off x="768096" y="2395728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2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2" name="壳凝胶引入稀土"/>
          <p:cNvSpPr>
            <a:spLocks noGrp="1"/>
          </p:cNvSpPr>
          <p:nvPr/>
        </p:nvSpPr>
        <p:spPr>
          <a:xfrm>
            <a:off x="1472184" y="2395728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壳凝胶引入稀土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23" name="加入 Y／La 硝酸盐&#10;60–90 °C 浓缩；约"/>
          <p:cNvSpPr>
            <a:spLocks noGrp="1"/>
          </p:cNvSpPr>
          <p:nvPr/>
        </p:nvSpPr>
        <p:spPr>
          <a:xfrm>
            <a:off x="1490472" y="2871216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加入 Y／La 硝酸盐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60–90 °C 浓缩；约 5 g 干胶／釜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77240" y="3502152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3"/>
          <p:cNvSpPr>
            <a:spLocks noGrp="1"/>
          </p:cNvSpPr>
          <p:nvPr/>
        </p:nvSpPr>
        <p:spPr>
          <a:xfrm>
            <a:off x="768096" y="3557016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3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6" name="水蒸气辅助 DGC"/>
          <p:cNvSpPr>
            <a:spLocks noGrp="1"/>
          </p:cNvSpPr>
          <p:nvPr/>
        </p:nvSpPr>
        <p:spPr>
          <a:xfrm>
            <a:off x="1472184" y="3557016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水蒸气辅助 DGC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7" name="180 °C 静态晶化 2 天&#10;550 °C，4 "/>
          <p:cNvSpPr>
            <a:spLocks noGrp="1"/>
          </p:cNvSpPr>
          <p:nvPr/>
        </p:nvSpPr>
        <p:spPr>
          <a:xfrm>
            <a:off x="1490472" y="4032504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180 °C 静态晶化 2 天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550 °C，4 h 脱模板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777240" y="4663440"/>
            <a:ext cx="606247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9" name="4"/>
          <p:cNvSpPr>
            <a:spLocks noGrp="1"/>
          </p:cNvSpPr>
          <p:nvPr/>
        </p:nvSpPr>
        <p:spPr>
          <a:xfrm>
            <a:off x="768096" y="4718304"/>
            <a:ext cx="512064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3000" b="1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1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4</a:t>
            </a:r>
            <a:endParaRPr sz="3000" b="1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0" name="还原与钝化"/>
          <p:cNvSpPr>
            <a:spLocks noGrp="1"/>
          </p:cNvSpPr>
          <p:nvPr/>
        </p:nvSpPr>
        <p:spPr>
          <a:xfrm>
            <a:off x="1472184" y="4718304"/>
            <a:ext cx="4123944" cy="4206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还原与钝化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1" name="5% H₂/N₂：350 °C，1.5 h&#10;随后用"/>
          <p:cNvSpPr>
            <a:spLocks noGrp="1"/>
          </p:cNvSpPr>
          <p:nvPr/>
        </p:nvSpPr>
        <p:spPr>
          <a:xfrm>
            <a:off x="1490472" y="5193792"/>
            <a:ext cx="5367528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5% H₂/N₂：350 °C，1.5 h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随后用 1% O₂/N₂ 钝化</a:t>
            </a:r>
            <a:endParaRPr sz="18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7324344" y="1234440"/>
            <a:ext cx="4014216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3" name="每批出釜后的必要检查"/>
          <p:cNvSpPr>
            <a:spLocks noGrp="1"/>
          </p:cNvSpPr>
          <p:nvPr/>
        </p:nvSpPr>
        <p:spPr>
          <a:xfrm>
            <a:off x="7424928" y="1444752"/>
            <a:ext cx="379476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每批出釜后的必要检查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4" name="Cu 保留率 ≥80%&#10;介孔保留，Beta 晶相保"/>
          <p:cNvSpPr>
            <a:spLocks noGrp="1"/>
          </p:cNvSpPr>
          <p:nvPr/>
        </p:nvSpPr>
        <p:spPr>
          <a:xfrm>
            <a:off x="7443216" y="2212848"/>
            <a:ext cx="3739896" cy="106070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Cu 保留率 ≥80%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介孔保留，Beta 晶相保留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排查 CuO／Y₂O₃ 大晶相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7351776" y="3685032"/>
            <a:ext cx="3959352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36" name="机制迁移的结构前提"/>
          <p:cNvSpPr>
            <a:spLocks noGrp="1"/>
          </p:cNvSpPr>
          <p:nvPr/>
        </p:nvSpPr>
        <p:spPr>
          <a:xfrm>
            <a:off x="7443216" y="3886200"/>
            <a:ext cx="3749040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1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1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机制迁移的结构前提</a:t>
            </a:r>
            <a:endParaRPr sz="21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7" name="HAADF-STEM / EXAFS&#10;核验稀土分散"/>
          <p:cNvSpPr>
            <a:spLocks noGrp="1"/>
          </p:cNvSpPr>
          <p:nvPr/>
        </p:nvSpPr>
        <p:spPr>
          <a:xfrm>
            <a:off x="7443216" y="4517136"/>
            <a:ext cx="3767328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HAADF-STEM / EXAFS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185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5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核验稀土分散与 Cu–RE 邻近</a:t>
            </a:r>
            <a:endParaRPr sz="185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9" name="壳凝胶加稀土是制备路径；晶内位置、原子分散和 Cu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壳凝胶加稀土是制备路径；晶内位置、原子分散和 Cu–RE 邻近均不能预设。</a:t>
            </a:r>
            <a:endParaRPr sz="17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工作计划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近期 12 周合成安排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近期 12 周合成安排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7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8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713232" y="1307592"/>
          <a:ext cx="10744200" cy="3968496"/>
        </p:xfrm>
        <a:graphic>
          <a:graphicData uri="http://schemas.openxmlformats.org/drawingml/2006/table">
            <a:tbl>
              <a:tblPr/>
              <a:tblGrid>
                <a:gridCol w="1536192"/>
                <a:gridCol w="4928616"/>
                <a:gridCol w="427939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周次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制备／核验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阶段交付</a:t>
                      </a:r>
                      <a:endParaRPr sz="1800" b="1">
                        <a:solidFill>
                          <a:srgbClr val="FFFFFF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01409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W1–W2</a:t>
                      </a:r>
                      <a:endParaRPr sz="18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S0×2、A2、B2、S5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基线、成对样品及 Y 空白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W3–W4</a:t>
                      </a:r>
                      <a:endParaRPr sz="18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首批质量核验；必要时调配方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决定是否保留 Y 6 wt%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W5–W6</a:t>
                      </a:r>
                      <a:endParaRPr sz="18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A1、A3、B1、B3、L1、X1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补齐主系列与关键对照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W7–W8</a:t>
                      </a:r>
                      <a:endParaRPr sz="18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结构与组成核验；安排补做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确认可比样品组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W9–W10</a:t>
                      </a:r>
                      <a:endParaRPr sz="18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P1；不合格样补做／放大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完成高 Cu 对标端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0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Times New Roman" panose="02020603050405020304" charset="0"/>
                        </a:rPr>
                        <a:t>W11–W12</a:t>
                      </a:r>
                      <a:endParaRPr sz="1800" b="1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Times New Roman" panose="02020603050405020304" charset="0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批次复核与样品归档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 panose="02020603050405020304" charset="0"/>
                          <a:ea typeface="Noto Serif CJK SC"/>
                          <a:cs typeface="Noto Serif CJK SC"/>
                        </a:rPr>
                        <a:t>形成合格样品库与参数记录</a:t>
                      </a:r>
                      <a:endParaRPr sz="1800" b="0">
                        <a:solidFill>
                          <a:srgbClr val="25364A"/>
                        </a:solidFill>
                        <a:latin typeface="Times New Roman" panose="02020603050405020304" charset="0"/>
                        <a:ea typeface="Noto Serif CJK SC"/>
                        <a:cs typeface="Noto Serif CJK SC"/>
                      </a:endParaRPr>
                    </a:p>
                  </a:txBody>
                  <a:tcPr marL="95250" marR="76200" marT="57150" marB="57150" anchor="ctr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8" name="并行准备：第 1 月申请同步辐射；标定 CO-DR"/>
          <p:cNvSpPr>
            <a:spLocks noGrp="1"/>
          </p:cNvSpPr>
          <p:nvPr/>
        </p:nvSpPr>
        <p:spPr>
          <a:xfrm>
            <a:off x="758952" y="5458968"/>
            <a:ext cx="10634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0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600" b="0">
                <a:solidFill>
                  <a:srgbClr val="176D77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600" b="0">
                <a:solidFill>
                  <a:srgbClr val="176D77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并行准备：第 1 月申请同步辐射；标定 CO-DRIFTS 背景、峰归属与表面 Cu 计数。</a:t>
            </a:r>
            <a:endParaRPr sz="1600" b="0">
              <a:solidFill>
                <a:srgbClr val="176D77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0" name="若 Y 6 wt% 破坏孔结构，先调整 Y 及 C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8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8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若 Y 6 wt% 破坏孔结构，先调整 Y 及 Cu 梯度，再进入下一批制备。</a:t>
            </a:r>
            <a:endParaRPr sz="18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验证路线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价态变量化与基元步骤归因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价态变量化与基元步骤归因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8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9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140" y="1325880"/>
            <a:ext cx="2973712" cy="3941064"/>
          </a:xfrm>
          <a:prstGeom prst="rect">
            <a:avLst/>
          </a:prstGeom>
        </p:spPr>
      </p:pic>
      <p:sp>
        <p:nvSpPr>
          <p:cNvPr id="18" name="Fig. 3A｜原文同位素切换"/>
          <p:cNvSpPr>
            <a:spLocks noGrp="1"/>
          </p:cNvSpPr>
          <p:nvPr/>
        </p:nvSpPr>
        <p:spPr>
          <a:xfrm>
            <a:off x="758952" y="5358384"/>
            <a:ext cx="3035808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2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00" b="0">
                <a:solidFill>
                  <a:srgbClr val="66717F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Fig. 3A｜原文同位素切换</a:t>
            </a:r>
            <a:endParaRPr sz="1200" b="0">
              <a:solidFill>
                <a:srgbClr val="66717F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9" name="① 先建立可比较的界面指标"/>
          <p:cNvSpPr>
            <a:spLocks noGrp="1"/>
          </p:cNvSpPr>
          <p:nvPr/>
        </p:nvSpPr>
        <p:spPr>
          <a:xfrm>
            <a:off x="4370832" y="1243584"/>
            <a:ext cx="704088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① 工况下定量 Cu⁺/Cu⁰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0" name="CO-DRIFTS 扣背景与响应校准；&#10;XANES"/>
          <p:cNvSpPr>
            <a:spLocks noGrp="1"/>
          </p:cNvSpPr>
          <p:nvPr/>
        </p:nvSpPr>
        <p:spPr>
          <a:xfrm>
            <a:off x="4416552" y="1856232"/>
            <a:ext cx="6858000" cy="7863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300 °C、1.3 MPa 原位 XANES 定量；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EXAFS / CO-DRIFTS 交叉验证。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370832" y="2651760"/>
            <a:ext cx="704088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2" name="② 将同位素方法变量化"/>
          <p:cNvSpPr>
            <a:spLocks noGrp="1"/>
          </p:cNvSpPr>
          <p:nvPr/>
        </p:nvSpPr>
        <p:spPr>
          <a:xfrm>
            <a:off x="4370832" y="2788920"/>
            <a:ext cx="704088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② 将同位素方法变量化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3" name="比较 ≥3 个可分辨水平样品的&#10;¹²CH₃¹³CH"/>
          <p:cNvSpPr>
            <a:spLocks noGrp="1"/>
          </p:cNvSpPr>
          <p:nvPr/>
        </p:nvSpPr>
        <p:spPr>
          <a:xfrm>
            <a:off x="4416552" y="3401568"/>
            <a:ext cx="6858000" cy="7863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比较 ≥3 个可分辨水平样品的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¹²CH₃¹³CH₂OH 形成速率与时间常数。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4370832" y="4197096"/>
            <a:ext cx="704088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5" name="③ 区分三个可能作用步骤"/>
          <p:cNvSpPr>
            <a:spLocks noGrp="1"/>
          </p:cNvSpPr>
          <p:nvPr/>
        </p:nvSpPr>
        <p:spPr>
          <a:xfrm>
            <a:off x="4370832" y="4334256"/>
            <a:ext cx="7040880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2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③ 区分三个可能作用步骤</a:t>
            </a:r>
            <a:endParaRPr sz="22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6" name="CH₃* 生成 → C–C 偶联 → 乙酸根加氢；"/>
          <p:cNvSpPr>
            <a:spLocks noGrp="1"/>
          </p:cNvSpPr>
          <p:nvPr/>
        </p:nvSpPr>
        <p:spPr>
          <a:xfrm>
            <a:off x="4416552" y="4946904"/>
            <a:ext cx="6858000" cy="7863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CH₃* 生成 → C–C 偶联 → 乙酸根加氢；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  <a:p>
            <a:pPr algn="l">
              <a:defRPr sz="20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用原位红外、动力学与 DFT 联合判别。</a:t>
            </a:r>
            <a:endParaRPr sz="20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28" name="研究增量：在受控界面 Cu 水平上比较反应路径，而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0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研究增量：设计 Cu⁺/Cu⁰ 比例，定量关联乙醇选择性并检验候选活性位点。</a:t>
            </a:r>
            <a:endParaRPr sz="170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6486525"/>
            <a:ext cx="51936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Chem 6, 2673–2689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预期产出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预期结果与可得结论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预期结果与可得结论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9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10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A  正相关"/>
          <p:cNvSpPr>
            <a:spLocks noGrp="1"/>
          </p:cNvSpPr>
          <p:nvPr/>
        </p:nvSpPr>
        <p:spPr>
          <a:xfrm>
            <a:off x="777240" y="1325880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A  正相关</a:t>
            </a:r>
            <a:endParaRPr sz="205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18" name="支持电子态作用假设，继续验证位点与步骤。"/>
          <p:cNvSpPr>
            <a:spLocks noGrp="1"/>
          </p:cNvSpPr>
          <p:nvPr/>
        </p:nvSpPr>
        <p:spPr>
          <a:xfrm>
            <a:off x="4069080" y="1325880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Noto Serif CJK SC"/>
              </a:rPr>
              <a:t>支持电子态作用假设，继续验证位点与步骤。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58952" y="1938528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0" name="B  负相关／未检出"/>
          <p:cNvSpPr>
            <a:spLocks noGrp="1"/>
          </p:cNvSpPr>
          <p:nvPr/>
        </p:nvSpPr>
        <p:spPr>
          <a:xfrm>
            <a:off x="777240" y="2048256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B  负相关／未检出</a:t>
            </a:r>
            <a:endParaRPr sz="205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1" name="区分抑制效应与检测限，不等同于“纯几何”。"/>
          <p:cNvSpPr>
            <a:spLocks noGrp="1"/>
          </p:cNvSpPr>
          <p:nvPr/>
        </p:nvSpPr>
        <p:spPr>
          <a:xfrm>
            <a:off x="4069080" y="2048256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区分抑制效应与检测限，不等同于“纯几何”。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58952" y="2660904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3" name="C  封装受损"/>
          <p:cNvSpPr>
            <a:spLocks noGrp="1"/>
          </p:cNvSpPr>
          <p:nvPr/>
        </p:nvSpPr>
        <p:spPr>
          <a:xfrm>
            <a:off x="777240" y="2770632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C  封装受损</a:t>
            </a:r>
            <a:endParaRPr sz="205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4" name="界定本制备条件的边界，暂停价态归因。"/>
          <p:cNvSpPr>
            <a:spLocks noGrp="1"/>
          </p:cNvSpPr>
          <p:nvPr/>
        </p:nvSpPr>
        <p:spPr>
          <a:xfrm>
            <a:off x="4069080" y="2770632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Noto Serif CJK SC"/>
              </a:rPr>
              <a:t>界定本制备条件的边界，暂停价态归因。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758952" y="3383280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6" name="D  活性—稳定性权衡"/>
          <p:cNvSpPr>
            <a:spLocks noGrp="1"/>
          </p:cNvSpPr>
          <p:nvPr/>
        </p:nvSpPr>
        <p:spPr>
          <a:xfrm>
            <a:off x="777240" y="3493008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D  活性—稳定性权衡</a:t>
            </a:r>
            <a:endParaRPr sz="205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7" name="量化选择性、寿命与 CO 副产变化。"/>
          <p:cNvSpPr>
            <a:spLocks noGrp="1"/>
          </p:cNvSpPr>
          <p:nvPr/>
        </p:nvSpPr>
        <p:spPr>
          <a:xfrm>
            <a:off x="4069080" y="3493008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量化选择性、寿命与 CO 副产变化。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758952" y="4105656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29" name="E  无 Cu–RE 近邻证据"/>
          <p:cNvSpPr>
            <a:spLocks noGrp="1"/>
          </p:cNvSpPr>
          <p:nvPr/>
        </p:nvSpPr>
        <p:spPr>
          <a:xfrm>
            <a:off x="777240" y="4215384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E  无 Cu–RE 近邻证据</a:t>
            </a:r>
            <a:endParaRPr sz="205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0" name="不沿用双单原子机制，重审结构模型。"/>
          <p:cNvSpPr>
            <a:spLocks noGrp="1"/>
          </p:cNvSpPr>
          <p:nvPr/>
        </p:nvSpPr>
        <p:spPr>
          <a:xfrm>
            <a:off x="4069080" y="4215384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Noto Serif CJK SC"/>
              </a:rPr>
              <a:t>不沿用双单原子机制，重审结构模型。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758952" y="4828032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32" name="F  工况 Cu⁺ 信号消失"/>
          <p:cNvSpPr>
            <a:spLocks noGrp="1"/>
          </p:cNvSpPr>
          <p:nvPr/>
        </p:nvSpPr>
        <p:spPr>
          <a:xfrm>
            <a:off x="777240" y="4937760"/>
            <a:ext cx="3072384" cy="4297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20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5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Times New Roman" panose="02020603050405020304" charset="0"/>
              </a:rPr>
              <a:t>F  工况 Cu⁺ 信号消失</a:t>
            </a:r>
            <a:endParaRPr sz="205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Times New Roman" panose="02020603050405020304" charset="0"/>
            </a:endParaRPr>
          </a:p>
        </p:txBody>
      </p:sp>
      <p:sp>
        <p:nvSpPr>
          <p:cNvPr id="33" name="检验初始态向工况的变化，排除探针与检出限。"/>
          <p:cNvSpPr>
            <a:spLocks noGrp="1"/>
          </p:cNvSpPr>
          <p:nvPr/>
        </p:nvSpPr>
        <p:spPr>
          <a:xfrm>
            <a:off x="4069080" y="4937760"/>
            <a:ext cx="7232904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l">
              <a:defRPr sz="1900" b="0">
                <a:solidFill>
                  <a:srgbClr val="25364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00" b="0">
                <a:solidFill>
                  <a:srgbClr val="25364A"/>
                </a:solidFill>
                <a:latin typeface="Times New Roman" panose="02020603050405020304" charset="0"/>
                <a:ea typeface="Noto Serif CJK SC"/>
                <a:cs typeface="Noto Serif CJK SC"/>
              </a:rPr>
              <a:t>检验初始态向工况的变化，排除探针与检出限。</a:t>
            </a:r>
            <a:endParaRPr sz="1900" b="0">
              <a:solidFill>
                <a:srgbClr val="25364A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758952" y="5550408"/>
            <a:ext cx="10652760" cy="0"/>
          </a:xfrm>
          <a:prstGeom prst="line">
            <a:avLst/>
          </a:prstGeom>
          <a:ln w="12383">
            <a:solidFill>
              <a:srgbClr val="C9D5E3"/>
            </a:solidFill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21792" y="5888736"/>
            <a:ext cx="10945368" cy="0"/>
          </a:xfrm>
          <a:prstGeom prst="line">
            <a:avLst/>
          </a:prstGeom>
          <a:ln w="12383">
            <a:solidFill>
              <a:srgbClr val="014099"/>
            </a:solidFill>
          </a:ln>
        </p:spPr>
      </p:sp>
      <p:sp>
        <p:nvSpPr>
          <p:cNvPr id="36" name="预期交付：可复用的界面谱学方法、受控构效证据与稀土"/>
          <p:cNvSpPr>
            <a:spLocks noGrp="1"/>
          </p:cNvSpPr>
          <p:nvPr/>
        </p:nvSpPr>
        <p:spPr>
          <a:xfrm>
            <a:off x="694944" y="5952744"/>
            <a:ext cx="10808208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175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50" b="1">
                <a:solidFill>
                  <a:srgbClr val="014099"/>
                </a:solidFill>
                <a:latin typeface="Times New Roman" panose="02020603050405020304" charset="0"/>
                <a:ea typeface="Noto Serif CJK SC"/>
                <a:cs typeface="Noto Serif CJK SC"/>
              </a:rPr>
              <a:t>预期交付：工况 Cu⁺/Cu⁰ 定量、乙醇选择性的构效关系与候选作用位点。</a:t>
            </a:r>
            <a:endParaRPr sz="1750" b="1">
              <a:solidFill>
                <a:srgbClr val="014099"/>
              </a:solidFill>
              <a:latin typeface="Times New Roman" panose="02020603050405020304" charset="0"/>
              <a:ea typeface="Noto Serif CJK SC"/>
              <a:cs typeface="Noto Serif CJK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/>
      <p:grpSp>
        <p:nvGrpSpPr>
          <p:cNvPr id="10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0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0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遗留问题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04" name="性能基线与工况价态缺口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遗留问题：Cu⁰ 主导，是否还存在 Cu⁺ 活性位？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05" name="2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3</a:t>
            </a:r>
            <a:endParaRPr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06" name="文本框 4"/>
          <p:cNvSpPr txBox="1"/>
          <p:nvPr/>
        </p:nvSpPr>
        <p:spPr>
          <a:xfrm>
            <a:off x="0" y="6486525"/>
            <a:ext cx="105156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i="1">
                <a:latin typeface="Times New Roman" panose="02020603050405020304" charset="0"/>
                <a:cs typeface="Times New Roman" panose="02020603050405020304" charset="0"/>
              </a:rPr>
              <a:t>Chem 6, 2673–2689; Fig. 2G; SI Fig. S6</a:t>
            </a:r>
            <a:endParaRPr lang="en-US" altLang="zh-CN" sz="16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7" name="相同前处理：250 °C / 0.5 MPa / 40 mi">
            <a:extLst>
              <a:ext uri="{FF2B5EF4-FFF2-40B4-BE49-F238E27FC236}">
                <a16:creationId xmlns:a16="http://schemas.microsoft.com/office/drawing/2014/main" id="{5477EC41-D355-4BDD-A30D-4302052F3926}"/>
              </a:ext>
            </a:extLst>
          </p:cNvPr>
          <p:cNvSpPr>
            <a:spLocks noGrp="1"/>
          </p:cNvSpPr>
          <p:nvPr/>
        </p:nvSpPr>
        <p:spPr>
          <a:xfrm>
            <a:off x="694944" y="1060704"/>
            <a:ext cx="10853928" cy="384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相同前处理：250 °C / 0.5 MPa / 40 min；测量状态与探测深度不同</a:t>
            </a:r>
          </a:p>
        </p:txBody>
      </p:sp>
      <p:graphicFrame>
        <p:nvGraphicFramePr>
          <p:cNvPr id="108" name="">
            <a:extLst>
              <a:ext uri="{FF2B5EF4-FFF2-40B4-BE49-F238E27FC236}">
                <a16:creationId xmlns:a16="http://schemas.microsoft.com/office/drawing/2014/main" id="{4878AA77-287F-443B-995C-8B83308FEF3F}"/>
              </a:ext>
            </a:extLst>
          </p:cNvPr>
          <p:cNvGraphicFramePr/>
          <p:nvPr/>
        </p:nvGraphicFramePr>
        <p:xfrm>
          <a:off x="704088" y="1719072"/>
          <a:ext cx="10789920" cy="1078992"/>
        </p:xfrm>
        <a:graphic>
          <a:graphicData uri="http://schemas.openxmlformats.org/drawingml/2006/table">
            <a:tbl>
              <a:tblPr/>
              <a:tblGrid>
                <a:gridCol w="2843784"/>
                <a:gridCol w="7946136"/>
              </a:tblGrid>
              <a:tr h="539496">
                <a:tc>
                  <a:txBody>
                    <a:bodyPr lIns="104775" tIns="57150" rIns="952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Noto Serif CJK SC"/>
                          <a:cs typeface="Noto Serif CJK SC"/>
                        </a:rPr>
                        <a:t>原位 XANES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lIns="104775" tIns="57150" rIns="9525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/>
                          <a:ea typeface="Noto Serif CJK SC"/>
                          <a:cs typeface="Noto Serif CJK SC"/>
                        </a:rPr>
                        <a:t>“metallic copper is mainly the active species”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  <a:tr h="539496">
                <a:tc>
                  <a:txBody>
                    <a:bodyPr lIns="104775" tIns="57150" rIns="95250" bIns="571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Noto Serif CJK SC"/>
                          <a:cs typeface="Noto Serif CJK SC"/>
                        </a:rPr>
                        <a:t>XPS + Auger</a:t>
                      </a:r>
                    </a:p>
                  </a:txBody>
                  <a:tcPr marL="91440" marR="91440" marT="45720" marB="45720" anchor="ctr">
                    <a:solidFill>
                      <a:srgbClr val="014099"/>
                    </a:solidFill>
                  </a:tcPr>
                </a:tc>
                <a:tc>
                  <a:txBody>
                    <a:bodyPr lIns="104775" tIns="57150" rIns="95250" bIns="57150"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Times New Roman"/>
                          <a:ea typeface="Noto Serif CJK SC"/>
                          <a:cs typeface="Noto Serif CJK SC"/>
                        </a:rPr>
                        <a:t>“a small amount of electropositive copper species”</a:t>
                      </a:r>
                    </a:p>
                  </a:txBody>
                  <a:tcPr marL="91440" marR="91440" marT="45720" marB="45720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pic>
        <p:nvPicPr>
          <p:cNvPr id="109" name="">
            <a:extLst>
              <a:ext uri="{FF2B5EF4-FFF2-40B4-BE49-F238E27FC236}">
                <a16:creationId xmlns:a16="http://schemas.microsoft.com/office/drawing/2014/main" id="{E856184D-4F23-4083-8C48-1E4183D4250D}"/>
              </a:ext>
            </a:extLst>
          </p:cNvPr>
          <p:cNvPicPr>
            <a:picLocks noChangeAspect="1"/>
          </p:cNvPicPr>
          <p:nvPr/>
        </p:nvPicPr>
        <p:blipFill>
          <a:blip r:embed="v4img1"/>
          <a:stretch/>
        </p:blipFill>
        <p:spPr>
          <a:xfrm>
            <a:off x="694998" y="3072384"/>
            <a:ext cx="5321700" cy="2450592"/>
          </a:xfrm>
          <a:prstGeom prst="rect">
            <a:avLst/>
          </a:prstGeom>
        </p:spPr>
      </p:pic>
      <p:sp>
        <p:nvSpPr>
          <p:cNvPr id="110" name="SI Fig. S6｜Cu 2p XPS（左）与 Cu LM">
            <a:extLst>
              <a:ext uri="{FF2B5EF4-FFF2-40B4-BE49-F238E27FC236}">
                <a16:creationId xmlns:a16="http://schemas.microsoft.com/office/drawing/2014/main" id="{79B5DC0C-C26F-4357-BCAF-6780765D8090}"/>
              </a:ext>
            </a:extLst>
          </p:cNvPr>
          <p:cNvSpPr>
            <a:spLocks noGrp="1"/>
          </p:cNvSpPr>
          <p:nvPr/>
        </p:nvSpPr>
        <p:spPr>
          <a:xfrm>
            <a:off x="841248" y="5532120"/>
            <a:ext cx="4928616" cy="2377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50" b="0">
                <a:solidFill>
                  <a:srgbClr val="66717F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ctr">
              <a:defRPr sz="1150" b="0">
                <a:solidFill>
                  <a:srgbClr val="66717F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150" b="0">
                <a:solidFill>
                  <a:srgbClr val="66717F"/>
                </a:solidFill>
                <a:latin typeface="Times New Roman"/>
                <a:ea typeface="Noto Serif CJK SC"/>
                <a:cs typeface="Noto Serif CJK SC"/>
              </a:rPr>
              <a:t>SI Fig. S6｜Cu 2p XPS（左）与 Cu LMM（右）</a:t>
            </a:r>
          </a:p>
        </p:txBody>
      </p:sp>
      <p:sp>
        <p:nvSpPr>
          <p:cNvPr id="111" name="物种身份">
            <a:extLst>
              <a:ext uri="{FF2B5EF4-FFF2-40B4-BE49-F238E27FC236}">
                <a16:creationId xmlns:a16="http://schemas.microsoft.com/office/drawing/2014/main" id="{C22DAEB5-B54F-447A-8528-2F4DBAEE1634}"/>
              </a:ext>
            </a:extLst>
          </p:cNvPr>
          <p:cNvSpPr>
            <a:spLocks noGrp="1"/>
          </p:cNvSpPr>
          <p:nvPr/>
        </p:nvSpPr>
        <p:spPr>
          <a:xfrm>
            <a:off x="6428232" y="3063240"/>
            <a:ext cx="4919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物种身份</a:t>
            </a:r>
          </a:p>
        </p:txBody>
      </p:sp>
      <p:sp>
        <p:nvSpPr>
          <p:cNvPr id="112" name="Cu 2p 中 Cu⁰ / Cu⁺ 峰位重叠。">
            <a:extLst>
              <a:ext uri="{FF2B5EF4-FFF2-40B4-BE49-F238E27FC236}">
                <a16:creationId xmlns:a16="http://schemas.microsoft.com/office/drawing/2014/main" id="{D8B45C7D-2E6F-41CA-8ED8-0E61A3E8602C}"/>
              </a:ext>
            </a:extLst>
          </p:cNvPr>
          <p:cNvSpPr>
            <a:spLocks noGrp="1"/>
          </p:cNvSpPr>
          <p:nvPr/>
        </p:nvSpPr>
        <p:spPr>
          <a:xfrm>
            <a:off x="6446520" y="3456432"/>
            <a:ext cx="490118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Cu 2p 中 Cu⁰ / Cu⁺ 峰位重叠。</a:t>
            </a:r>
          </a:p>
        </p:txBody>
      </p:sp>
      <p:sp>
        <p:nvSpPr>
          <p:cNvPr id="113" name="工况含量">
            <a:extLst>
              <a:ext uri="{FF2B5EF4-FFF2-40B4-BE49-F238E27FC236}">
                <a16:creationId xmlns:a16="http://schemas.microsoft.com/office/drawing/2014/main" id="{BE86D8D0-D360-40C1-98D1-167891D0506F}"/>
              </a:ext>
            </a:extLst>
          </p:cNvPr>
          <p:cNvSpPr>
            <a:spLocks noGrp="1"/>
          </p:cNvSpPr>
          <p:nvPr/>
        </p:nvSpPr>
        <p:spPr>
          <a:xfrm>
            <a:off x="6428232" y="3995928"/>
            <a:ext cx="4919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工况含量</a:t>
            </a:r>
          </a:p>
        </p:txBody>
      </p:sp>
      <p:sp>
        <p:nvSpPr>
          <p:cNvPr id="114" name="少量电正性 Cu 缺乏稳态定量。">
            <a:extLst>
              <a:ext uri="{FF2B5EF4-FFF2-40B4-BE49-F238E27FC236}">
                <a16:creationId xmlns:a16="http://schemas.microsoft.com/office/drawing/2014/main" id="{1CA573F2-8794-4E1F-92E9-BC582F07184B}"/>
              </a:ext>
            </a:extLst>
          </p:cNvPr>
          <p:cNvSpPr>
            <a:spLocks noGrp="1"/>
          </p:cNvSpPr>
          <p:nvPr/>
        </p:nvSpPr>
        <p:spPr>
          <a:xfrm>
            <a:off x="6446520" y="4389120"/>
            <a:ext cx="490118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少量电正性 Cu 缺乏稳态定量。</a:t>
            </a:r>
          </a:p>
        </p:txBody>
      </p:sp>
      <p:sp>
        <p:nvSpPr>
          <p:cNvPr id="115" name="活性贡献">
            <a:extLst>
              <a:ext uri="{FF2B5EF4-FFF2-40B4-BE49-F238E27FC236}">
                <a16:creationId xmlns:a16="http://schemas.microsoft.com/office/drawing/2014/main" id="{1C37DC61-BC3E-4F44-9BA2-E7013598E81E}"/>
              </a:ext>
            </a:extLst>
          </p:cNvPr>
          <p:cNvSpPr>
            <a:spLocks noGrp="1"/>
          </p:cNvSpPr>
          <p:nvPr/>
        </p:nvSpPr>
        <p:spPr>
          <a:xfrm>
            <a:off x="6428232" y="4928616"/>
            <a:ext cx="4919472" cy="320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200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活性贡献</a:t>
            </a:r>
          </a:p>
        </p:txBody>
      </p:sp>
      <p:sp>
        <p:nvSpPr>
          <p:cNvPr id="116" name="是否参与乙醇形成，尚待变量化检验。">
            <a:extLst>
              <a:ext uri="{FF2B5EF4-FFF2-40B4-BE49-F238E27FC236}">
                <a16:creationId xmlns:a16="http://schemas.microsoft.com/office/drawing/2014/main" id="{480A2E48-8264-4AEE-9DA0-7E10951CBEA8}"/>
              </a:ext>
            </a:extLst>
          </p:cNvPr>
          <p:cNvSpPr>
            <a:spLocks noGrp="1"/>
          </p:cNvSpPr>
          <p:nvPr/>
        </p:nvSpPr>
        <p:spPr>
          <a:xfrm>
            <a:off x="6446520" y="5321808"/>
            <a:ext cx="4901184" cy="4663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l">
              <a:def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800" b="0">
                <a:solidFill>
                  <a:srgbClr val="25364A"/>
                </a:solidFill>
                <a:latin typeface="Times New Roman"/>
                <a:ea typeface="Noto Serif CJK SC"/>
                <a:cs typeface="Noto Serif CJK SC"/>
              </a:rPr>
              <a:t>是否参与乙醇形成，尚待变量化检验。</a:t>
            </a:r>
          </a:p>
        </p:txBody>
      </p:sp>
      <p:sp>
        <p:nvSpPr>
          <p:cNvPr id="117" name="">
            <a:extLst>
              <a:ext uri="{FF2B5EF4-FFF2-40B4-BE49-F238E27FC236}">
                <a16:creationId xmlns:a16="http://schemas.microsoft.com/office/drawing/2014/main" id="{84DD7500-B87A-451A-A5EB-EF29BC6404F4}"/>
              </a:ext>
            </a:extLst>
          </p:cNvPr>
          <p:cNvSpPr>
            <a:spLocks noGrp="1"/>
          </p:cNvSpPr>
          <p:nvPr/>
        </p:nvSpPr>
        <p:spPr>
          <a:xfrm>
            <a:off x="658368" y="5943600"/>
            <a:ext cx="10890504" cy="0"/>
          </a:xfrm>
          <a:prstGeom prst="line">
            <a:avLst/>
          </a:prstGeom>
          <a:ln w="11906">
            <a:solidFill>
              <a:srgbClr val="014099"/>
            </a:solidFill>
          </a:ln>
        </p:spPr>
      </p:sp>
      <p:sp>
        <p:nvSpPr>
          <p:cNvPr id="118" name="本课题：在 300 °C / 1.3 MPa 原位定量 Cu">
            <a:extLst>
              <a:ext uri="{FF2B5EF4-FFF2-40B4-BE49-F238E27FC236}">
                <a16:creationId xmlns:a16="http://schemas.microsoft.com/office/drawing/2014/main" id="{22000F88-DA65-4178-8212-DAD3A95F039C}"/>
              </a:ext>
            </a:extLst>
          </p:cNvPr>
          <p:cNvSpPr>
            <a:spLocks noGrp="1"/>
          </p:cNvSpPr>
          <p:nvPr/>
        </p:nvSpPr>
        <p:spPr>
          <a:xfrm>
            <a:off x="722376" y="6016752"/>
            <a:ext cx="10771632" cy="3291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5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defPPr>
          </a:lstStyle>
          <a:p>
            <a:pPr algn="ctr">
              <a:defRPr sz="175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defRPr>
            </a:pPr>
            <a:r>
              <a:rPr sz="1750" b="1">
                <a:solidFill>
                  <a:srgbClr val="014099"/>
                </a:solidFill>
                <a:latin typeface="Times New Roman"/>
                <a:ea typeface="Noto Serif CJK SC"/>
                <a:cs typeface="Noto Serif CJK SC"/>
              </a:rPr>
              <a:t>本课题：在 300 °C / 1.3 MPa 原位定量 Cu⁺/Cu⁰，并增加压力依赖点。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PP_MARK_KEY" val="29a7757d-6c0b-44f1-9ac6-ae21c2ab77ee"/>
  <p:tag name="COMMONDATA" val="eyJoZGlkIjoiODE2OTQwZDllYTBhMDVkOWJjMjQzMTgyNDlkYTVhOTgifQ=="/>
  <p:tag name="commondata" val="eyJoZGlkIjoiOGIzZWI0MmEwM2M1Yjc0MGM4YzYyZDg4NzI4N2JiYWEifQ=="/>
  <p:tag name="resource_record_key" val="{&quot;70&quot;:[3327356,3312417,3321782]}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2410</Words>
  <Application>WPS 演示</Application>
  <PresentationFormat>宽屏</PresentationFormat>
  <Paragraphs>354</Paragraphs>
  <Slides>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Noto Serif CJK SC</vt:lpstr>
      <vt:lpstr>Noto Serif CJK SC</vt:lpstr>
      <vt:lpstr>Segoe Print</vt:lpstr>
      <vt:lpstr>Noto Serif CJK SC</vt:lpstr>
      <vt:lpstr>微软雅黑</vt:lpstr>
      <vt:lpstr>Arial Unicode MS</vt:lpstr>
      <vt:lpstr>Times New Roman</vt:lpstr>
      <vt:lpstr>Times New Roman</vt:lpstr>
      <vt:lpstr>1_自定义设计方案</vt:lpstr>
      <vt:lpstr>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张捷</cp:lastModifiedBy>
  <cp:revision>1421</cp:revision>
  <dcterms:created xsi:type="dcterms:W3CDTF">2026-07-19T04:26:00Z</dcterms:created>
  <dcterms:modified xsi:type="dcterms:W3CDTF">2026-10-13T05:40:34Z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676A8D5D5B534C63B546BD44202DCE23_13</vt:lpwstr>
  </property>
  <property fmtid="{D5CDD505-2E9C-101B-9397-08002B2CF9AE}" pid="3" name="KSOProductBuildVer">
    <vt:lpwstr>2052-12.1.0.28505</vt:lpwstr>
  </property>
</Properties>
</file>