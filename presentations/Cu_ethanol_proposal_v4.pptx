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  <p:sldMasterId id="2147483671" r:id="rId3"/>
    <p:sldMasterId id="2147483685" r:id="rId4"/>
    <p:sldMasterId id="2147483704" r:id="rId5"/>
  </p:sldMasterIdLst>
  <p:notesMasterIdLst>
    <p:notesMasterId r:id="rId7"/>
  </p:notesMasterIdLst>
  <p:handoutMasterIdLst>
    <p:handoutMasterId r:id="rId15"/>
  </p:handoutMasterIdLst>
  <p:sldIdLst>
    <p:sldId id="256" r:id="rId6"/>
    <p:sldId id="257" r:id="rId8"/>
    <p:sldId id="265" r:id="rId9"/>
    <p:sldId id="258" r:id="rId10"/>
    <p:sldId id="259" r:id="rId11"/>
    <p:sldId id="260" r:id="rId12"/>
    <p:sldId id="261" r:id="rId13"/>
    <p:sldId id="264" r:id="rId14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1" userDrawn="1">
          <p15:clr>
            <a:srgbClr val="A4A3A4"/>
          </p15:clr>
        </p15:guide>
        <p15:guide id="2" orient="horz" pos="229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A2C7"/>
    <a:srgbClr val="D99694"/>
    <a:srgbClr val="2B71B1"/>
    <a:srgbClr val="17375E"/>
    <a:srgbClr val="002060"/>
    <a:srgbClr val="003F98"/>
    <a:srgbClr val="CDE1F2"/>
    <a:srgbClr val="F80304"/>
    <a:srgbClr val="BD3D6E"/>
    <a:srgbClr val="3760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60" autoAdjust="0"/>
    <p:restoredTop sz="91269" autoAdjust="0"/>
  </p:normalViewPr>
  <p:slideViewPr>
    <p:cSldViewPr snapToGrid="0" showGuides="1">
      <p:cViewPr varScale="1">
        <p:scale>
          <a:sx n="101" d="100"/>
          <a:sy n="101" d="100"/>
        </p:scale>
        <p:origin x="1008" y="72"/>
      </p:cViewPr>
      <p:guideLst>
        <p:guide pos="3841"/>
        <p:guide orient="horz" pos="229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24237"/>
    </p:cViewPr>
  </p:sorterViewPr>
  <p:notesViewPr>
    <p:cSldViewPr snapToGrid="0">
      <p:cViewPr varScale="1">
        <p:scale>
          <a:sx n="122" d="100"/>
          <a:sy n="122" d="100"/>
        </p:scale>
        <p:origin x="5004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0" Type="http://schemas.openxmlformats.org/officeDocument/2006/relationships/tags" Target="tags/tag13.xml"/><Relationship Id="rId2" Type="http://schemas.openxmlformats.org/officeDocument/2006/relationships/theme" Target="theme/theme1.xml"/><Relationship Id="rId19" Type="http://schemas.openxmlformats.org/officeDocument/2006/relationships/commentAuthors" Target="commentAuthors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0A402E-0A3A-4BB2-892E-2A006059FE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947892-CE47-41FF-9649-DF0E141C2DF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9CCD68-BB16-4B09-96DE-77E75F61787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B5D0D-1737-4DFB-8E55-DAD58C6B9E9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Noto Serif CJK SC"/>
        <a:ea typeface="Noto Serif CJK SC"/>
        <a:cs typeface="Noto Serif CJK SC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Noto Serif CJK SC"/>
        <a:ea typeface="Noto Serif CJK SC"/>
        <a:cs typeface="Noto Serif CJK SC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Noto Serif CJK SC"/>
        <a:ea typeface="Noto Serif CJK SC"/>
        <a:cs typeface="Noto Serif CJK SC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Noto Serif CJK SC"/>
        <a:ea typeface="Noto Serif CJK SC"/>
        <a:cs typeface="Noto Serif CJK SC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Noto Serif CJK SC"/>
        <a:ea typeface="Noto Serif CJK SC"/>
        <a:cs typeface="Noto Serif CJK SC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Noto Serif CJK SC"/>
        <a:ea typeface="Noto Serif CJK SC"/>
        <a:cs typeface="Noto Serif CJK SC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Noto Serif CJK SC"/>
        <a:ea typeface="Noto Serif CJK SC"/>
        <a:cs typeface="Noto Serif CJK SC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Noto Serif CJK SC"/>
        <a:ea typeface="Noto Serif CJK SC"/>
        <a:cs typeface="Noto Serif CJK SC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Noto Serif CJK SC"/>
        <a:ea typeface="Noto Serif CJK SC"/>
        <a:cs typeface="Noto Serif CJK SC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定位：用稀土作探针，检验封装型Cu@Na-Beta中界面Cu电子态与CO₂加氢制乙醇的关系，不以性能提升为成败标准。依据用户2026-10-12最终版逻辑文件；两篇原始论文：[1] Ding et al., Chem 2020, 6, 2673–2689, DOI:10.1016/j.chempr.2020.07.001；[2] Zhang et al., Angew. Chem. Int. Ed. 2025, 64, e202514920, DOI:10.1002/anie.202514920。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cas.cn/" TargetMode="External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cas.cn/" TargetMode="External"/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</p:nvPr>
        </p:nvSpPr>
        <p:spPr bwMode="auto">
          <a:xfrm>
            <a:off x="395844" y="92549"/>
            <a:ext cx="9955481" cy="865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3600" b="1">
                <a:solidFill>
                  <a:srgbClr val="004E9C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</p:nvPr>
        </p:nvSpPr>
        <p:spPr bwMode="auto">
          <a:xfrm>
            <a:off x="395844" y="92549"/>
            <a:ext cx="9955481" cy="865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3600" b="1">
                <a:solidFill>
                  <a:srgbClr val="003F98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A377DF-5019-4FC8-B740-683B59BB8E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4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8BCE3B-6028-4C3D-8729-3D668FC96AA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4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4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F0A5B5-1DC6-47DF-A1A0-8E10E7CFC3C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7" y="1535113"/>
            <a:ext cx="538956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7" y="2174875"/>
            <a:ext cx="538956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F22B7B-0A96-49A8-898F-5B574246380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655F0F-D9CC-4BF0-90F7-37847E5637E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1DDE0F-F358-4CA8-AAFA-F2095135DD2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6" y="273054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3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45C656-63A1-45CE-9309-D42BAAFFA60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75ED2D-490B-4952-A88E-B23390CE812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F94509-8500-4816-8DAA-A8E2AFBA712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2"/>
            <a:ext cx="80772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893167-8505-4AAC-89B2-3879FF204F4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BAA7-3AF6-4759-8086-FFC677CC6B1F}" type="slidenum">
              <a:rPr lang="zh-CN" altLang="en-US"/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5"/>
          </p:nvPr>
        </p:nvSpPr>
        <p:spPr>
          <a:xfrm>
            <a:off x="3215680" y="28848"/>
            <a:ext cx="8366720" cy="5040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0000CC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BAA7-3AF6-4759-8086-FFC677CC6B1F}" type="slidenum">
              <a:rPr lang="zh-CN" altLang="en-US" smtClean="0"/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5"/>
          </p:nvPr>
        </p:nvSpPr>
        <p:spPr>
          <a:xfrm>
            <a:off x="3215680" y="28848"/>
            <a:ext cx="8366720" cy="5040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0000CC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BAA7-3AF6-4759-8086-FFC677CC6B1F}" type="slidenum">
              <a:rPr lang="zh-CN" altLang="en-US" smtClean="0"/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5"/>
          </p:nvPr>
        </p:nvSpPr>
        <p:spPr>
          <a:xfrm>
            <a:off x="3215680" y="28848"/>
            <a:ext cx="8366720" cy="5040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0000CC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BAA7-3AF6-4759-8086-FFC677CC6B1F}" type="slidenum">
              <a:rPr lang="zh-CN" altLang="en-US" smtClean="0"/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5"/>
          </p:nvPr>
        </p:nvSpPr>
        <p:spPr>
          <a:xfrm>
            <a:off x="3215680" y="28848"/>
            <a:ext cx="8366720" cy="5040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0000CC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239349" y="634677"/>
            <a:ext cx="11809312" cy="562075"/>
          </a:xfrm>
          <a:prstGeom prst="rect">
            <a:avLst/>
          </a:prstGeom>
        </p:spPr>
        <p:txBody>
          <a:bodyPr lIns="91062" tIns="45530" rIns="91062" bIns="45530"/>
          <a:lstStyle>
            <a:lvl1pPr algn="l">
              <a:defRPr sz="3735" spc="100" baseline="0">
                <a:solidFill>
                  <a:srgbClr val="C00000"/>
                </a:solidFill>
                <a:latin typeface="Noto Serif CJK SC"/>
                <a:ea typeface="Noto Serif CJK SC" panose="0201060003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 bwMode="auto">
          <a:xfrm>
            <a:off x="-1" y="1268760"/>
            <a:ext cx="9576000" cy="18000"/>
          </a:xfrm>
          <a:prstGeom prst="rect">
            <a:avLst/>
          </a:prstGeom>
          <a:gradFill flip="none" rotWithShape="1">
            <a:gsLst>
              <a:gs pos="50000">
                <a:srgbClr val="C00000"/>
              </a:gs>
              <a:gs pos="0">
                <a:schemeClr val="bg1"/>
              </a:gs>
            </a:gsLst>
            <a:lin ang="108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416" tIns="60706" rIns="121416" bIns="60706" numCol="1" rtlCol="0" anchor="t" anchorCtr="0" compatLnSpc="1"/>
          <a:lstStyle/>
          <a:p>
            <a:endParaRPr lang="zh-CN" altLang="en-US" sz="24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356354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356354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356354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017A4A9B-9035-48C0-8290-E8CB8F97A013}" type="slidenum">
              <a:rPr lang="zh-CN" altLang="en-US"/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小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593248" y="6470450"/>
            <a:ext cx="589227" cy="365125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fld id="{C29D8F93-F8B8-48CE-B7F7-E780DAB890E3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>
            <a:off x="0" y="0"/>
            <a:ext cx="4511824" cy="6858000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3500000" scaled="1"/>
            <a:tileRect/>
          </a:gradFill>
          <a:ln w="3175">
            <a:noFill/>
          </a:ln>
          <a:effectLst/>
        </p:spPr>
        <p:txBody>
          <a:bodyPr wrap="square" lIns="121912" tIns="60956" rIns="121912" bIns="60956" anchor="ctr">
            <a:noAutofit/>
          </a:bodyPr>
          <a:lstStyle/>
          <a:p>
            <a:pPr algn="ctr" eaLnBrk="0" hangingPunct="0">
              <a:buClr>
                <a:srgbClr val="66FFFF"/>
              </a:buClr>
            </a:pPr>
            <a:endParaRPr lang="zh-CN" altLang="en-US" sz="3200" b="1" kern="0">
              <a:solidFill>
                <a:prstClr val="white"/>
              </a:solidFill>
              <a:latin typeface="Noto Serif CJK SC" panose="020B0604020202020204" pitchFamily="34" charset="0"/>
              <a:ea typeface="Noto Serif CJK SC" panose="02010600030101010101" pitchFamily="2" charset="-122"/>
              <a:cs typeface="Noto Serif CJK SC" panose="020B0604020202020204" pitchFamily="34" charset="0"/>
            </a:endParaRPr>
          </a:p>
        </p:txBody>
      </p:sp>
      <p:sp>
        <p:nvSpPr>
          <p:cNvPr id="5" name="矩形 18"/>
          <p:cNvSpPr/>
          <p:nvPr userDrawn="1"/>
        </p:nvSpPr>
        <p:spPr>
          <a:xfrm>
            <a:off x="0" y="0"/>
            <a:ext cx="4511824" cy="6858000"/>
          </a:xfrm>
          <a:custGeom>
            <a:avLst/>
            <a:gdLst>
              <a:gd name="connsiteX0" fmla="*/ 0 w 3383868"/>
              <a:gd name="connsiteY0" fmla="*/ 0 h 6858000"/>
              <a:gd name="connsiteX1" fmla="*/ 3383868 w 3383868"/>
              <a:gd name="connsiteY1" fmla="*/ 0 h 6858000"/>
              <a:gd name="connsiteX2" fmla="*/ 3383868 w 3383868"/>
              <a:gd name="connsiteY2" fmla="*/ 6858000 h 6858000"/>
              <a:gd name="connsiteX3" fmla="*/ 0 w 3383868"/>
              <a:gd name="connsiteY3" fmla="*/ 6858000 h 6858000"/>
              <a:gd name="connsiteX4" fmla="*/ 0 w 3383868"/>
              <a:gd name="connsiteY4" fmla="*/ 0 h 6858000"/>
              <a:gd name="connsiteX0-1" fmla="*/ 0 w 3383868"/>
              <a:gd name="connsiteY0-2" fmla="*/ 0 h 6858000"/>
              <a:gd name="connsiteX1-3" fmla="*/ 3383868 w 3383868"/>
              <a:gd name="connsiteY1-4" fmla="*/ 0 h 6858000"/>
              <a:gd name="connsiteX2-5" fmla="*/ 3383868 w 3383868"/>
              <a:gd name="connsiteY2-6" fmla="*/ 6858000 h 6858000"/>
              <a:gd name="connsiteX3-7" fmla="*/ 0 w 3383868"/>
              <a:gd name="connsiteY3-8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383868" h="6858000">
                <a:moveTo>
                  <a:pt x="0" y="0"/>
                </a:moveTo>
                <a:lnTo>
                  <a:pt x="3383868" y="0"/>
                </a:lnTo>
                <a:lnTo>
                  <a:pt x="3383868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359912" y="3963139"/>
            <a:ext cx="37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0168" y="2664000"/>
            <a:ext cx="3471488" cy="1069979"/>
          </a:xfrm>
        </p:spPr>
        <p:txBody>
          <a:bodyPr/>
          <a:lstStyle>
            <a:lvl1pPr algn="dist">
              <a:defRPr sz="44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A784E-391F-4F89-A8E1-8860923EBC6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Title 1"/>
          <p:cNvSpPr txBox="1"/>
          <p:nvPr userDrawn="1"/>
        </p:nvSpPr>
        <p:spPr>
          <a:xfrm>
            <a:off x="47328" y="-27384"/>
            <a:ext cx="10515600" cy="864096"/>
          </a:xfrm>
          <a:prstGeom prst="rect">
            <a:avLst/>
          </a:prstGeom>
        </p:spPr>
        <p:txBody>
          <a:bodyPr vert="horz" lIns="96000" tIns="96000" rIns="96000" bIns="9600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  <a:cs typeface="Noto Serif CJK SC"/>
              </a:defRPr>
            </a:lvl1pPr>
          </a:lstStyle>
          <a:p>
            <a:pPr algn="l"/>
            <a:endParaRPr lang="en-US" sz="3735" dirty="0">
              <a:solidFill>
                <a:prstClr val="black"/>
              </a:solidFill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0" y="836712"/>
            <a:ext cx="12192000" cy="0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224790" y="117000"/>
            <a:ext cx="6159210" cy="629920"/>
          </a:xfr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rgbClr val="004098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158722" name="Picture 2" descr="https://www.cas.cn/images/z19_logo.png">
            <a:hlinkClick r:id="rId2"/>
          </p:cNvPr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479250" y="117000"/>
            <a:ext cx="2592750" cy="602187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Documents and Settings\Administrator\桌面\所标1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9784" y="168275"/>
            <a:ext cx="60960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5"/>
          <p:cNvSpPr txBox="1">
            <a:spLocks noChangeArrowheads="1"/>
          </p:cNvSpPr>
          <p:nvPr userDrawn="1"/>
        </p:nvSpPr>
        <p:spPr bwMode="auto">
          <a:xfrm>
            <a:off x="10668001" y="136525"/>
            <a:ext cx="1024639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erif CJK SC"/>
                <a:ea typeface="Noto Serif CJK SC"/>
                <a:cs typeface="Noto Serif CJK SC"/>
              </a:rPr>
              <a:t>DICP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erif CJK SC"/>
              <a:ea typeface="Noto Serif CJK SC"/>
              <a:cs typeface="Noto Serif CJK SC"/>
            </a:endParaRPr>
          </a:p>
        </p:txBody>
      </p:sp>
      <p:sp>
        <p:nvSpPr>
          <p:cNvPr id="4" name="灯片编号占位符 5"/>
          <p:cNvSpPr txBox="1">
            <a:spLocks noChangeArrowheads="1"/>
          </p:cNvSpPr>
          <p:nvPr userDrawn="1"/>
        </p:nvSpPr>
        <p:spPr bwMode="auto">
          <a:xfrm>
            <a:off x="9347200" y="6491289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49958AC-D867-4BB1-89EA-99F8D89ECA74}" type="slidenum">
              <a:rPr kumimoji="0" lang="zh-CN" altLang="en-US" sz="1200" b="0" i="1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Noto Serif CJK SC" panose="020B0604020202020204" pitchFamily="34" charset="0"/>
                <a:ea typeface="Noto Serif CJK SC" panose="02010600030101010101" pitchFamily="2" charset="-122"/>
                <a:cs typeface="Noto Serif CJK SC"/>
              </a:rPr>
            </a:fld>
            <a:endParaRPr kumimoji="0" lang="zh-CN" altLang="en-US" sz="12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erif CJK SC" panose="020B0604020202020204" pitchFamily="34" charset="0"/>
              <a:ea typeface="Noto Serif CJK SC" panose="02010600030101010101" pitchFamily="2" charset="-122"/>
              <a:cs typeface="Noto Serif CJK SC"/>
            </a:endParaRP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Noto Serif CJK SC"/>
              <a:ea typeface="Noto Serif CJK SC" panose="02010600030101010101" pitchFamily="2" charset="-122"/>
              <a:cs typeface="Noto Serif CJK SC"/>
            </a:endParaRPr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CJK SC"/>
              <a:ea typeface="Noto Serif CJK SC" panose="02010600030101010101" pitchFamily="2" charset="-122"/>
              <a:cs typeface="Noto Serif CJK SC"/>
            </a:endParaRPr>
          </a:p>
        </p:txBody>
      </p:sp>
    </p:spTree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 flipH="1">
            <a:off x="-1" y="1"/>
            <a:ext cx="12192001" cy="6858000"/>
          </a:xfrm>
          <a:prstGeom prst="rect">
            <a:avLst/>
          </a:prstGeom>
          <a:gradFill flip="none" rotWithShape="1">
            <a:gsLst>
              <a:gs pos="76000">
                <a:schemeClr val="bg1">
                  <a:lumMod val="85000"/>
                  <a:alpha val="30000"/>
                </a:schemeClr>
              </a:gs>
              <a:gs pos="14000">
                <a:srgbClr val="256385">
                  <a:alpha val="75000"/>
                </a:srgbClr>
              </a:gs>
              <a:gs pos="44000">
                <a:schemeClr val="bg1">
                  <a:lumMod val="85000"/>
                  <a:alpha val="5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pic>
        <p:nvPicPr>
          <p:cNvPr id="9" name="图片 8" descr="资源 9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58460" y="443230"/>
            <a:ext cx="1275080" cy="12750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6BECE2-2199-48FC-AAAD-F990584713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07CAF2-55D6-4104-B3ED-B9F13A485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6BECE2-2199-48FC-AAAD-F990584713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07CAF2-55D6-4104-B3ED-B9F13A485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6BECE2-2199-48FC-AAAD-F990584713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07CAF2-55D6-4104-B3ED-B9F13A485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6BECE2-2199-48FC-AAAD-F990584713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07CAF2-55D6-4104-B3ED-B9F13A485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6BECE2-2199-48FC-AAAD-F990584713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07CAF2-55D6-4104-B3ED-B9F13A485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6BECE2-2199-48FC-AAAD-F990584713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07CAF2-55D6-4104-B3ED-B9F13A485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6BECE2-2199-48FC-AAAD-F990584713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07CAF2-55D6-4104-B3ED-B9F13A485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6BECE2-2199-48FC-AAAD-F990584713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07CAF2-55D6-4104-B3ED-B9F13A485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6BECE2-2199-48FC-AAAD-F990584713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07CAF2-55D6-4104-B3ED-B9F13A485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6BECE2-2199-48FC-AAAD-F990584713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07CAF2-55D6-4104-B3ED-B9F13A485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6BECE2-2199-48FC-AAAD-F990584713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07CAF2-55D6-4104-B3ED-B9F13A485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8" y="958850"/>
            <a:ext cx="11396663" cy="6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9939" y="77788"/>
            <a:ext cx="863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604567" y="6356351"/>
            <a:ext cx="447502" cy="343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chemeClr val="tx1"/>
                </a:solidFill>
                <a:latin typeface="Noto Serif CJK SC" panose="020B0604020202020204" pitchFamily="34" charset="0"/>
                <a:cs typeface="Noto Serif CJK SC" panose="020B0604020202020204" pitchFamily="34" charset="0"/>
              </a:defRPr>
            </a:lvl1pPr>
          </a:lstStyle>
          <a:p>
            <a:fld id="{5D42E840-DB4D-4613-9801-0A608BBD03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2020-5-13</a:t>
            </a: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769B5D-2B9E-4097-B447-B9AE8A9D542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2020-5-13</a:t>
            </a: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A377DF-5019-4FC8-B740-683B59BB8E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4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2020-5-13</a:t>
            </a: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8BCE3B-6028-4C3D-8729-3D668FC96AA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4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4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2020-5-13</a:t>
            </a: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F0A5B5-1DC6-47DF-A1A0-8E10E7CFC3C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7" y="1535113"/>
            <a:ext cx="538956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7" y="2174875"/>
            <a:ext cx="538956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2020-5-13</a:t>
            </a: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F22B7B-0A96-49A8-898F-5B574246380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2020-5-13</a:t>
            </a: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655F0F-D9CC-4BF0-90F7-37847E5637E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2020-5-13</a:t>
            </a: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1DDE0F-F358-4CA8-AAFA-F2095135DD2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6" y="273054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3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2020-5-13</a:t>
            </a: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45C656-63A1-45CE-9309-D42BAAFFA60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2020-5-13</a:t>
            </a: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75ED2D-490B-4952-A88E-B23390CE812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2020-5-13</a:t>
            </a: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F94509-8500-4816-8DAA-A8E2AFBA712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2"/>
            <a:ext cx="80772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2020-5-13</a:t>
            </a: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893167-8505-4AAC-89B2-3879FF204F4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BAA7-3AF6-4759-8086-FFC677CC6B1F}" type="slidenum">
              <a:rPr lang="zh-CN" altLang="en-US"/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5"/>
          </p:nvPr>
        </p:nvSpPr>
        <p:spPr>
          <a:xfrm>
            <a:off x="3215680" y="28848"/>
            <a:ext cx="8366720" cy="5040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0000CC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BAA7-3AF6-4759-8086-FFC677CC6B1F}" type="slidenum">
              <a:rPr lang="zh-CN" altLang="en-US" smtClean="0"/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5"/>
          </p:nvPr>
        </p:nvSpPr>
        <p:spPr>
          <a:xfrm>
            <a:off x="3215680" y="28848"/>
            <a:ext cx="8366720" cy="5040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0000CC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BAA7-3AF6-4759-8086-FFC677CC6B1F}" type="slidenum">
              <a:rPr lang="zh-CN" altLang="en-US" smtClean="0"/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5"/>
          </p:nvPr>
        </p:nvSpPr>
        <p:spPr>
          <a:xfrm>
            <a:off x="3215680" y="28848"/>
            <a:ext cx="8366720" cy="5040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0000CC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BAA7-3AF6-4759-8086-FFC677CC6B1F}" type="slidenum">
              <a:rPr lang="zh-CN" altLang="en-US" smtClean="0"/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5"/>
          </p:nvPr>
        </p:nvSpPr>
        <p:spPr>
          <a:xfrm>
            <a:off x="3215680" y="28848"/>
            <a:ext cx="8366720" cy="5040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0000CC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239349" y="634677"/>
            <a:ext cx="11809312" cy="562075"/>
          </a:xfrm>
          <a:prstGeom prst="rect">
            <a:avLst/>
          </a:prstGeom>
        </p:spPr>
        <p:txBody>
          <a:bodyPr lIns="91062" tIns="45530" rIns="91062" bIns="45530"/>
          <a:lstStyle>
            <a:lvl1pPr algn="l">
              <a:defRPr sz="3735" spc="100" baseline="0">
                <a:solidFill>
                  <a:srgbClr val="C00000"/>
                </a:solidFill>
                <a:latin typeface="Noto Serif CJK SC"/>
                <a:ea typeface="Noto Serif CJK SC" panose="0201060003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 bwMode="auto">
          <a:xfrm>
            <a:off x="-1" y="1268760"/>
            <a:ext cx="9576000" cy="18000"/>
          </a:xfrm>
          <a:prstGeom prst="rect">
            <a:avLst/>
          </a:prstGeom>
          <a:gradFill flip="none" rotWithShape="1">
            <a:gsLst>
              <a:gs pos="50000">
                <a:srgbClr val="C00000"/>
              </a:gs>
              <a:gs pos="0">
                <a:schemeClr val="bg1"/>
              </a:gs>
            </a:gsLst>
            <a:lin ang="108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416" tIns="60706" rIns="121416" bIns="60706" numCol="1" rtlCol="0" anchor="t" anchorCtr="0" compatLnSpc="1"/>
          <a:lstStyle/>
          <a:p>
            <a:endParaRPr lang="zh-CN" altLang="en-US" sz="24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356354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8E0D15-1A6B-4929-BF9A-52CE8FD03295}" type="datetime1">
              <a:rPr lang="zh-CN" altLang="en-US" smtClean="0"/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356354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356354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017A4A9B-9035-48C0-8290-E8CB8F97A013}" type="slidenum">
              <a:rPr lang="zh-CN" altLang="en-US"/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小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593248" y="6470450"/>
            <a:ext cx="589227" cy="365125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fld id="{C29D8F93-F8B8-48CE-B7F7-E780DAB890E3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>
            <a:off x="0" y="0"/>
            <a:ext cx="4511824" cy="6858000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3500000" scaled="1"/>
            <a:tileRect/>
          </a:gradFill>
          <a:ln w="3175">
            <a:noFill/>
          </a:ln>
          <a:effectLst/>
        </p:spPr>
        <p:txBody>
          <a:bodyPr wrap="square" lIns="121912" tIns="60956" rIns="121912" bIns="60956" anchor="ctr">
            <a:noAutofit/>
          </a:bodyPr>
          <a:lstStyle/>
          <a:p>
            <a:pPr algn="ctr" eaLnBrk="0" hangingPunct="0">
              <a:buClr>
                <a:srgbClr val="66FFFF"/>
              </a:buClr>
            </a:pPr>
            <a:endParaRPr lang="zh-CN" altLang="en-US" sz="3200" b="1" kern="0">
              <a:solidFill>
                <a:prstClr val="white"/>
              </a:solidFill>
              <a:latin typeface="Noto Serif CJK SC" panose="020B0604020202020204" pitchFamily="34" charset="0"/>
              <a:ea typeface="Noto Serif CJK SC" panose="02010600030101010101" pitchFamily="2" charset="-122"/>
              <a:cs typeface="Noto Serif CJK SC" panose="020B0604020202020204" pitchFamily="34" charset="0"/>
            </a:endParaRPr>
          </a:p>
        </p:txBody>
      </p:sp>
      <p:sp>
        <p:nvSpPr>
          <p:cNvPr id="5" name="矩形 18"/>
          <p:cNvSpPr/>
          <p:nvPr userDrawn="1"/>
        </p:nvSpPr>
        <p:spPr>
          <a:xfrm>
            <a:off x="0" y="0"/>
            <a:ext cx="4511824" cy="6858000"/>
          </a:xfrm>
          <a:custGeom>
            <a:avLst/>
            <a:gdLst>
              <a:gd name="connsiteX0" fmla="*/ 0 w 3383868"/>
              <a:gd name="connsiteY0" fmla="*/ 0 h 6858000"/>
              <a:gd name="connsiteX1" fmla="*/ 3383868 w 3383868"/>
              <a:gd name="connsiteY1" fmla="*/ 0 h 6858000"/>
              <a:gd name="connsiteX2" fmla="*/ 3383868 w 3383868"/>
              <a:gd name="connsiteY2" fmla="*/ 6858000 h 6858000"/>
              <a:gd name="connsiteX3" fmla="*/ 0 w 3383868"/>
              <a:gd name="connsiteY3" fmla="*/ 6858000 h 6858000"/>
              <a:gd name="connsiteX4" fmla="*/ 0 w 3383868"/>
              <a:gd name="connsiteY4" fmla="*/ 0 h 6858000"/>
              <a:gd name="connsiteX0-1" fmla="*/ 0 w 3383868"/>
              <a:gd name="connsiteY0-2" fmla="*/ 0 h 6858000"/>
              <a:gd name="connsiteX1-3" fmla="*/ 3383868 w 3383868"/>
              <a:gd name="connsiteY1-4" fmla="*/ 0 h 6858000"/>
              <a:gd name="connsiteX2-5" fmla="*/ 3383868 w 3383868"/>
              <a:gd name="connsiteY2-6" fmla="*/ 6858000 h 6858000"/>
              <a:gd name="connsiteX3-7" fmla="*/ 0 w 3383868"/>
              <a:gd name="connsiteY3-8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383868" h="6858000">
                <a:moveTo>
                  <a:pt x="0" y="0"/>
                </a:moveTo>
                <a:lnTo>
                  <a:pt x="3383868" y="0"/>
                </a:lnTo>
                <a:lnTo>
                  <a:pt x="3383868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359912" y="3963139"/>
            <a:ext cx="37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0168" y="2664000"/>
            <a:ext cx="3471488" cy="1069979"/>
          </a:xfrm>
        </p:spPr>
        <p:txBody>
          <a:bodyPr/>
          <a:lstStyle>
            <a:lvl1pPr algn="dist">
              <a:defRPr sz="44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</p:nvPr>
        </p:nvSpPr>
        <p:spPr bwMode="auto">
          <a:xfrm>
            <a:off x="395844" y="92549"/>
            <a:ext cx="9955481" cy="865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3600" b="1">
                <a:solidFill>
                  <a:srgbClr val="004E9C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</p:nvPr>
        </p:nvSpPr>
        <p:spPr bwMode="auto">
          <a:xfrm>
            <a:off x="395844" y="92549"/>
            <a:ext cx="9955481" cy="865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3600" b="1">
                <a:solidFill>
                  <a:srgbClr val="003F98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A377DF-5019-4FC8-B740-683B59BB8E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4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8BCE3B-6028-4C3D-8729-3D668FC96AA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4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4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F0A5B5-1DC6-47DF-A1A0-8E10E7CFC3C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7" y="1535113"/>
            <a:ext cx="538956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7" y="2174875"/>
            <a:ext cx="538956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F22B7B-0A96-49A8-898F-5B574246380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655F0F-D9CC-4BF0-90F7-37847E5637E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1DDE0F-F358-4CA8-AAFA-F2095135DD2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6" y="273054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3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45C656-63A1-45CE-9309-D42BAAFFA60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75ED2D-490B-4952-A88E-B23390CE812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F94509-8500-4816-8DAA-A8E2AFBA712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2"/>
            <a:ext cx="80772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893167-8505-4AAC-89B2-3879FF204F4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BAA7-3AF6-4759-8086-FFC677CC6B1F}" type="slidenum">
              <a:rPr lang="zh-CN" altLang="en-US"/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5"/>
          </p:nvPr>
        </p:nvSpPr>
        <p:spPr>
          <a:xfrm>
            <a:off x="3215680" y="28848"/>
            <a:ext cx="8366720" cy="5040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0000CC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BAA7-3AF6-4759-8086-FFC677CC6B1F}" type="slidenum">
              <a:rPr lang="zh-CN" altLang="en-US" smtClean="0"/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5"/>
          </p:nvPr>
        </p:nvSpPr>
        <p:spPr>
          <a:xfrm>
            <a:off x="3215680" y="28848"/>
            <a:ext cx="8366720" cy="5040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0000CC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BAA7-3AF6-4759-8086-FFC677CC6B1F}" type="slidenum">
              <a:rPr lang="zh-CN" altLang="en-US" smtClean="0"/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5"/>
          </p:nvPr>
        </p:nvSpPr>
        <p:spPr>
          <a:xfrm>
            <a:off x="3215680" y="28848"/>
            <a:ext cx="8366720" cy="5040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0000CC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BAA7-3AF6-4759-8086-FFC677CC6B1F}" type="slidenum">
              <a:rPr lang="zh-CN" altLang="en-US" smtClean="0"/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5"/>
          </p:nvPr>
        </p:nvSpPr>
        <p:spPr>
          <a:xfrm>
            <a:off x="3215680" y="28848"/>
            <a:ext cx="8366720" cy="5040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0000CC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239349" y="634677"/>
            <a:ext cx="11809312" cy="562075"/>
          </a:xfrm>
          <a:prstGeom prst="rect">
            <a:avLst/>
          </a:prstGeom>
        </p:spPr>
        <p:txBody>
          <a:bodyPr lIns="91062" tIns="45530" rIns="91062" bIns="45530"/>
          <a:lstStyle>
            <a:lvl1pPr algn="l">
              <a:defRPr sz="3735" spc="100" baseline="0">
                <a:solidFill>
                  <a:srgbClr val="C00000"/>
                </a:solidFill>
                <a:latin typeface="Noto Serif CJK SC"/>
                <a:ea typeface="Noto Serif CJK SC" panose="0201060003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 bwMode="auto">
          <a:xfrm>
            <a:off x="-1" y="1268760"/>
            <a:ext cx="9576000" cy="18000"/>
          </a:xfrm>
          <a:prstGeom prst="rect">
            <a:avLst/>
          </a:prstGeom>
          <a:gradFill flip="none" rotWithShape="1">
            <a:gsLst>
              <a:gs pos="50000">
                <a:srgbClr val="C00000"/>
              </a:gs>
              <a:gs pos="0">
                <a:schemeClr val="bg1"/>
              </a:gs>
            </a:gsLst>
            <a:lin ang="108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416" tIns="60706" rIns="121416" bIns="60706" numCol="1" rtlCol="0" anchor="t" anchorCtr="0" compatLnSpc="1"/>
          <a:lstStyle/>
          <a:p>
            <a:endParaRPr lang="zh-CN" altLang="en-US" sz="24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356354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356354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356354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017A4A9B-9035-48C0-8290-E8CB8F97A013}" type="slidenum">
              <a:rPr lang="zh-CN" altLang="en-US"/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小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593248" y="6470450"/>
            <a:ext cx="589227" cy="365125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fld id="{C29D8F93-F8B8-48CE-B7F7-E780DAB890E3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>
            <a:off x="0" y="0"/>
            <a:ext cx="4511824" cy="6858000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3500000" scaled="1"/>
            <a:tileRect/>
          </a:gradFill>
          <a:ln w="3175">
            <a:noFill/>
          </a:ln>
          <a:effectLst/>
        </p:spPr>
        <p:txBody>
          <a:bodyPr wrap="square" lIns="121912" tIns="60956" rIns="121912" bIns="60956" anchor="ctr">
            <a:noAutofit/>
          </a:bodyPr>
          <a:lstStyle/>
          <a:p>
            <a:pPr algn="ctr" eaLnBrk="0" hangingPunct="0">
              <a:buClr>
                <a:srgbClr val="66FFFF"/>
              </a:buClr>
            </a:pPr>
            <a:endParaRPr lang="zh-CN" altLang="en-US" sz="3200" b="1" kern="0">
              <a:solidFill>
                <a:prstClr val="white"/>
              </a:solidFill>
              <a:latin typeface="Noto Serif CJK SC" panose="020B0604020202020204" pitchFamily="34" charset="0"/>
              <a:ea typeface="Noto Serif CJK SC" panose="02010600030101010101" pitchFamily="2" charset="-122"/>
              <a:cs typeface="Noto Serif CJK SC" panose="020B0604020202020204" pitchFamily="34" charset="0"/>
            </a:endParaRPr>
          </a:p>
        </p:txBody>
      </p:sp>
      <p:sp>
        <p:nvSpPr>
          <p:cNvPr id="5" name="矩形 18"/>
          <p:cNvSpPr/>
          <p:nvPr userDrawn="1"/>
        </p:nvSpPr>
        <p:spPr>
          <a:xfrm>
            <a:off x="0" y="0"/>
            <a:ext cx="4511824" cy="6858000"/>
          </a:xfrm>
          <a:custGeom>
            <a:avLst/>
            <a:gdLst>
              <a:gd name="connsiteX0" fmla="*/ 0 w 3383868"/>
              <a:gd name="connsiteY0" fmla="*/ 0 h 6858000"/>
              <a:gd name="connsiteX1" fmla="*/ 3383868 w 3383868"/>
              <a:gd name="connsiteY1" fmla="*/ 0 h 6858000"/>
              <a:gd name="connsiteX2" fmla="*/ 3383868 w 3383868"/>
              <a:gd name="connsiteY2" fmla="*/ 6858000 h 6858000"/>
              <a:gd name="connsiteX3" fmla="*/ 0 w 3383868"/>
              <a:gd name="connsiteY3" fmla="*/ 6858000 h 6858000"/>
              <a:gd name="connsiteX4" fmla="*/ 0 w 3383868"/>
              <a:gd name="connsiteY4" fmla="*/ 0 h 6858000"/>
              <a:gd name="connsiteX0-1" fmla="*/ 0 w 3383868"/>
              <a:gd name="connsiteY0-2" fmla="*/ 0 h 6858000"/>
              <a:gd name="connsiteX1-3" fmla="*/ 3383868 w 3383868"/>
              <a:gd name="connsiteY1-4" fmla="*/ 0 h 6858000"/>
              <a:gd name="connsiteX2-5" fmla="*/ 3383868 w 3383868"/>
              <a:gd name="connsiteY2-6" fmla="*/ 6858000 h 6858000"/>
              <a:gd name="connsiteX3-7" fmla="*/ 0 w 3383868"/>
              <a:gd name="connsiteY3-8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383868" h="6858000">
                <a:moveTo>
                  <a:pt x="0" y="0"/>
                </a:moveTo>
                <a:lnTo>
                  <a:pt x="3383868" y="0"/>
                </a:lnTo>
                <a:lnTo>
                  <a:pt x="3383868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359912" y="3963139"/>
            <a:ext cx="37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0168" y="2664000"/>
            <a:ext cx="3471488" cy="1069979"/>
          </a:xfrm>
        </p:spPr>
        <p:txBody>
          <a:bodyPr/>
          <a:lstStyle>
            <a:lvl1pPr algn="dist">
              <a:defRPr sz="44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A784E-391F-4F89-A8E1-8860923EBC6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Title 1"/>
          <p:cNvSpPr txBox="1"/>
          <p:nvPr userDrawn="1"/>
        </p:nvSpPr>
        <p:spPr>
          <a:xfrm>
            <a:off x="47328" y="-27384"/>
            <a:ext cx="10515600" cy="864096"/>
          </a:xfrm>
          <a:prstGeom prst="rect">
            <a:avLst/>
          </a:prstGeom>
        </p:spPr>
        <p:txBody>
          <a:bodyPr vert="horz" lIns="96000" tIns="96000" rIns="96000" bIns="9600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  <a:cs typeface="Noto Serif CJK SC"/>
              </a:defRPr>
            </a:lvl1pPr>
          </a:lstStyle>
          <a:p>
            <a:pPr algn="l"/>
            <a:endParaRPr lang="en-US" sz="3735" dirty="0">
              <a:solidFill>
                <a:prstClr val="black"/>
              </a:solidFill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0" y="836712"/>
            <a:ext cx="12192000" cy="0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224790" y="117000"/>
            <a:ext cx="6159210" cy="629920"/>
          </a:xfr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rgbClr val="004098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158722" name="Picture 2" descr="https://www.cas.cn/images/z19_logo.png">
            <a:hlinkClick r:id="rId2"/>
          </p:cNvPr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479250" y="117000"/>
            <a:ext cx="2592750" cy="602187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Documents and Settings\Administrator\桌面\所标1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9784" y="168275"/>
            <a:ext cx="60960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5"/>
          <p:cNvSpPr txBox="1">
            <a:spLocks noChangeArrowheads="1"/>
          </p:cNvSpPr>
          <p:nvPr userDrawn="1"/>
        </p:nvSpPr>
        <p:spPr bwMode="auto">
          <a:xfrm>
            <a:off x="10668001" y="136525"/>
            <a:ext cx="1024639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erif CJK SC"/>
                <a:ea typeface="Noto Serif CJK SC"/>
                <a:cs typeface="Noto Serif CJK SC"/>
              </a:rPr>
              <a:t>DICP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erif CJK SC"/>
              <a:ea typeface="Noto Serif CJK SC"/>
              <a:cs typeface="Noto Serif CJK SC"/>
            </a:endParaRPr>
          </a:p>
        </p:txBody>
      </p:sp>
      <p:sp>
        <p:nvSpPr>
          <p:cNvPr id="4" name="灯片编号占位符 5"/>
          <p:cNvSpPr txBox="1">
            <a:spLocks noChangeArrowheads="1"/>
          </p:cNvSpPr>
          <p:nvPr userDrawn="1"/>
        </p:nvSpPr>
        <p:spPr bwMode="auto">
          <a:xfrm>
            <a:off x="9347200" y="6491289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49958AC-D867-4BB1-89EA-99F8D89ECA74}" type="slidenum">
              <a:rPr kumimoji="0" lang="zh-CN" altLang="en-US" sz="1200" b="0" i="1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Noto Serif CJK SC" panose="020B0604020202020204" pitchFamily="34" charset="0"/>
                <a:ea typeface="Noto Serif CJK SC" panose="02010600030101010101" pitchFamily="2" charset="-122"/>
                <a:cs typeface="Noto Serif CJK SC"/>
              </a:rPr>
            </a:fld>
            <a:endParaRPr kumimoji="0" lang="zh-CN" altLang="en-US" sz="12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erif CJK SC" panose="020B0604020202020204" pitchFamily="34" charset="0"/>
              <a:ea typeface="Noto Serif CJK SC" panose="02010600030101010101" pitchFamily="2" charset="-122"/>
              <a:cs typeface="Noto Serif CJK SC"/>
            </a:endParaRP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Noto Serif CJK SC"/>
              <a:ea typeface="Noto Serif CJK SC" panose="02010600030101010101" pitchFamily="2" charset="-122"/>
              <a:cs typeface="Noto Serif CJK SC"/>
            </a:endParaRPr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CJK SC"/>
              <a:ea typeface="Noto Serif CJK SC" panose="02010600030101010101" pitchFamily="2" charset="-122"/>
              <a:cs typeface="Noto Serif CJK SC"/>
            </a:endParaRPr>
          </a:p>
        </p:txBody>
      </p:sp>
    </p:spTree>
  </p:cSld>
  <p:clrMapOvr>
    <a:masterClrMapping/>
  </p:clrMapOvr>
  <p:transition spd="slow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5" Type="http://schemas.openxmlformats.org/officeDocument/2006/relationships/theme" Target="../theme/theme1.xml"/><Relationship Id="rId24" Type="http://schemas.openxmlformats.org/officeDocument/2006/relationships/image" Target="../media/image6.png"/><Relationship Id="rId23" Type="http://schemas.openxmlformats.org/officeDocument/2006/relationships/image" Target="../media/image5.jpeg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4.xml"/><Relationship Id="rId8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1.xml"/><Relationship Id="rId5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8.xml"/><Relationship Id="rId21" Type="http://schemas.openxmlformats.org/officeDocument/2006/relationships/theme" Target="../theme/theme3.xml"/><Relationship Id="rId20" Type="http://schemas.openxmlformats.org/officeDocument/2006/relationships/image" Target="../media/image6.png"/><Relationship Id="rId2" Type="http://schemas.openxmlformats.org/officeDocument/2006/relationships/slideLayout" Target="../slideLayouts/slideLayout37.xml"/><Relationship Id="rId19" Type="http://schemas.openxmlformats.org/officeDocument/2006/relationships/image" Target="../media/image5.jpeg"/><Relationship Id="rId18" Type="http://schemas.openxmlformats.org/officeDocument/2006/relationships/slideLayout" Target="../slideLayouts/slideLayout53.xml"/><Relationship Id="rId17" Type="http://schemas.openxmlformats.org/officeDocument/2006/relationships/slideLayout" Target="../slideLayouts/slideLayout52.xml"/><Relationship Id="rId16" Type="http://schemas.openxmlformats.org/officeDocument/2006/relationships/slideLayout" Target="../slideLayouts/slideLayout51.xml"/><Relationship Id="rId15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49.xml"/><Relationship Id="rId13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5.xml"/><Relationship Id="rId1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2.xml"/><Relationship Id="rId8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0.xml"/><Relationship Id="rId6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6.xml"/><Relationship Id="rId25" Type="http://schemas.openxmlformats.org/officeDocument/2006/relationships/theme" Target="../theme/theme4.xml"/><Relationship Id="rId24" Type="http://schemas.openxmlformats.org/officeDocument/2006/relationships/image" Target="../media/image6.png"/><Relationship Id="rId23" Type="http://schemas.openxmlformats.org/officeDocument/2006/relationships/image" Target="../media/image5.jpeg"/><Relationship Id="rId22" Type="http://schemas.openxmlformats.org/officeDocument/2006/relationships/slideLayout" Target="../slideLayouts/slideLayout75.xml"/><Relationship Id="rId21" Type="http://schemas.openxmlformats.org/officeDocument/2006/relationships/slideLayout" Target="../slideLayouts/slideLayout74.xml"/><Relationship Id="rId20" Type="http://schemas.openxmlformats.org/officeDocument/2006/relationships/slideLayout" Target="../slideLayouts/slideLayout73.xml"/><Relationship Id="rId2" Type="http://schemas.openxmlformats.org/officeDocument/2006/relationships/slideLayout" Target="../slideLayouts/slideLayout55.xml"/><Relationship Id="rId19" Type="http://schemas.openxmlformats.org/officeDocument/2006/relationships/slideLayout" Target="../slideLayouts/slideLayout72.xml"/><Relationship Id="rId18" Type="http://schemas.openxmlformats.org/officeDocument/2006/relationships/slideLayout" Target="../slideLayouts/slideLayout71.xml"/><Relationship Id="rId17" Type="http://schemas.openxmlformats.org/officeDocument/2006/relationships/slideLayout" Target="../slideLayouts/slideLayout70.xml"/><Relationship Id="rId16" Type="http://schemas.openxmlformats.org/officeDocument/2006/relationships/slideLayout" Target="../slideLayouts/slideLayout69.xml"/><Relationship Id="rId15" Type="http://schemas.openxmlformats.org/officeDocument/2006/relationships/slideLayout" Target="../slideLayouts/slideLayout68.xml"/><Relationship Id="rId14" Type="http://schemas.openxmlformats.org/officeDocument/2006/relationships/slideLayout" Target="../slideLayouts/slideLayout67.xml"/><Relationship Id="rId13" Type="http://schemas.openxmlformats.org/officeDocument/2006/relationships/slideLayout" Target="../slideLayouts/slideLayout66.xml"/><Relationship Id="rId12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3.xml"/><Relationship Id="rId1" Type="http://schemas.openxmlformats.org/officeDocument/2006/relationships/slideLayout" Target="../slideLayouts/slideLayout5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1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600204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latin typeface="Noto Serif CJK SC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4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latin typeface="Noto Serif CJK SC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C069E33-1594-4D12-9250-6C440E0726C8}" type="slidenum">
              <a:rPr lang="zh-CN" altLang="en-US">
                <a:latin typeface="Noto Serif CJK SC" panose="020B0604020202020204" pitchFamily="34" charset="0"/>
              </a:rPr>
            </a:fld>
            <a:endParaRPr lang="zh-CN" altLang="en-US">
              <a:latin typeface="Noto Serif CJK SC" panose="020B0604020202020204" pitchFamily="34" charset="0"/>
            </a:endParaRPr>
          </a:p>
        </p:txBody>
      </p:sp>
      <p:pic>
        <p:nvPicPr>
          <p:cNvPr id="2055" name="图片 8"/>
          <p:cNvPicPr>
            <a:picLocks noChangeAspect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8" y="958850"/>
            <a:ext cx="11396663" cy="6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6" name="图片 7"/>
          <p:cNvPicPr>
            <a:picLocks noChangeAspect="1"/>
          </p:cNvPicPr>
          <p:nvPr userDrawn="1"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9939" y="77788"/>
            <a:ext cx="863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1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600204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>
                <a:solidFill>
                  <a:prstClr val="black">
                    <a:tint val="75000"/>
                  </a:prstClr>
                </a:solidFill>
                <a:latin typeface="Noto Serif CJK SC" panose="020B0604020202020204" pitchFamily="34" charset="0"/>
              </a:rPr>
              <a:t>2020-5-13</a:t>
            </a:r>
            <a:endParaRPr lang="zh-CN" altLang="en-US">
              <a:solidFill>
                <a:prstClr val="black">
                  <a:tint val="75000"/>
                </a:prstClr>
              </a:solidFill>
              <a:latin typeface="Noto Serif CJK SC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4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latin typeface="Noto Serif CJK SC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C069E33-1594-4D12-9250-6C440E0726C8}" type="slidenum">
              <a:rPr lang="zh-CN" altLang="en-US">
                <a:latin typeface="Noto Serif CJK SC" panose="020B0604020202020204" pitchFamily="34" charset="0"/>
              </a:rPr>
            </a:fld>
            <a:endParaRPr lang="zh-CN" altLang="en-US">
              <a:latin typeface="Noto Serif CJK SC" panose="020B0604020202020204" pitchFamily="34" charset="0"/>
            </a:endParaRPr>
          </a:p>
        </p:txBody>
      </p:sp>
      <p:pic>
        <p:nvPicPr>
          <p:cNvPr id="2055" name="图片 8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8" y="958850"/>
            <a:ext cx="11396663" cy="6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6" name="图片 7"/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9939" y="77788"/>
            <a:ext cx="863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  <p:sldLayoutId id="2147483702" r:id="rId17"/>
    <p:sldLayoutId id="2147483703" r:id="rId18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1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600204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latin typeface="Noto Serif CJK SC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4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latin typeface="Noto Serif CJK SC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C069E33-1594-4D12-9250-6C440E0726C8}" type="slidenum">
              <a:rPr lang="zh-CN" altLang="en-US">
                <a:latin typeface="Noto Serif CJK SC" panose="020B0604020202020204" pitchFamily="34" charset="0"/>
              </a:rPr>
            </a:fld>
            <a:endParaRPr lang="zh-CN" altLang="en-US">
              <a:latin typeface="Noto Serif CJK SC" panose="020B0604020202020204" pitchFamily="34" charset="0"/>
            </a:endParaRPr>
          </a:p>
        </p:txBody>
      </p:sp>
      <p:pic>
        <p:nvPicPr>
          <p:cNvPr id="2055" name="图片 8"/>
          <p:cNvPicPr>
            <a:picLocks noChangeAspect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8" y="958850"/>
            <a:ext cx="11396663" cy="6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6" name="图片 7"/>
          <p:cNvPicPr>
            <a:picLocks noChangeAspect="1"/>
          </p:cNvPicPr>
          <p:nvPr userDrawn="1"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9939" y="77788"/>
            <a:ext cx="863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  <p:sldLayoutId id="2147483722" r:id="rId18"/>
    <p:sldLayoutId id="2147483723" r:id="rId19"/>
    <p:sldLayoutId id="2147483724" r:id="rId20"/>
    <p:sldLayoutId id="2147483725" r:id="rId21"/>
    <p:sldLayoutId id="2147483726" r:id="rId2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34.xml"/><Relationship Id="rId4" Type="http://schemas.openxmlformats.org/officeDocument/2006/relationships/image" Target="../media/image6.png"/><Relationship Id="rId3" Type="http://schemas.openxmlformats.org/officeDocument/2006/relationships/image" Target="../media/image9.png"/><Relationship Id="rId2" Type="http://schemas.microsoft.com/office/2007/relationships/hdphoto" Target="../media/image8.wdp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3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4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artisticPhotocopy trans="30000" detail="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67084"/>
            <a:ext cx="12192000" cy="4390916"/>
          </a:xfrm>
          <a:prstGeom prst="rect">
            <a:avLst/>
          </a:prstGeom>
        </p:spPr>
      </p:pic>
      <p:sp>
        <p:nvSpPr>
          <p:cNvPr id="12" name="矩形 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erif CJK SC" panose="02010600030101010101" pitchFamily="2" charset="-122"/>
                <a:ea typeface="Noto Serif CJK SC" panose="02010600030101010101" pitchFamily="2" charset="-122"/>
                <a:cs typeface="Noto Serif CJK SC"/>
              </a:rPr>
              <a:t> </a:t>
            </a: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erif CJK SC" panose="02010600030101010101" pitchFamily="2" charset="-122"/>
              <a:ea typeface="Noto Serif CJK SC" panose="02010600030101010101" pitchFamily="2" charset="-122"/>
              <a:cs typeface="Noto Serif CJK SC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-1" y="1576873"/>
            <a:ext cx="12192001" cy="1813093"/>
          </a:xfrm>
          <a:prstGeom prst="roundRect">
            <a:avLst>
              <a:gd name="adj" fmla="val 10350"/>
            </a:avLst>
          </a:prstGeom>
          <a:solidFill>
            <a:srgbClr val="014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erif CJK SC" panose="02010600030101010101" pitchFamily="2" charset="-122"/>
              <a:ea typeface="Noto Serif CJK SC" panose="02010600030101010101" pitchFamily="2" charset="-122"/>
              <a:cs typeface="Noto Serif CJK SC" panose="02010600030101010101" pitchFamily="2" charset="-122"/>
            </a:endParaRPr>
          </a:p>
        </p:txBody>
      </p:sp>
      <p:grpSp>
        <p:nvGrpSpPr>
          <p:cNvPr id="14" name="组合 21"/>
          <p:cNvGrpSpPr/>
          <p:nvPr/>
        </p:nvGrpSpPr>
        <p:grpSpPr>
          <a:xfrm>
            <a:off x="-38391" y="5731544"/>
            <a:ext cx="3468343" cy="1366557"/>
            <a:chOff x="-38391" y="5726916"/>
            <a:chExt cx="3468343" cy="1366557"/>
          </a:xfrm>
        </p:grpSpPr>
        <p:sp>
          <p:nvSpPr>
            <p:cNvPr id="15" name="任意多边形: 形状 3"/>
            <p:cNvSpPr/>
            <p:nvPr/>
          </p:nvSpPr>
          <p:spPr>
            <a:xfrm rot="21140193">
              <a:off x="-10067" y="5726916"/>
              <a:ext cx="3440019" cy="1366557"/>
            </a:xfrm>
            <a:custGeom>
              <a:avLst/>
              <a:gdLst>
                <a:gd name="connsiteX0" fmla="*/ 86597 w 3440019"/>
                <a:gd name="connsiteY0" fmla="*/ 0 h 1366557"/>
                <a:gd name="connsiteX1" fmla="*/ 127728 w 3440019"/>
                <a:gd name="connsiteY1" fmla="*/ 26486 h 1366557"/>
                <a:gd name="connsiteX2" fmla="*/ 3192470 w 3440019"/>
                <a:gd name="connsiteY2" fmla="*/ 1301380 h 1366557"/>
                <a:gd name="connsiteX3" fmla="*/ 3440019 w 3440019"/>
                <a:gd name="connsiteY3" fmla="*/ 1366557 h 1366557"/>
                <a:gd name="connsiteX4" fmla="*/ 0 w 3440019"/>
                <a:gd name="connsiteY4" fmla="*/ 903682 h 1366557"/>
                <a:gd name="connsiteX5" fmla="*/ 0 w 3440019"/>
                <a:gd name="connsiteY5" fmla="*/ 643579 h 1366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40019" h="1366557">
                  <a:moveTo>
                    <a:pt x="86597" y="0"/>
                  </a:moveTo>
                  <a:lnTo>
                    <a:pt x="127728" y="26486"/>
                  </a:lnTo>
                  <a:cubicBezTo>
                    <a:pt x="959851" y="535988"/>
                    <a:pt x="2000799" y="969821"/>
                    <a:pt x="3192470" y="1301380"/>
                  </a:cubicBezTo>
                  <a:lnTo>
                    <a:pt x="3440019" y="1366557"/>
                  </a:lnTo>
                  <a:lnTo>
                    <a:pt x="0" y="903682"/>
                  </a:lnTo>
                  <a:lnTo>
                    <a:pt x="0" y="643579"/>
                  </a:lnTo>
                  <a:close/>
                </a:path>
              </a:pathLst>
            </a:custGeom>
            <a:gradFill flip="none" rotWithShape="1">
              <a:gsLst>
                <a:gs pos="87000">
                  <a:schemeClr val="accent1"/>
                </a:gs>
                <a:gs pos="0">
                  <a:schemeClr val="accent2">
                    <a:lumMod val="58000"/>
                    <a:lumOff val="42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5552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11978" tIns="55988" rIns="111978" bIns="55988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20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erif CJK SC" panose="02010600030101010101" pitchFamily="2" charset="-122"/>
                <a:ea typeface="Noto Serif CJK SC" panose="02010600030101010101" pitchFamily="2" charset="-122"/>
                <a:cs typeface="Noto Serif CJK SC"/>
              </a:endParaRPr>
            </a:p>
          </p:txBody>
        </p:sp>
        <p:sp>
          <p:nvSpPr>
            <p:cNvPr id="16" name="任意多边形: 形状 4"/>
            <p:cNvSpPr/>
            <p:nvPr/>
          </p:nvSpPr>
          <p:spPr>
            <a:xfrm rot="20929187">
              <a:off x="-38391" y="6080250"/>
              <a:ext cx="2200002" cy="1000529"/>
            </a:xfrm>
            <a:custGeom>
              <a:avLst/>
              <a:gdLst>
                <a:gd name="connsiteX0" fmla="*/ 77968 w 2161240"/>
                <a:gd name="connsiteY0" fmla="*/ 0 h 1000529"/>
                <a:gd name="connsiteX1" fmla="*/ 391434 w 2161240"/>
                <a:gd name="connsiteY1" fmla="*/ 182654 h 1000529"/>
                <a:gd name="connsiteX2" fmla="*/ 1776824 w 2161240"/>
                <a:gd name="connsiteY2" fmla="*/ 848052 h 1000529"/>
                <a:gd name="connsiteX3" fmla="*/ 2161240 w 2161240"/>
                <a:gd name="connsiteY3" fmla="*/ 1000529 h 1000529"/>
                <a:gd name="connsiteX4" fmla="*/ 0 w 2161240"/>
                <a:gd name="connsiteY4" fmla="*/ 573368 h 1000529"/>
                <a:gd name="connsiteX5" fmla="*/ 15955 w 2161240"/>
                <a:gd name="connsiteY5" fmla="*/ 313759 h 1000529"/>
                <a:gd name="connsiteX0-1" fmla="*/ 116730 w 2200002"/>
                <a:gd name="connsiteY0-2" fmla="*/ 0 h 1000529"/>
                <a:gd name="connsiteX1-3" fmla="*/ 430196 w 2200002"/>
                <a:gd name="connsiteY1-4" fmla="*/ 182654 h 1000529"/>
                <a:gd name="connsiteX2-5" fmla="*/ 1815586 w 2200002"/>
                <a:gd name="connsiteY2-6" fmla="*/ 848052 h 1000529"/>
                <a:gd name="connsiteX3-7" fmla="*/ 2200002 w 2200002"/>
                <a:gd name="connsiteY3-8" fmla="*/ 1000529 h 1000529"/>
                <a:gd name="connsiteX4-9" fmla="*/ 0 w 2200002"/>
                <a:gd name="connsiteY4-10" fmla="*/ 572989 h 1000529"/>
                <a:gd name="connsiteX5-11" fmla="*/ 54717 w 2200002"/>
                <a:gd name="connsiteY5-12" fmla="*/ 313759 h 1000529"/>
                <a:gd name="connsiteX6" fmla="*/ 116730 w 2200002"/>
                <a:gd name="connsiteY6" fmla="*/ 0 h 100052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" y="connsiteY6"/>
                </a:cxn>
              </a:cxnLst>
              <a:rect l="l" t="t" r="r" b="b"/>
              <a:pathLst>
                <a:path w="2200002" h="1000529">
                  <a:moveTo>
                    <a:pt x="116730" y="0"/>
                  </a:moveTo>
                  <a:lnTo>
                    <a:pt x="430196" y="182654"/>
                  </a:lnTo>
                  <a:cubicBezTo>
                    <a:pt x="856807" y="419361"/>
                    <a:pt x="1319919" y="641763"/>
                    <a:pt x="1815586" y="848052"/>
                  </a:cubicBezTo>
                  <a:lnTo>
                    <a:pt x="2200002" y="1000529"/>
                  </a:lnTo>
                  <a:lnTo>
                    <a:pt x="0" y="572989"/>
                  </a:lnTo>
                  <a:lnTo>
                    <a:pt x="54717" y="313759"/>
                  </a:lnTo>
                  <a:lnTo>
                    <a:pt x="116730" y="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10000"/>
                    <a:lumOff val="90000"/>
                  </a:schemeClr>
                </a:gs>
              </a:gsLst>
              <a:lin ang="54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erif CJK SC" panose="02010600030101010101" pitchFamily="2" charset="-122"/>
                <a:ea typeface="Noto Serif CJK SC" panose="02010600030101010101" pitchFamily="2" charset="-122"/>
                <a:cs typeface="Noto Serif CJK SC"/>
              </a:endParaRPr>
            </a:p>
          </p:txBody>
        </p:sp>
      </p:grpSp>
      <p:grpSp>
        <p:nvGrpSpPr>
          <p:cNvPr id="17" name="组合 24"/>
          <p:cNvGrpSpPr/>
          <p:nvPr/>
        </p:nvGrpSpPr>
        <p:grpSpPr>
          <a:xfrm flipH="1">
            <a:off x="8764681" y="5731544"/>
            <a:ext cx="3466057" cy="1366557"/>
            <a:chOff x="-36105" y="5726916"/>
            <a:chExt cx="3466057" cy="1366557"/>
          </a:xfrm>
        </p:grpSpPr>
        <p:sp>
          <p:nvSpPr>
            <p:cNvPr id="18" name="任意多边形: 形状 9"/>
            <p:cNvSpPr/>
            <p:nvPr/>
          </p:nvSpPr>
          <p:spPr>
            <a:xfrm rot="21140193">
              <a:off x="-10067" y="5726916"/>
              <a:ext cx="3440019" cy="1366557"/>
            </a:xfrm>
            <a:custGeom>
              <a:avLst/>
              <a:gdLst>
                <a:gd name="connsiteX0" fmla="*/ 86597 w 3440019"/>
                <a:gd name="connsiteY0" fmla="*/ 0 h 1366557"/>
                <a:gd name="connsiteX1" fmla="*/ 127728 w 3440019"/>
                <a:gd name="connsiteY1" fmla="*/ 26486 h 1366557"/>
                <a:gd name="connsiteX2" fmla="*/ 3192470 w 3440019"/>
                <a:gd name="connsiteY2" fmla="*/ 1301380 h 1366557"/>
                <a:gd name="connsiteX3" fmla="*/ 3440019 w 3440019"/>
                <a:gd name="connsiteY3" fmla="*/ 1366557 h 1366557"/>
                <a:gd name="connsiteX4" fmla="*/ 0 w 3440019"/>
                <a:gd name="connsiteY4" fmla="*/ 903682 h 1366557"/>
                <a:gd name="connsiteX5" fmla="*/ 0 w 3440019"/>
                <a:gd name="connsiteY5" fmla="*/ 643579 h 1366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40019" h="1366557">
                  <a:moveTo>
                    <a:pt x="86597" y="0"/>
                  </a:moveTo>
                  <a:lnTo>
                    <a:pt x="127728" y="26486"/>
                  </a:lnTo>
                  <a:cubicBezTo>
                    <a:pt x="959851" y="535988"/>
                    <a:pt x="2000799" y="969821"/>
                    <a:pt x="3192470" y="1301380"/>
                  </a:cubicBezTo>
                  <a:lnTo>
                    <a:pt x="3440019" y="1366557"/>
                  </a:lnTo>
                  <a:lnTo>
                    <a:pt x="0" y="903682"/>
                  </a:lnTo>
                  <a:lnTo>
                    <a:pt x="0" y="643579"/>
                  </a:lnTo>
                  <a:close/>
                </a:path>
              </a:pathLst>
            </a:custGeom>
            <a:gradFill flip="none" rotWithShape="1">
              <a:gsLst>
                <a:gs pos="87000">
                  <a:schemeClr val="accent1"/>
                </a:gs>
                <a:gs pos="0">
                  <a:schemeClr val="accent2">
                    <a:lumMod val="58000"/>
                    <a:lumOff val="42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5552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11978" tIns="55988" rIns="111978" bIns="55988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20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erif CJK SC" panose="02010600030101010101" pitchFamily="2" charset="-122"/>
                <a:ea typeface="Noto Serif CJK SC" panose="02010600030101010101" pitchFamily="2" charset="-122"/>
                <a:cs typeface="Noto Serif CJK SC"/>
              </a:endParaRPr>
            </a:p>
          </p:txBody>
        </p:sp>
        <p:sp>
          <p:nvSpPr>
            <p:cNvPr id="19" name="任意多边形: 形状 10"/>
            <p:cNvSpPr/>
            <p:nvPr/>
          </p:nvSpPr>
          <p:spPr>
            <a:xfrm rot="20929187">
              <a:off x="-36105" y="6080027"/>
              <a:ext cx="2197695" cy="1000529"/>
            </a:xfrm>
            <a:custGeom>
              <a:avLst/>
              <a:gdLst>
                <a:gd name="connsiteX0" fmla="*/ 77968 w 2161240"/>
                <a:gd name="connsiteY0" fmla="*/ 0 h 1000529"/>
                <a:gd name="connsiteX1" fmla="*/ 391434 w 2161240"/>
                <a:gd name="connsiteY1" fmla="*/ 182654 h 1000529"/>
                <a:gd name="connsiteX2" fmla="*/ 1776824 w 2161240"/>
                <a:gd name="connsiteY2" fmla="*/ 848052 h 1000529"/>
                <a:gd name="connsiteX3" fmla="*/ 2161240 w 2161240"/>
                <a:gd name="connsiteY3" fmla="*/ 1000529 h 1000529"/>
                <a:gd name="connsiteX4" fmla="*/ 0 w 2161240"/>
                <a:gd name="connsiteY4" fmla="*/ 573368 h 1000529"/>
                <a:gd name="connsiteX5" fmla="*/ 15955 w 2161240"/>
                <a:gd name="connsiteY5" fmla="*/ 313759 h 1000529"/>
                <a:gd name="connsiteX0-1" fmla="*/ 129362 w 2212634"/>
                <a:gd name="connsiteY0-2" fmla="*/ 0 h 1000529"/>
                <a:gd name="connsiteX1-3" fmla="*/ 442828 w 2212634"/>
                <a:gd name="connsiteY1-4" fmla="*/ 182654 h 1000529"/>
                <a:gd name="connsiteX2-5" fmla="*/ 1828218 w 2212634"/>
                <a:gd name="connsiteY2-6" fmla="*/ 848052 h 1000529"/>
                <a:gd name="connsiteX3-7" fmla="*/ 2212634 w 2212634"/>
                <a:gd name="connsiteY3-8" fmla="*/ 1000529 h 1000529"/>
                <a:gd name="connsiteX4-9" fmla="*/ 0 w 2212634"/>
                <a:gd name="connsiteY4-10" fmla="*/ 563211 h 1000529"/>
                <a:gd name="connsiteX5-11" fmla="*/ 67349 w 2212634"/>
                <a:gd name="connsiteY5-12" fmla="*/ 313759 h 1000529"/>
                <a:gd name="connsiteX6" fmla="*/ 129362 w 2212634"/>
                <a:gd name="connsiteY6" fmla="*/ 0 h 1000529"/>
                <a:gd name="connsiteX0-13" fmla="*/ 114423 w 2197695"/>
                <a:gd name="connsiteY0-14" fmla="*/ 0 h 1000529"/>
                <a:gd name="connsiteX1-15" fmla="*/ 427889 w 2197695"/>
                <a:gd name="connsiteY1-16" fmla="*/ 182654 h 1000529"/>
                <a:gd name="connsiteX2-17" fmla="*/ 1813279 w 2197695"/>
                <a:gd name="connsiteY2-18" fmla="*/ 848052 h 1000529"/>
                <a:gd name="connsiteX3-19" fmla="*/ 2197695 w 2197695"/>
                <a:gd name="connsiteY3-20" fmla="*/ 1000529 h 1000529"/>
                <a:gd name="connsiteX4-21" fmla="*/ 0 w 2197695"/>
                <a:gd name="connsiteY4-22" fmla="*/ 561310 h 1000529"/>
                <a:gd name="connsiteX5-23" fmla="*/ 52410 w 2197695"/>
                <a:gd name="connsiteY5-24" fmla="*/ 313759 h 1000529"/>
                <a:gd name="connsiteX6-25" fmla="*/ 114423 w 2197695"/>
                <a:gd name="connsiteY6-26" fmla="*/ 0 h 100052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25" y="connsiteY6-26"/>
                </a:cxn>
              </a:cxnLst>
              <a:rect l="l" t="t" r="r" b="b"/>
              <a:pathLst>
                <a:path w="2197695" h="1000529">
                  <a:moveTo>
                    <a:pt x="114423" y="0"/>
                  </a:moveTo>
                  <a:lnTo>
                    <a:pt x="427889" y="182654"/>
                  </a:lnTo>
                  <a:cubicBezTo>
                    <a:pt x="854500" y="419361"/>
                    <a:pt x="1317612" y="641763"/>
                    <a:pt x="1813279" y="848052"/>
                  </a:cubicBezTo>
                  <a:lnTo>
                    <a:pt x="2197695" y="1000529"/>
                  </a:lnTo>
                  <a:lnTo>
                    <a:pt x="0" y="561310"/>
                  </a:lnTo>
                  <a:lnTo>
                    <a:pt x="52410" y="313759"/>
                  </a:lnTo>
                  <a:lnTo>
                    <a:pt x="114423" y="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10000"/>
                    <a:lumOff val="90000"/>
                  </a:schemeClr>
                </a:gs>
              </a:gsLst>
              <a:lin ang="54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erif CJK SC" panose="02010600030101010101" pitchFamily="2" charset="-122"/>
                <a:ea typeface="Noto Serif CJK SC" panose="02010600030101010101" pitchFamily="2" charset="-122"/>
                <a:cs typeface="Noto Serif CJK SC"/>
              </a:endParaRPr>
            </a:p>
          </p:txBody>
        </p:sp>
      </p:grpSp>
      <p:pic>
        <p:nvPicPr>
          <p:cNvPr id="20" name="图片 2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944" y="189577"/>
            <a:ext cx="4490450" cy="687501"/>
          </a:xfrm>
          <a:prstGeom prst="rect">
            <a:avLst/>
          </a:prstGeom>
        </p:spPr>
      </p:pic>
      <p:pic>
        <p:nvPicPr>
          <p:cNvPr id="21" name="图片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1890" y="207483"/>
            <a:ext cx="863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稀土调控 Cu 电子态&#10;用于 CO₂ 加氢制乙醇"/>
          <p:cNvSpPr>
            <a:spLocks noGrp="1"/>
          </p:cNvSpPr>
          <p:nvPr/>
        </p:nvSpPr>
        <p:spPr>
          <a:xfrm>
            <a:off x="640080" y="1819656"/>
            <a:ext cx="10908792" cy="125272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300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3300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1">
                <a:solidFill>
                  <a:srgbClr val="FFFFFF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稀土调控 Cu 电子态</a:t>
            </a:r>
            <a:endParaRPr sz="3300" b="1">
              <a:solidFill>
                <a:srgbClr val="FFFFFF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algn="ctr">
              <a:defRPr sz="3300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1">
                <a:solidFill>
                  <a:srgbClr val="FFFFFF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用于 CO₂ 加氢制乙醇</a:t>
            </a:r>
            <a:endParaRPr sz="3300" b="1">
              <a:solidFill>
                <a:srgbClr val="FFFFFF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25" name="2026年10月12日"/>
          <p:cNvSpPr>
            <a:spLocks noGrp="1"/>
          </p:cNvSpPr>
          <p:nvPr/>
        </p:nvSpPr>
        <p:spPr>
          <a:xfrm>
            <a:off x="2377440" y="6035040"/>
            <a:ext cx="7434072" cy="3657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17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700" b="1">
                <a:solidFill>
                  <a:srgbClr val="014099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2026年10月12日</a:t>
            </a:r>
            <a:endParaRPr sz="1700" b="1">
              <a:solidFill>
                <a:srgbClr val="014099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graphicFrame>
        <p:nvGraphicFramePr>
          <p:cNvPr id="4" name="表格 4"/>
          <p:cNvGraphicFramePr>
            <a:graphicFrameLocks noGrp="1"/>
          </p:cNvGraphicFramePr>
          <p:nvPr/>
        </p:nvGraphicFramePr>
        <p:xfrm>
          <a:off x="3951605" y="4203700"/>
          <a:ext cx="4895215" cy="1828800"/>
        </p:xfrm>
        <a:graphic>
          <a:graphicData uri="http://schemas.openxmlformats.org/drawingml/2006/table">
            <a:tbl>
              <a:tblPr firstRow="1" bandRow="1"/>
              <a:tblGrid>
                <a:gridCol w="1506855"/>
                <a:gridCol w="3388360"/>
              </a:tblGrid>
              <a:tr h="4222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9pPr>
                    </a:lstStyle>
                    <a:p>
                      <a:pPr algn="r"/>
                      <a:r>
                        <a:rPr lang="zh-CN" altLang="en-US" sz="2400" b="1" dirty="0">
                          <a:latin typeface="+mn-ea"/>
                        </a:rPr>
                        <a:t>  汇报人：</a:t>
                      </a:r>
                      <a:endParaRPr lang="zh-CN" altLang="en-US" sz="2400" b="1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9pPr>
                    </a:lstStyle>
                    <a:p>
                      <a:pPr algn="l"/>
                      <a:r>
                        <a:rPr lang="zh-CN" altLang="en-US" sz="2400" b="1" dirty="0"/>
                        <a:t>张</a:t>
                      </a:r>
                      <a:r>
                        <a:rPr lang="en-US" altLang="zh-CN" sz="2400" b="1" dirty="0"/>
                        <a:t>    </a:t>
                      </a:r>
                      <a:r>
                        <a:rPr lang="zh-CN" altLang="en-US" sz="2400" b="1" dirty="0"/>
                        <a:t>捷</a:t>
                      </a:r>
                      <a:endParaRPr lang="zh-CN" altLang="en-US" sz="2400" b="1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9pPr>
                    </a:lstStyle>
                    <a:p>
                      <a:pPr algn="r"/>
                      <a:r>
                        <a:rPr lang="zh-CN" altLang="en-US" sz="2400" b="1" dirty="0">
                          <a:latin typeface="+mn-ea"/>
                        </a:rPr>
                        <a:t>  导</a:t>
                      </a:r>
                      <a:r>
                        <a:rPr lang="en-US" altLang="zh-CN" sz="2400" b="1" dirty="0">
                          <a:latin typeface="+mn-ea"/>
                        </a:rPr>
                        <a:t> </a:t>
                      </a:r>
                      <a:r>
                        <a:rPr lang="zh-CN" altLang="en-US" sz="2400" b="1" dirty="0">
                          <a:latin typeface="+mn-ea"/>
                        </a:rPr>
                        <a:t>  师：</a:t>
                      </a:r>
                      <a:endParaRPr lang="zh-CN" altLang="en-US" sz="2400" b="1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b="1" dirty="0">
                          <a:latin typeface="+mn-ea"/>
                          <a:sym typeface="+mn-ea"/>
                        </a:rPr>
                        <a:t>胡国平  </a:t>
                      </a:r>
                      <a:r>
                        <a:rPr lang="zh-CN" altLang="en-US" sz="2400" b="1" dirty="0">
                          <a:latin typeface="+mn-ea"/>
                          <a:sym typeface="+mn-ea"/>
                        </a:rPr>
                        <a:t>赵生迎</a:t>
                      </a:r>
                      <a:endParaRPr lang="zh-CN" altLang="en-US" sz="2400" b="1" dirty="0">
                        <a:latin typeface="+mn-ea"/>
                        <a:sym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9pPr>
                    </a:lstStyle>
                    <a:p>
                      <a:pPr algn="r"/>
                      <a:endParaRPr lang="zh-CN" altLang="en-US" sz="2400" b="1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400" b="1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9pPr>
                    </a:lstStyle>
                    <a:p>
                      <a:pPr algn="r"/>
                      <a:endParaRPr lang="zh-CN" altLang="en-US" sz="2400" b="1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400" b="1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38"/>
    </mc:Choice>
    <mc:Fallback>
      <p:transition spd="slow" advTm="93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" name=""/>
        <p:cNvGrpSpPr/>
        <p:nvPr/>
      </p:nvGrpSpPr>
      <p:grpSpPr/>
      <p:grpSp>
        <p:nvGrpSpPr>
          <p:cNvPr id="11" name="组合 32"/>
          <p:cNvGrpSpPr/>
          <p:nvPr/>
        </p:nvGrpSpPr>
        <p:grpSpPr>
          <a:xfrm>
            <a:off x="-2" y="261669"/>
            <a:ext cx="1827197" cy="486499"/>
            <a:chOff x="-114776" y="0"/>
            <a:chExt cx="1827197" cy="486499"/>
          </a:xfrm>
        </p:grpSpPr>
        <p:sp>
          <p:nvSpPr>
            <p:cNvPr id="12" name="矩形: 圆顶角 30"/>
            <p:cNvSpPr/>
            <p:nvPr/>
          </p:nvSpPr>
          <p:spPr>
            <a:xfrm rot="5400000">
              <a:off x="555573" y="-670349"/>
              <a:ext cx="486499" cy="182719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4E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13" name="文本框 31"/>
            <p:cNvSpPr txBox="1"/>
            <p:nvPr/>
          </p:nvSpPr>
          <p:spPr>
            <a:xfrm>
              <a:off x="-114141" y="66675"/>
              <a:ext cx="182626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b="1" dirty="0">
                  <a:solidFill>
                    <a:schemeClr val="bg1"/>
                  </a:solidFill>
                  <a:latin typeface="Noto Serif CJK SC" panose="02010600030101010101" pitchFamily="2" charset="-122"/>
                  <a:ea typeface="Noto Serif CJK SC" panose="02010600030101010101" pitchFamily="2" charset="-122"/>
                </a:rPr>
                <a:t>立项依据</a:t>
              </a:r>
              <a:endParaRPr lang="zh-CN" b="1" dirty="0">
                <a:solidFill>
                  <a:schemeClr val="bg1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endParaRPr>
            </a:p>
          </p:txBody>
        </p:sp>
      </p:grpSp>
      <p:sp>
        <p:nvSpPr>
          <p:cNvPr id="14" name="性能基线与工况价态缺口"/>
          <p:cNvSpPr>
            <a:spLocks noGrp="1"/>
          </p:cNvSpPr>
          <p:nvPr/>
        </p:nvSpPr>
        <p:spPr>
          <a:xfrm>
            <a:off x="1847088" y="256032"/>
            <a:ext cx="9189720" cy="5852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lang="zh-CN"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rPr>
              <a:t>催化</a:t>
            </a:r>
            <a:r>
              <a: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rPr>
              <a:t>性能</a:t>
            </a:r>
            <a:endParaRPr sz="2500" b="1">
              <a:solidFill>
                <a:srgbClr val="014099"/>
              </a:solidFill>
              <a:latin typeface="Noto Serif CJK SC"/>
              <a:ea typeface="Noto Serif CJK SC"/>
              <a:cs typeface="Noto Serif CJK SC"/>
            </a:endParaRPr>
          </a:p>
        </p:txBody>
      </p:sp>
      <p:sp>
        <p:nvSpPr>
          <p:cNvPr id="16" name="2"/>
          <p:cNvSpPr>
            <a:spLocks noGrp="1"/>
          </p:cNvSpPr>
          <p:nvPr/>
        </p:nvSpPr>
        <p:spPr>
          <a:xfrm>
            <a:off x="11192256" y="6473952"/>
            <a:ext cx="45720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r">
              <a:def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lang="en-US"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rPr>
              <a:t>1</a:t>
            </a:r>
            <a:endParaRPr lang="en-US" sz="1100" b="0">
              <a:solidFill>
                <a:srgbClr val="66717F"/>
              </a:solidFill>
              <a:latin typeface="Noto Serif CJK SC"/>
              <a:ea typeface="Noto Serif CJK SC"/>
              <a:cs typeface="Noto Serif CJK SC"/>
            </a:endParaRPr>
          </a:p>
        </p:txBody>
      </p:sp>
      <p:sp>
        <p:nvSpPr>
          <p:cNvPr id="17" name="已建立：封装 Cu 的性能基线"/>
          <p:cNvSpPr>
            <a:spLocks noGrp="1"/>
          </p:cNvSpPr>
          <p:nvPr/>
        </p:nvSpPr>
        <p:spPr>
          <a:xfrm>
            <a:off x="676656" y="1097280"/>
            <a:ext cx="5212080" cy="38404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1">
                <a:solidFill>
                  <a:srgbClr val="014099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已建立：封装 Cu 的</a:t>
            </a:r>
            <a:r>
              <a:rPr sz="2100" b="1">
                <a:solidFill>
                  <a:srgbClr val="014099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rPr>
              <a:t>性</a:t>
            </a:r>
            <a:r>
              <a:rPr sz="2100" b="1">
                <a:solidFill>
                  <a:srgbClr val="014099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能基线</a:t>
            </a:r>
            <a:endParaRPr sz="2100" b="1">
              <a:solidFill>
                <a:srgbClr val="014099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graphicFrame>
        <p:nvGraphicFramePr>
          <p:cNvPr id="18" name="表格 17"/>
          <p:cNvGraphicFramePr/>
          <p:nvPr/>
        </p:nvGraphicFramePr>
        <p:xfrm>
          <a:off x="676656" y="1719072"/>
          <a:ext cx="5001768" cy="1563624"/>
        </p:xfrm>
        <a:graphic>
          <a:graphicData uri="http://schemas.openxmlformats.org/drawingml/2006/table">
            <a:tbl>
              <a:tblPr/>
              <a:tblGrid>
                <a:gridCol w="1490472"/>
                <a:gridCol w="1700784"/>
                <a:gridCol w="1810512"/>
              </a:tblGrid>
              <a:tr h="521208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Noto Serif CJK SC"/>
                          <a:cs typeface="Noto Serif CJK SC"/>
                        </a:rPr>
                        <a:t>压力</a:t>
                      </a:r>
                      <a:endParaRPr sz="1900" b="1">
                        <a:solidFill>
                          <a:srgbClr val="FFFFFF"/>
                        </a:solidFill>
                        <a:latin typeface="Times New Roman" panose="02020603050405020304" charset="0"/>
                        <a:ea typeface="Noto Serif CJK SC"/>
                        <a:cs typeface="Noto Serif CJK SC"/>
                      </a:endParaRPr>
                    </a:p>
                  </a:txBody>
                  <a:tcPr marL="95250" marR="76200" marT="57150" marB="57150" anchor="ctr">
                    <a:solidFill>
                      <a:srgbClr val="01409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乙醇 STY</a:t>
                      </a:r>
                      <a:endParaRPr sz="1900" b="1">
                        <a:solidFill>
                          <a:srgbClr val="FFFFFF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01409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en-US" altLang="zh-CN" sz="1900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Noto Serif CJK SC"/>
                          <a:cs typeface="Noto Serif CJK SC"/>
                        </a:rPr>
                        <a:t>CO</a:t>
                      </a:r>
                      <a:r>
                        <a:rPr lang="en-US" altLang="zh-CN" sz="1900" b="1" baseline="-2500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Noto Serif CJK SC"/>
                          <a:cs typeface="Noto Serif CJK SC"/>
                        </a:rPr>
                        <a:t>2</a:t>
                      </a:r>
                      <a:r>
                        <a:rPr lang="zh-CN" sz="1900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Noto Serif CJK SC"/>
                          <a:cs typeface="Noto Serif CJK SC"/>
                        </a:rPr>
                        <a:t>转化率</a:t>
                      </a:r>
                      <a:endParaRPr lang="zh-CN" sz="1900" b="1">
                        <a:solidFill>
                          <a:srgbClr val="FFFFFF"/>
                        </a:solidFill>
                        <a:latin typeface="Times New Roman" panose="02020603050405020304" charset="0"/>
                        <a:ea typeface="Noto Serif CJK SC"/>
                        <a:cs typeface="Noto Serif CJK SC"/>
                      </a:endParaRPr>
                    </a:p>
                  </a:txBody>
                  <a:tcPr marL="95250" marR="76200" marT="57150" marB="57150" anchor="ctr">
                    <a:solidFill>
                      <a:srgbClr val="014099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1.3 MPa</a:t>
                      </a:r>
                      <a:endParaRPr sz="1900" b="1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258</a:t>
                      </a:r>
                      <a:endParaRPr sz="1900" b="0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en-US" altLang="zh-CN" sz="1900">
                          <a:solidFill>
                            <a:srgbClr val="25364A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7.9 %</a:t>
                      </a:r>
                      <a:endParaRPr lang="en-US" altLang="zh-CN" sz="1900">
                        <a:solidFill>
                          <a:srgbClr val="25364A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 marL="95250" marR="76200" marT="57150" marB="57150" anchor="ctr">
                    <a:solidFill>
                      <a:srgbClr val="F0F4F8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2.1 MPa</a:t>
                      </a:r>
                      <a:endParaRPr sz="1900" b="1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398</a:t>
                      </a:r>
                      <a:endParaRPr sz="1900" b="0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1</a:t>
                      </a:r>
                      <a:r>
                        <a:rPr lang="en-US" sz="190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8</a:t>
                      </a:r>
                      <a:r>
                        <a:rPr sz="190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%</a:t>
                      </a:r>
                      <a:endParaRPr sz="1900" b="0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AFBFD"/>
                    </a:solidFill>
                  </a:tcPr>
                </a:tc>
              </a:tr>
            </a:tbl>
          </a:graphicData>
        </a:graphic>
      </p:graphicFrame>
      <p:sp>
        <p:nvSpPr>
          <p:cNvPr id="19" name="乙醇为唯一有机产物，仍有 CO 副产物。&#10;1.3 "/>
          <p:cNvSpPr>
            <a:spLocks noGrp="1"/>
          </p:cNvSpPr>
          <p:nvPr/>
        </p:nvSpPr>
        <p:spPr>
          <a:xfrm>
            <a:off x="713232" y="3483864"/>
            <a:ext cx="4882896" cy="84124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0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00" b="0">
                <a:solidFill>
                  <a:srgbClr val="25364A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乙醇为唯一有机产物，仍有 CO 副产物。</a:t>
            </a:r>
            <a:endParaRPr sz="2000" b="0">
              <a:solidFill>
                <a:srgbClr val="25364A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  <a:p>
            <a:pPr algn="l">
              <a:defRPr sz="20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00" b="0">
                <a:solidFill>
                  <a:srgbClr val="25364A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1.3 MPa 下已验证 100 h 稳定性。</a:t>
            </a:r>
            <a:endParaRPr sz="2000" b="0">
              <a:solidFill>
                <a:srgbClr val="25364A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20" name="300 °C；H₂/CO₂ = 3；GHSV = "/>
          <p:cNvSpPr>
            <a:spLocks noGrp="1"/>
          </p:cNvSpPr>
          <p:nvPr/>
        </p:nvSpPr>
        <p:spPr>
          <a:xfrm>
            <a:off x="759587" y="4380738"/>
            <a:ext cx="4919472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12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200" b="0">
                <a:solidFill>
                  <a:srgbClr val="66717F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300 °C；H₂/CO₂ = 3；GHSV = 12,000</a:t>
            </a:r>
            <a:endParaRPr sz="1200" b="0">
              <a:solidFill>
                <a:srgbClr val="66717F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  <a:p>
            <a:pPr algn="l">
              <a:defRPr sz="12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200" b="0">
                <a:solidFill>
                  <a:srgbClr val="66717F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STY：mg·gcat⁻¹·h⁻¹；GHSV：mL·gcat⁻¹·h⁻¹</a:t>
            </a:r>
            <a:endParaRPr sz="1200" b="0">
              <a:solidFill>
                <a:srgbClr val="66717F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9904" y="1496542"/>
            <a:ext cx="2331720" cy="3041957"/>
          </a:xfrm>
          <a:prstGeom prst="rect">
            <a:avLst/>
          </a:prstGeom>
        </p:spPr>
      </p:pic>
      <p:sp>
        <p:nvSpPr>
          <p:cNvPr id="22" name="已有价态证据&#10;250 °C / 0.5 MPa"/>
          <p:cNvSpPr>
            <a:spLocks noGrp="1"/>
          </p:cNvSpPr>
          <p:nvPr/>
        </p:nvSpPr>
        <p:spPr>
          <a:xfrm>
            <a:off x="8686800" y="1490472"/>
            <a:ext cx="2651760" cy="67665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19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900" b="1">
                <a:solidFill>
                  <a:srgbClr val="014099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250 °C / 0.5 MPa</a:t>
            </a:r>
            <a:endParaRPr sz="1900" b="1">
              <a:solidFill>
                <a:srgbClr val="014099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23" name="XANES：以 Cu⁰ 为主&#10;表面谱学：少量&#10;电正"/>
          <p:cNvSpPr>
            <a:spLocks noGrp="1"/>
          </p:cNvSpPr>
          <p:nvPr/>
        </p:nvSpPr>
        <p:spPr>
          <a:xfrm>
            <a:off x="8686800" y="2587752"/>
            <a:ext cx="2651760" cy="9418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18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00" b="0">
                <a:solidFill>
                  <a:srgbClr val="25364A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XANES：以 Cu⁰ 为主</a:t>
            </a:r>
            <a:endParaRPr sz="1800" b="0">
              <a:solidFill>
                <a:srgbClr val="25364A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  <a:p>
            <a:pPr algn="l">
              <a:defRPr sz="18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00" b="0">
                <a:solidFill>
                  <a:srgbClr val="25364A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表面谱学：少量</a:t>
            </a:r>
            <a:endParaRPr sz="1800" b="0">
              <a:solidFill>
                <a:srgbClr val="25364A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  <a:p>
            <a:pPr algn="l">
              <a:defRPr sz="18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00" b="0">
                <a:solidFill>
                  <a:srgbClr val="25364A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电正性 Cu</a:t>
            </a:r>
            <a:endParaRPr sz="1800" b="0">
              <a:solidFill>
                <a:srgbClr val="25364A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24" name="目标性能工况&#10;300 °C / 1.3–2.1 M"/>
          <p:cNvSpPr>
            <a:spLocks noGrp="1"/>
          </p:cNvSpPr>
          <p:nvPr/>
        </p:nvSpPr>
        <p:spPr>
          <a:xfrm>
            <a:off x="8686800" y="4041648"/>
            <a:ext cx="2651760" cy="95097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76D77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1800" b="1">
                <a:solidFill>
                  <a:srgbClr val="176D7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00" b="1">
                <a:solidFill>
                  <a:srgbClr val="176D77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目标性能工况</a:t>
            </a:r>
            <a:endParaRPr sz="1800" b="1">
              <a:solidFill>
                <a:srgbClr val="176D77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  <a:p>
            <a:pPr algn="l">
              <a:defRPr sz="1800" b="1">
                <a:solidFill>
                  <a:srgbClr val="176D7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00" b="1">
                <a:solidFill>
                  <a:srgbClr val="176D77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300 °C / 1.3–2.1 MPa</a:t>
            </a:r>
            <a:endParaRPr sz="1800" b="1">
              <a:solidFill>
                <a:srgbClr val="176D77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  <a:p>
            <a:pPr algn="l">
              <a:defRPr sz="1800" b="1">
                <a:solidFill>
                  <a:srgbClr val="176D7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00" b="1">
                <a:solidFill>
                  <a:srgbClr val="176D77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界面价态仍需验证</a:t>
            </a:r>
            <a:endParaRPr sz="1800" b="1">
              <a:solidFill>
                <a:srgbClr val="176D77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25" name="Fig. 2G｜反应气氛 XANES"/>
          <p:cNvSpPr>
            <a:spLocks noGrp="1"/>
          </p:cNvSpPr>
          <p:nvPr/>
        </p:nvSpPr>
        <p:spPr>
          <a:xfrm>
            <a:off x="6089523" y="4681347"/>
            <a:ext cx="2496312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100" b="0">
                <a:solidFill>
                  <a:srgbClr val="66717F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Fig. 2G｜反应气氛 XANES</a:t>
            </a:r>
            <a:endParaRPr sz="1100" b="0">
              <a:solidFill>
                <a:srgbClr val="66717F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26" name="直接连接符 25"/>
          <p:cNvSpPr>
            <a:spLocks noGrp="1"/>
          </p:cNvSpPr>
          <p:nvPr/>
        </p:nvSpPr>
        <p:spPr>
          <a:xfrm>
            <a:off x="621792" y="5555361"/>
            <a:ext cx="10945368" cy="0"/>
          </a:xfrm>
          <a:prstGeom prst="line">
            <a:avLst/>
          </a:prstGeom>
          <a:ln w="12383">
            <a:solidFill>
              <a:srgbClr val="014099"/>
            </a:solidFill>
          </a:ln>
        </p:spPr>
      </p:sp>
      <p:sp>
        <p:nvSpPr>
          <p:cNvPr id="27" name="核心缺口：目标工况下的界面 Cu 价态，是否影响乙"/>
          <p:cNvSpPr>
            <a:spLocks noGrp="1"/>
          </p:cNvSpPr>
          <p:nvPr/>
        </p:nvSpPr>
        <p:spPr>
          <a:xfrm>
            <a:off x="713359" y="5733669"/>
            <a:ext cx="10808208" cy="3931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18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00" b="1">
                <a:solidFill>
                  <a:srgbClr val="014099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核心缺口：</a:t>
            </a:r>
            <a:r>
              <a:rPr lang="zh-CN" sz="1800" b="1">
                <a:solidFill>
                  <a:srgbClr val="014099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高活性状态</a:t>
            </a:r>
            <a:r>
              <a:rPr sz="1800" b="1">
                <a:solidFill>
                  <a:srgbClr val="014099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下的界面 Cu 价态，是否影响乙醇形成？</a:t>
            </a:r>
            <a:endParaRPr sz="1800" b="1">
              <a:solidFill>
                <a:srgbClr val="014099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0" y="6486525"/>
            <a:ext cx="51936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 i="1">
                <a:latin typeface="Times New Roman" panose="02020603050405020304" charset="0"/>
                <a:cs typeface="Times New Roman" panose="02020603050405020304" charset="0"/>
              </a:rPr>
              <a:t>Chem 6, 2673–2689</a:t>
            </a:r>
            <a:endParaRPr lang="en-US" altLang="zh-CN" sz="1600" b="1" i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" name=""/>
        <p:cNvGrpSpPr/>
        <p:nvPr/>
      </p:nvGrpSpPr>
      <p:grpSpPr/>
      <p:grpSp>
        <p:nvGrpSpPr>
          <p:cNvPr id="101" name="组合 32"/>
          <p:cNvGrpSpPr/>
          <p:nvPr/>
        </p:nvGrpSpPr>
        <p:grpSpPr>
          <a:xfrm>
            <a:off x="-2" y="261669"/>
            <a:ext cx="1827197" cy="486499"/>
            <a:chOff x="-114776" y="0"/>
            <a:chExt cx="1827197" cy="486499"/>
          </a:xfrm>
        </p:grpSpPr>
        <p:sp>
          <p:nvSpPr>
            <p:cNvPr id="102" name="矩形: 圆顶角 30"/>
            <p:cNvSpPr/>
            <p:nvPr/>
          </p:nvSpPr>
          <p:spPr>
            <a:xfrm rot="5400000">
              <a:off x="555573" y="-670349"/>
              <a:ext cx="486499" cy="182719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4E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103" name="文本框 31"/>
            <p:cNvSpPr txBox="1"/>
            <p:nvPr/>
          </p:nvSpPr>
          <p:spPr>
            <a:xfrm>
              <a:off x="-114141" y="66675"/>
              <a:ext cx="182626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b="1" dirty="0">
                  <a:solidFill>
                    <a:schemeClr val="bg1"/>
                  </a:solidFill>
                  <a:latin typeface="Noto Serif CJK SC" panose="02010600030101010101" pitchFamily="2" charset="-122"/>
                  <a:ea typeface="Noto Serif CJK SC" panose="02010600030101010101" pitchFamily="2" charset="-122"/>
                </a:rPr>
                <a:t>存在问题</a:t>
              </a:r>
              <a:endParaRPr lang="zh-CN" b="1" dirty="0">
                <a:solidFill>
                  <a:schemeClr val="bg1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endParaRPr>
            </a:p>
          </p:txBody>
        </p:sp>
      </p:grpSp>
      <p:sp>
        <p:nvSpPr>
          <p:cNvPr id="104" name="性能基线与工况价态缺口"/>
          <p:cNvSpPr>
            <a:spLocks noGrp="1"/>
          </p:cNvSpPr>
          <p:nvPr/>
        </p:nvSpPr>
        <p:spPr>
          <a:xfrm>
            <a:off x="1847088" y="256032"/>
            <a:ext cx="9189720" cy="5852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500" b="1">
                <a:solidFill>
                  <a:srgbClr val="014099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Cu⁰ 主导，是否还存在 Cu⁺ 活性位？</a:t>
            </a:r>
            <a:endParaRPr sz="2500" b="1">
              <a:solidFill>
                <a:srgbClr val="014099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105" name="2"/>
          <p:cNvSpPr>
            <a:spLocks noGrp="1"/>
          </p:cNvSpPr>
          <p:nvPr/>
        </p:nvSpPr>
        <p:spPr>
          <a:xfrm>
            <a:off x="11192256" y="6473952"/>
            <a:ext cx="45720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r">
              <a:def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lang="en-US"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rPr>
              <a:t>2</a:t>
            </a:r>
            <a:endParaRPr lang="en-US" sz="1100" b="0">
              <a:solidFill>
                <a:srgbClr val="66717F"/>
              </a:solidFill>
              <a:latin typeface="Noto Serif CJK SC"/>
              <a:ea typeface="Noto Serif CJK SC"/>
              <a:cs typeface="Noto Serif CJK SC"/>
            </a:endParaRPr>
          </a:p>
        </p:txBody>
      </p:sp>
      <p:sp>
        <p:nvSpPr>
          <p:cNvPr id="106" name="文本框 4"/>
          <p:cNvSpPr txBox="1"/>
          <p:nvPr/>
        </p:nvSpPr>
        <p:spPr>
          <a:xfrm>
            <a:off x="0" y="6486525"/>
            <a:ext cx="105156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 i="1">
                <a:latin typeface="Times New Roman" panose="02020603050405020304" charset="0"/>
                <a:cs typeface="Times New Roman" panose="02020603050405020304" charset="0"/>
              </a:rPr>
              <a:t>Chem 6, 2673–2689</a:t>
            </a:r>
            <a:endParaRPr lang="en-US" altLang="zh-CN" sz="1600" b="1" i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7" name="相同前处理：250 °C / 0.5 MPa / 40 mi"/>
          <p:cNvSpPr>
            <a:spLocks noGrp="1"/>
          </p:cNvSpPr>
          <p:nvPr/>
        </p:nvSpPr>
        <p:spPr>
          <a:xfrm>
            <a:off x="694944" y="1060704"/>
            <a:ext cx="10853928" cy="38404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00" b="1">
                <a:solidFill>
                  <a:srgbClr val="014099"/>
                </a:solidFill>
                <a:latin typeface="Times New Roman" panose="02020603050405020304"/>
                <a:ea typeface="Noto Serif CJK SC"/>
                <a:cs typeface="Noto Serif CJK SC"/>
              </a:defRPr>
            </a:defPPr>
          </a:lstStyle>
          <a:p>
            <a:pPr algn="l">
              <a:defRPr sz="2000" b="1">
                <a:solidFill>
                  <a:srgbClr val="014099"/>
                </a:solidFill>
                <a:latin typeface="Times New Roman" panose="02020603050405020304"/>
                <a:ea typeface="Noto Serif CJK SC"/>
                <a:cs typeface="Noto Serif CJK SC"/>
              </a:defRPr>
            </a:pPr>
            <a:r>
              <a:rPr sz="2000" b="1">
                <a:solidFill>
                  <a:srgbClr val="014099"/>
                </a:solidFill>
                <a:latin typeface="Times New Roman" panose="02020603050405020304"/>
                <a:ea typeface="Noto Serif CJK SC"/>
                <a:cs typeface="Noto Serif CJK SC"/>
              </a:rPr>
              <a:t>相同前处理：250 °C / 0.5 MPa / 40 min</a:t>
            </a:r>
            <a:endParaRPr sz="2000" b="1">
              <a:solidFill>
                <a:srgbClr val="014099"/>
              </a:solidFill>
              <a:latin typeface="Times New Roman" panose="02020603050405020304"/>
              <a:ea typeface="Noto Serif CJK SC"/>
              <a:cs typeface="Noto Serif CJK SC"/>
            </a:endParaRPr>
          </a:p>
        </p:txBody>
      </p:sp>
      <p:graphicFrame>
        <p:nvGraphicFramePr>
          <p:cNvPr id="108" name="表格 107"/>
          <p:cNvGraphicFramePr/>
          <p:nvPr/>
        </p:nvGraphicFramePr>
        <p:xfrm>
          <a:off x="704088" y="1719072"/>
          <a:ext cx="10789920" cy="1078992"/>
        </p:xfrm>
        <a:graphic>
          <a:graphicData uri="http://schemas.openxmlformats.org/drawingml/2006/table">
            <a:tbl>
              <a:tblPr/>
              <a:tblGrid>
                <a:gridCol w="2843784"/>
                <a:gridCol w="7946136"/>
              </a:tblGrid>
              <a:tr h="5394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Noto Serif CJK SC"/>
                          <a:cs typeface="Noto Serif CJK SC"/>
                        </a:rPr>
                        <a:t>原位 XANES</a:t>
                      </a:r>
                      <a:endParaRPr sz="1800" b="1">
                        <a:solidFill>
                          <a:srgbClr val="FFFFFF"/>
                        </a:solidFill>
                        <a:latin typeface="Times New Roman" panose="02020603050405020304"/>
                        <a:ea typeface="Noto Serif CJK SC"/>
                        <a:cs typeface="Noto Serif CJK SC"/>
                      </a:endParaRPr>
                    </a:p>
                  </a:txBody>
                  <a:tcPr marL="104775" marR="95250" marT="57150" marB="57150" anchor="ctr">
                    <a:solidFill>
                      <a:srgbClr val="0140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Times New Roman" panose="02020603050405020304"/>
                          <a:ea typeface="Noto Serif CJK SC"/>
                          <a:cs typeface="Noto Serif CJK SC"/>
                        </a:rPr>
                        <a:t>“metallic copper is mainly the active species”</a:t>
                      </a:r>
                      <a:endParaRPr sz="1800" b="0">
                        <a:solidFill>
                          <a:srgbClr val="25364A"/>
                        </a:solidFill>
                        <a:latin typeface="Times New Roman" panose="02020603050405020304"/>
                        <a:ea typeface="Noto Serif CJK SC"/>
                        <a:cs typeface="Noto Serif CJK SC"/>
                      </a:endParaRPr>
                    </a:p>
                  </a:txBody>
                  <a:tcPr marL="104775" marR="95250" marT="57150" marB="57150" anchor="ctr">
                    <a:solidFill>
                      <a:srgbClr val="F0F4F8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Noto Serif CJK SC"/>
                          <a:cs typeface="Noto Serif CJK SC"/>
                        </a:rPr>
                        <a:t>XPS + Auger</a:t>
                      </a:r>
                      <a:endParaRPr sz="1800" b="1">
                        <a:solidFill>
                          <a:srgbClr val="FFFFFF"/>
                        </a:solidFill>
                        <a:latin typeface="Times New Roman" panose="02020603050405020304"/>
                        <a:ea typeface="Noto Serif CJK SC"/>
                        <a:cs typeface="Noto Serif CJK SC"/>
                      </a:endParaRPr>
                    </a:p>
                  </a:txBody>
                  <a:tcPr marL="104775" marR="95250" marT="57150" marB="57150" anchor="ctr">
                    <a:solidFill>
                      <a:srgbClr val="0140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Times New Roman" panose="02020603050405020304"/>
                          <a:ea typeface="Noto Serif CJK SC"/>
                          <a:cs typeface="Noto Serif CJK SC"/>
                        </a:rPr>
                        <a:t>“a small amount of electropositive copper species”</a:t>
                      </a:r>
                      <a:endParaRPr sz="1800" b="0">
                        <a:solidFill>
                          <a:srgbClr val="25364A"/>
                        </a:solidFill>
                        <a:latin typeface="Times New Roman" panose="02020603050405020304"/>
                        <a:ea typeface="Noto Serif CJK SC"/>
                        <a:cs typeface="Noto Serif CJK SC"/>
                      </a:endParaRPr>
                    </a:p>
                  </a:txBody>
                  <a:tcPr marL="104775" marR="95250" marT="57150" marB="57150"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pic>
        <p:nvPicPr>
          <p:cNvPr id="109" name="图片 10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98" y="3072384"/>
            <a:ext cx="5321700" cy="2450592"/>
          </a:xfrm>
          <a:prstGeom prst="rect">
            <a:avLst/>
          </a:prstGeom>
        </p:spPr>
      </p:pic>
      <p:sp>
        <p:nvSpPr>
          <p:cNvPr id="110" name="SI Fig. S6｜Cu 2p XPS（左）与 Cu LM"/>
          <p:cNvSpPr>
            <a:spLocks noGrp="1"/>
          </p:cNvSpPr>
          <p:nvPr/>
        </p:nvSpPr>
        <p:spPr>
          <a:xfrm>
            <a:off x="1086993" y="5532120"/>
            <a:ext cx="4928616" cy="2377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50" b="0">
                <a:solidFill>
                  <a:srgbClr val="66717F"/>
                </a:solidFill>
                <a:latin typeface="Times New Roman" panose="02020603050405020304"/>
                <a:ea typeface="Noto Serif CJK SC"/>
                <a:cs typeface="Noto Serif CJK SC"/>
              </a:defRPr>
            </a:defPPr>
          </a:lstStyle>
          <a:p>
            <a:pPr algn="ctr">
              <a:defRPr sz="1150" b="0">
                <a:solidFill>
                  <a:srgbClr val="66717F"/>
                </a:solidFill>
                <a:latin typeface="Times New Roman" panose="02020603050405020304"/>
                <a:ea typeface="Noto Serif CJK SC"/>
                <a:cs typeface="Noto Serif CJK SC"/>
              </a:defRPr>
            </a:pPr>
            <a:r>
              <a:rPr sz="1150" b="0">
                <a:solidFill>
                  <a:srgbClr val="66717F"/>
                </a:solidFill>
                <a:latin typeface="Times New Roman" panose="02020603050405020304"/>
                <a:ea typeface="Noto Serif CJK SC"/>
                <a:cs typeface="Noto Serif CJK SC"/>
              </a:rPr>
              <a:t>Cu 2p XPS</a:t>
            </a:r>
            <a:r>
              <a:rPr lang="en-US" sz="1150" b="0">
                <a:solidFill>
                  <a:srgbClr val="66717F"/>
                </a:solidFill>
                <a:latin typeface="Times New Roman" panose="02020603050405020304"/>
                <a:ea typeface="Noto Serif CJK SC"/>
                <a:cs typeface="Noto Serif CJK SC"/>
              </a:rPr>
              <a:t>                                                         </a:t>
            </a:r>
            <a:r>
              <a:rPr sz="1150" b="0">
                <a:solidFill>
                  <a:srgbClr val="66717F"/>
                </a:solidFill>
                <a:latin typeface="Times New Roman" panose="02020603050405020304"/>
                <a:ea typeface="Noto Serif CJK SC"/>
                <a:cs typeface="Noto Serif CJK SC"/>
              </a:rPr>
              <a:t> Cu LMM</a:t>
            </a:r>
            <a:r>
              <a:rPr lang="en-US" sz="1150" b="0">
                <a:solidFill>
                  <a:srgbClr val="66717F"/>
                </a:solidFill>
                <a:latin typeface="Times New Roman" panose="02020603050405020304"/>
                <a:ea typeface="Noto Serif CJK SC"/>
                <a:cs typeface="Noto Serif CJK SC"/>
              </a:rPr>
              <a:t>                         </a:t>
            </a:r>
            <a:endParaRPr lang="en-US" sz="1150" b="0">
              <a:solidFill>
                <a:srgbClr val="66717F"/>
              </a:solidFill>
              <a:latin typeface="Times New Roman" panose="02020603050405020304"/>
              <a:ea typeface="Noto Serif CJK SC"/>
              <a:cs typeface="Noto Serif CJK SC"/>
            </a:endParaRPr>
          </a:p>
        </p:txBody>
      </p:sp>
      <p:sp>
        <p:nvSpPr>
          <p:cNvPr id="111" name="物种身份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428232" y="3063240"/>
            <a:ext cx="4919472" cy="3200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00" b="1">
                <a:solidFill>
                  <a:srgbClr val="014099"/>
                </a:solidFill>
                <a:latin typeface="Times New Roman" panose="02020603050405020304"/>
                <a:ea typeface="Noto Serif CJK SC"/>
                <a:cs typeface="Noto Serif CJK SC"/>
              </a:defRPr>
            </a:defPPr>
          </a:lstStyle>
          <a:p>
            <a:pPr algn="l">
              <a:defRPr sz="2000" b="1">
                <a:solidFill>
                  <a:srgbClr val="014099"/>
                </a:solidFill>
                <a:latin typeface="Times New Roman" panose="02020603050405020304"/>
                <a:ea typeface="Noto Serif CJK SC"/>
                <a:cs typeface="Noto Serif CJK SC"/>
              </a:defRPr>
            </a:pPr>
            <a:r>
              <a:rPr sz="2000" b="1">
                <a:solidFill>
                  <a:srgbClr val="014099"/>
                </a:solidFill>
                <a:latin typeface="Times New Roman" panose="02020603050405020304"/>
                <a:ea typeface="Noto Serif CJK SC"/>
                <a:cs typeface="Noto Serif CJK SC"/>
              </a:rPr>
              <a:t>物种身份</a:t>
            </a:r>
            <a:endParaRPr sz="2000" b="1">
              <a:solidFill>
                <a:srgbClr val="014099"/>
              </a:solidFill>
              <a:latin typeface="Times New Roman" panose="02020603050405020304"/>
              <a:ea typeface="Noto Serif CJK SC"/>
              <a:cs typeface="Noto Serif CJK SC"/>
            </a:endParaRPr>
          </a:p>
        </p:txBody>
      </p:sp>
      <p:sp>
        <p:nvSpPr>
          <p:cNvPr id="112" name="Cu 2p 中 Cu⁰ / Cu⁺ 峰位重叠。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446520" y="3456432"/>
            <a:ext cx="4901184" cy="4663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25364A"/>
                </a:solidFill>
                <a:latin typeface="Times New Roman" panose="02020603050405020304"/>
                <a:ea typeface="Noto Serif CJK SC"/>
                <a:cs typeface="Noto Serif CJK SC"/>
              </a:defRPr>
            </a:defPPr>
          </a:lstStyle>
          <a:p>
            <a:pPr algn="l">
              <a:defRPr sz="1800" b="0">
                <a:solidFill>
                  <a:srgbClr val="25364A"/>
                </a:solidFill>
                <a:latin typeface="Times New Roman" panose="02020603050405020304"/>
                <a:ea typeface="Noto Serif CJK SC"/>
                <a:cs typeface="Noto Serif CJK SC"/>
              </a:defRPr>
            </a:pPr>
            <a:r>
              <a:rPr sz="1800" b="0">
                <a:solidFill>
                  <a:srgbClr val="25364A"/>
                </a:solidFill>
                <a:latin typeface="Times New Roman" panose="02020603050405020304"/>
                <a:ea typeface="Noto Serif CJK SC"/>
                <a:cs typeface="Noto Serif CJK SC"/>
              </a:rPr>
              <a:t>Cu 2p 中 Cu⁰ / Cu⁺ 峰位重叠。</a:t>
            </a:r>
            <a:endParaRPr sz="1800" b="0">
              <a:solidFill>
                <a:srgbClr val="25364A"/>
              </a:solidFill>
              <a:latin typeface="Times New Roman" panose="02020603050405020304"/>
              <a:ea typeface="Noto Serif CJK SC"/>
              <a:cs typeface="Noto Serif CJK SC"/>
            </a:endParaRPr>
          </a:p>
        </p:txBody>
      </p:sp>
      <p:sp>
        <p:nvSpPr>
          <p:cNvPr id="113" name="工况含量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428232" y="3995928"/>
            <a:ext cx="4919472" cy="3200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00" b="1">
                <a:solidFill>
                  <a:srgbClr val="014099"/>
                </a:solidFill>
                <a:latin typeface="Times New Roman" panose="02020603050405020304"/>
                <a:ea typeface="Noto Serif CJK SC"/>
                <a:cs typeface="Noto Serif CJK SC"/>
              </a:defRPr>
            </a:defPPr>
          </a:lstStyle>
          <a:p>
            <a:pPr algn="l">
              <a:defRPr sz="2000" b="1">
                <a:solidFill>
                  <a:srgbClr val="014099"/>
                </a:solidFill>
                <a:latin typeface="Times New Roman" panose="02020603050405020304"/>
                <a:ea typeface="Noto Serif CJK SC"/>
                <a:cs typeface="Noto Serif CJK SC"/>
              </a:defRPr>
            </a:pPr>
            <a:r>
              <a:rPr sz="2000" b="1">
                <a:solidFill>
                  <a:srgbClr val="014099"/>
                </a:solidFill>
                <a:latin typeface="Times New Roman" panose="02020603050405020304"/>
                <a:ea typeface="Noto Serif CJK SC"/>
                <a:cs typeface="Noto Serif CJK SC"/>
              </a:rPr>
              <a:t>工况含量</a:t>
            </a:r>
            <a:endParaRPr sz="2000" b="1">
              <a:solidFill>
                <a:srgbClr val="014099"/>
              </a:solidFill>
              <a:latin typeface="Times New Roman" panose="02020603050405020304"/>
              <a:ea typeface="Noto Serif CJK SC"/>
              <a:cs typeface="Noto Serif CJK SC"/>
            </a:endParaRPr>
          </a:p>
        </p:txBody>
      </p:sp>
      <p:sp>
        <p:nvSpPr>
          <p:cNvPr id="114" name="少量电正性 Cu 缺乏稳态定量。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446520" y="4389755"/>
            <a:ext cx="4901184" cy="4663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25364A"/>
                </a:solidFill>
                <a:latin typeface="Times New Roman" panose="02020603050405020304"/>
                <a:ea typeface="Noto Serif CJK SC"/>
                <a:cs typeface="Noto Serif CJK SC"/>
              </a:defRPr>
            </a:defPPr>
          </a:lstStyle>
          <a:p>
            <a:pPr algn="l">
              <a:defRPr sz="1800" b="0">
                <a:solidFill>
                  <a:srgbClr val="25364A"/>
                </a:solidFill>
                <a:latin typeface="Times New Roman" panose="02020603050405020304"/>
                <a:ea typeface="Noto Serif CJK SC"/>
                <a:cs typeface="Noto Serif CJK SC"/>
              </a:defRPr>
            </a:pPr>
            <a:r>
              <a:rPr sz="1800" b="0">
                <a:solidFill>
                  <a:srgbClr val="25364A"/>
                </a:solidFill>
                <a:latin typeface="Times New Roman" panose="02020603050405020304"/>
                <a:ea typeface="Noto Serif CJK SC"/>
                <a:cs typeface="Noto Serif CJK SC"/>
              </a:rPr>
              <a:t>少量电正性 Cu 缺乏稳态定量。</a:t>
            </a:r>
            <a:endParaRPr sz="1800" b="0">
              <a:solidFill>
                <a:srgbClr val="25364A"/>
              </a:solidFill>
              <a:latin typeface="Times New Roman" panose="02020603050405020304"/>
              <a:ea typeface="Noto Serif CJK SC"/>
              <a:cs typeface="Noto Serif CJK SC"/>
            </a:endParaRPr>
          </a:p>
        </p:txBody>
      </p:sp>
      <p:sp>
        <p:nvSpPr>
          <p:cNvPr id="115" name="活性贡献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428232" y="4928616"/>
            <a:ext cx="4919472" cy="3200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00" b="1">
                <a:solidFill>
                  <a:srgbClr val="014099"/>
                </a:solidFill>
                <a:latin typeface="Times New Roman" panose="02020603050405020304"/>
                <a:ea typeface="Noto Serif CJK SC"/>
                <a:cs typeface="Noto Serif CJK SC"/>
              </a:defRPr>
            </a:defPPr>
          </a:lstStyle>
          <a:p>
            <a:pPr algn="l">
              <a:defRPr sz="2000" b="1">
                <a:solidFill>
                  <a:srgbClr val="014099"/>
                </a:solidFill>
                <a:latin typeface="Times New Roman" panose="02020603050405020304"/>
                <a:ea typeface="Noto Serif CJK SC"/>
                <a:cs typeface="Noto Serif CJK SC"/>
              </a:defRPr>
            </a:pPr>
            <a:r>
              <a:rPr sz="2000" b="1">
                <a:solidFill>
                  <a:srgbClr val="014099"/>
                </a:solidFill>
                <a:latin typeface="Times New Roman" panose="02020603050405020304"/>
                <a:ea typeface="Noto Serif CJK SC"/>
                <a:cs typeface="Noto Serif CJK SC"/>
              </a:rPr>
              <a:t>活性贡献</a:t>
            </a:r>
            <a:endParaRPr sz="2000" b="1">
              <a:solidFill>
                <a:srgbClr val="014099"/>
              </a:solidFill>
              <a:latin typeface="Times New Roman" panose="02020603050405020304"/>
              <a:ea typeface="Noto Serif CJK SC"/>
              <a:cs typeface="Noto Serif CJK SC"/>
            </a:endParaRPr>
          </a:p>
        </p:txBody>
      </p:sp>
      <p:sp>
        <p:nvSpPr>
          <p:cNvPr id="116" name="是否参与乙醇形成，尚待变量化检验。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446520" y="5321808"/>
            <a:ext cx="4901184" cy="4663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25364A"/>
                </a:solidFill>
                <a:latin typeface="Times New Roman" panose="02020603050405020304"/>
                <a:ea typeface="Noto Serif CJK SC"/>
                <a:cs typeface="Noto Serif CJK SC"/>
              </a:defRPr>
            </a:defPPr>
          </a:lstStyle>
          <a:p>
            <a:pPr algn="l">
              <a:defRPr sz="1800" b="0">
                <a:solidFill>
                  <a:srgbClr val="25364A"/>
                </a:solidFill>
                <a:latin typeface="Times New Roman" panose="02020603050405020304"/>
                <a:ea typeface="Noto Serif CJK SC"/>
                <a:cs typeface="Noto Serif CJK SC"/>
              </a:defRPr>
            </a:pPr>
            <a:r>
              <a:rPr sz="1800" b="0">
                <a:solidFill>
                  <a:srgbClr val="25364A"/>
                </a:solidFill>
                <a:latin typeface="Times New Roman" panose="02020603050405020304"/>
                <a:ea typeface="Noto Serif CJK SC"/>
                <a:cs typeface="Noto Serif CJK SC"/>
              </a:rPr>
              <a:t>是否参与乙醇形成，尚待变量化检验。</a:t>
            </a:r>
            <a:endParaRPr sz="1800" b="0">
              <a:solidFill>
                <a:srgbClr val="25364A"/>
              </a:solidFill>
              <a:latin typeface="Times New Roman" panose="02020603050405020304"/>
              <a:ea typeface="Noto Serif CJK SC"/>
              <a:cs typeface="Noto Serif CJK SC"/>
            </a:endParaRPr>
          </a:p>
        </p:txBody>
      </p:sp>
      <p:sp>
        <p:nvSpPr>
          <p:cNvPr id="117" name="直接连接符 116"/>
          <p:cNvSpPr>
            <a:spLocks noGrp="1"/>
          </p:cNvSpPr>
          <p:nvPr/>
        </p:nvSpPr>
        <p:spPr>
          <a:xfrm>
            <a:off x="658368" y="5943600"/>
            <a:ext cx="10890504" cy="0"/>
          </a:xfrm>
          <a:prstGeom prst="line">
            <a:avLst/>
          </a:prstGeom>
          <a:ln w="11906">
            <a:solidFill>
              <a:srgbClr val="014099"/>
            </a:solidFill>
          </a:ln>
        </p:spPr>
      </p:sp>
      <p:sp>
        <p:nvSpPr>
          <p:cNvPr id="118" name="本课题：在 300 °C / 1.3 MPa 原位定量 Cu"/>
          <p:cNvSpPr>
            <a:spLocks noGrp="1"/>
          </p:cNvSpPr>
          <p:nvPr/>
        </p:nvSpPr>
        <p:spPr>
          <a:xfrm>
            <a:off x="722376" y="6117717"/>
            <a:ext cx="10771632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50" b="1">
                <a:solidFill>
                  <a:srgbClr val="014099"/>
                </a:solidFill>
                <a:latin typeface="Times New Roman" panose="02020603050405020304"/>
                <a:ea typeface="Noto Serif CJK SC"/>
                <a:cs typeface="Noto Serif CJK SC"/>
              </a:defRPr>
            </a:defPPr>
          </a:lstStyle>
          <a:p>
            <a:pPr algn="ctr">
              <a:defRPr sz="1750" b="1">
                <a:solidFill>
                  <a:srgbClr val="014099"/>
                </a:solidFill>
                <a:latin typeface="Times New Roman" panose="02020603050405020304"/>
                <a:ea typeface="Noto Serif CJK SC"/>
                <a:cs typeface="Noto Serif CJK SC"/>
              </a:defRPr>
            </a:pPr>
            <a:endParaRPr sz="1750" b="1">
              <a:solidFill>
                <a:srgbClr val="014099"/>
              </a:solidFill>
              <a:latin typeface="Times New Roman" panose="02020603050405020304"/>
              <a:ea typeface="Noto Serif CJK SC"/>
              <a:cs typeface="Noto Serif CJK S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" name=""/>
        <p:cNvGrpSpPr/>
        <p:nvPr/>
      </p:nvGrpSpPr>
      <p:grpSpPr/>
      <p:grpSp>
        <p:nvGrpSpPr>
          <p:cNvPr id="11" name="组合 32"/>
          <p:cNvGrpSpPr/>
          <p:nvPr/>
        </p:nvGrpSpPr>
        <p:grpSpPr>
          <a:xfrm>
            <a:off x="-2" y="261669"/>
            <a:ext cx="1827197" cy="486499"/>
            <a:chOff x="-114776" y="0"/>
            <a:chExt cx="1827197" cy="486499"/>
          </a:xfrm>
        </p:grpSpPr>
        <p:sp>
          <p:nvSpPr>
            <p:cNvPr id="12" name="矩形: 圆顶角 30"/>
            <p:cNvSpPr/>
            <p:nvPr/>
          </p:nvSpPr>
          <p:spPr>
            <a:xfrm rot="5400000">
              <a:off x="555573" y="-670349"/>
              <a:ext cx="486499" cy="182719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4E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13" name="文本框 31"/>
            <p:cNvSpPr txBox="1"/>
            <p:nvPr/>
          </p:nvSpPr>
          <p:spPr>
            <a:xfrm>
              <a:off x="-114141" y="66675"/>
              <a:ext cx="182626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b="1" dirty="0">
                  <a:solidFill>
                    <a:schemeClr val="bg1"/>
                  </a:solidFill>
                  <a:latin typeface="Noto Serif CJK SC" panose="02010600030101010101" pitchFamily="2" charset="-122"/>
                  <a:ea typeface="Noto Serif CJK SC" panose="02010600030101010101" pitchFamily="2" charset="-122"/>
                </a:rPr>
                <a:t>稀土依据</a:t>
              </a:r>
              <a:endParaRPr lang="zh-CN" b="1" dirty="0">
                <a:solidFill>
                  <a:schemeClr val="bg1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endParaRPr>
            </a:p>
          </p:txBody>
        </p:sp>
      </p:grpSp>
      <p:sp>
        <p:nvSpPr>
          <p:cNvPr id="14" name="难还原 Cu 池：文献规律与外推边界"/>
          <p:cNvSpPr>
            <a:spLocks noGrp="1"/>
          </p:cNvSpPr>
          <p:nvPr/>
        </p:nvSpPr>
        <p:spPr>
          <a:xfrm>
            <a:off x="1847088" y="256032"/>
            <a:ext cx="9189720" cy="5852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lang="zh-CN" sz="2500" b="1">
                <a:solidFill>
                  <a:srgbClr val="014099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调控</a:t>
            </a:r>
            <a:r>
              <a:rPr lang="en-US" altLang="zh-CN" sz="2500" b="1">
                <a:solidFill>
                  <a:srgbClr val="014099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Cu</a:t>
            </a:r>
            <a:r>
              <a:rPr lang="zh-CN" altLang="en-US" sz="2500" b="1">
                <a:solidFill>
                  <a:srgbClr val="014099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电子态</a:t>
            </a:r>
            <a:endParaRPr lang="zh-CN" altLang="en-US" sz="2500" b="1">
              <a:solidFill>
                <a:srgbClr val="014099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16" name="3"/>
          <p:cNvSpPr>
            <a:spLocks noGrp="1"/>
          </p:cNvSpPr>
          <p:nvPr/>
        </p:nvSpPr>
        <p:spPr>
          <a:xfrm>
            <a:off x="11192256" y="6473952"/>
            <a:ext cx="45720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r">
              <a:def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lang="en-US"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rPr>
              <a:t>3</a:t>
            </a:r>
            <a:endParaRPr lang="en-US" sz="1100" b="0">
              <a:solidFill>
                <a:srgbClr val="66717F"/>
              </a:solidFill>
              <a:latin typeface="Noto Serif CJK SC"/>
              <a:ea typeface="Noto Serif CJK SC"/>
              <a:cs typeface="Noto Serif CJK SC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91357"/>
            <a:ext cx="2523744" cy="3317502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960" y="1481328"/>
            <a:ext cx="2523521" cy="3337560"/>
          </a:xfrm>
          <a:prstGeom prst="rect">
            <a:avLst/>
          </a:prstGeom>
        </p:spPr>
      </p:pic>
      <p:sp>
        <p:nvSpPr>
          <p:cNvPr id="19" name="Cu-Y/Beta"/>
          <p:cNvSpPr>
            <a:spLocks noGrp="1"/>
          </p:cNvSpPr>
          <p:nvPr/>
        </p:nvSpPr>
        <p:spPr>
          <a:xfrm>
            <a:off x="713232" y="1005840"/>
            <a:ext cx="2340864" cy="3657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1">
                <a:solidFill>
                  <a:srgbClr val="014099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Cu-Y/Beta</a:t>
            </a:r>
            <a:endParaRPr sz="2100" b="1">
              <a:solidFill>
                <a:srgbClr val="014099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20" name="Cu-Beta"/>
          <p:cNvSpPr>
            <a:spLocks noGrp="1"/>
          </p:cNvSpPr>
          <p:nvPr/>
        </p:nvSpPr>
        <p:spPr>
          <a:xfrm>
            <a:off x="3465576" y="1005840"/>
            <a:ext cx="2313432" cy="3657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buClrTx/>
              <a:buSzTx/>
              <a:buFontTx/>
              <a:def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1">
                <a:solidFill>
                  <a:srgbClr val="014099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Cu-Beta</a:t>
            </a:r>
            <a:endParaRPr sz="2100" b="1">
              <a:solidFill>
                <a:srgbClr val="014099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21" name="Fig. 2d / 2h｜Y = 6 wt%；35"/>
          <p:cNvSpPr>
            <a:spLocks noGrp="1"/>
          </p:cNvSpPr>
          <p:nvPr/>
        </p:nvSpPr>
        <p:spPr>
          <a:xfrm>
            <a:off x="731520" y="4901184"/>
            <a:ext cx="5038344" cy="3657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2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12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200" b="0">
                <a:solidFill>
                  <a:srgbClr val="66717F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Fig. 2d / 2h｜Y = 6 wt%；350 °C，纯 H₂</a:t>
            </a:r>
            <a:endParaRPr sz="1200" b="0">
              <a:solidFill>
                <a:srgbClr val="66717F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22" name="文献实测：Cu(I) ≈0.4–0.5 wt%"/>
          <p:cNvSpPr>
            <a:spLocks noGrp="1"/>
          </p:cNvSpPr>
          <p:nvPr/>
        </p:nvSpPr>
        <p:spPr>
          <a:xfrm>
            <a:off x="6391656" y="1097280"/>
            <a:ext cx="5111496" cy="44805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2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00" b="1">
                <a:solidFill>
                  <a:srgbClr val="014099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文献实测：Cu(I) ≈0.4–0.5 wt%</a:t>
            </a:r>
            <a:endParaRPr sz="2200" b="1">
              <a:solidFill>
                <a:srgbClr val="014099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23" name="该数值为占催化剂总质量的含量。&#10;仅在原文固定 Y、"/>
          <p:cNvSpPr>
            <a:spLocks noGrp="1"/>
          </p:cNvSpPr>
          <p:nvPr/>
        </p:nvSpPr>
        <p:spPr>
          <a:xfrm>
            <a:off x="6400800" y="1728216"/>
            <a:ext cx="5029200" cy="8229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5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185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50" b="0">
                <a:solidFill>
                  <a:srgbClr val="25364A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该数值为占催化剂总质量的含量。</a:t>
            </a:r>
            <a:endParaRPr sz="1850" b="0">
              <a:solidFill>
                <a:srgbClr val="25364A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  <a:p>
            <a:pPr algn="l">
              <a:defRPr sz="185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50" b="0">
                <a:solidFill>
                  <a:srgbClr val="25364A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仅在原文固定 Y、脱铝 Beta 系列验证。</a:t>
            </a:r>
            <a:endParaRPr sz="1850" b="0">
              <a:solidFill>
                <a:srgbClr val="25364A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6391656" y="2798064"/>
            <a:ext cx="5038344" cy="0"/>
          </a:xfrm>
          <a:prstGeom prst="line">
            <a:avLst/>
          </a:prstGeom>
          <a:ln w="12383">
            <a:solidFill>
              <a:srgbClr val="C9D5E3"/>
            </a:solidFill>
          </a:ln>
        </p:spPr>
      </p:sp>
      <p:sp>
        <p:nvSpPr>
          <p:cNvPr id="25" name="据此设计：低 Cu 主线，高 Cu 对标"/>
          <p:cNvSpPr>
            <a:spLocks noGrp="1"/>
          </p:cNvSpPr>
          <p:nvPr/>
        </p:nvSpPr>
        <p:spPr>
          <a:xfrm>
            <a:off x="6391656" y="2990088"/>
            <a:ext cx="5038344" cy="43891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1">
                <a:solidFill>
                  <a:srgbClr val="014099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据此设计：低 Cu 主线，高 Cu 对标</a:t>
            </a:r>
            <a:endParaRPr sz="2100" b="1">
              <a:solidFill>
                <a:srgbClr val="014099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26" name="低 Cu：扩大可检验的价态差异&#10;高 Cu：验证容量"/>
          <p:cNvSpPr>
            <a:spLocks noGrp="1"/>
          </p:cNvSpPr>
          <p:nvPr/>
        </p:nvSpPr>
        <p:spPr>
          <a:xfrm>
            <a:off x="6400800" y="3648456"/>
            <a:ext cx="5010912" cy="8138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0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00" b="0">
                <a:solidFill>
                  <a:srgbClr val="25364A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低 Cu：扩大可检验的价态差异</a:t>
            </a:r>
            <a:endParaRPr sz="2000" b="0">
              <a:solidFill>
                <a:srgbClr val="25364A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  <a:p>
            <a:pPr algn="l">
              <a:defRPr sz="20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00" b="0">
                <a:solidFill>
                  <a:srgbClr val="25364A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高 Cu：验证容量规律能否迁移</a:t>
            </a:r>
            <a:endParaRPr sz="2000" b="0">
              <a:solidFill>
                <a:srgbClr val="25364A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27" name="遇乙醇后 Cu(I) 可继续还原，&#10;不能将“难还原"/>
          <p:cNvSpPr>
            <a:spLocks noGrp="1"/>
          </p:cNvSpPr>
          <p:nvPr/>
        </p:nvSpPr>
        <p:spPr>
          <a:xfrm>
            <a:off x="6400800" y="4754880"/>
            <a:ext cx="5010912" cy="5852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00" b="0">
                <a:solidFill>
                  <a:srgbClr val="945E1D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1700" b="0">
                <a:solidFill>
                  <a:srgbClr val="945E1D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700" b="0">
                <a:solidFill>
                  <a:srgbClr val="945E1D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遇乙醇后 Cu(I) 可继续还原；</a:t>
            </a:r>
            <a:endParaRPr sz="1700" b="0">
              <a:solidFill>
                <a:srgbClr val="945E1D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  <a:p>
            <a:pPr algn="l">
              <a:defRPr sz="1700" b="0">
                <a:solidFill>
                  <a:srgbClr val="945E1D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700" b="0">
                <a:solidFill>
                  <a:srgbClr val="945E1D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能否通过晶内稀土稳定 Cu(I)，需</a:t>
            </a:r>
            <a:r>
              <a:rPr lang="zh-CN" sz="1700" b="0">
                <a:solidFill>
                  <a:srgbClr val="945E1D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实际</a:t>
            </a:r>
            <a:r>
              <a:rPr sz="1700" b="0">
                <a:solidFill>
                  <a:srgbClr val="945E1D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验证。</a:t>
            </a:r>
            <a:endParaRPr sz="1700" b="0">
              <a:solidFill>
                <a:srgbClr val="945E1D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28" name="假设容量为 0.45 wt%：Cu 0.4 / 1"/>
          <p:cNvSpPr>
            <a:spLocks noGrp="1"/>
          </p:cNvSpPr>
          <p:nvPr/>
        </p:nvSpPr>
        <p:spPr>
          <a:xfrm>
            <a:off x="749808" y="5495544"/>
            <a:ext cx="1065276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13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00" b="0">
                <a:solidFill>
                  <a:srgbClr val="66717F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假设容量为 0.45 wt%：Cu 0.4 / 1 / 2 / 8.24 wt% → f(Cu⁺) ≈100 / 45 / 22.5 / 5.5%</a:t>
            </a:r>
            <a:endParaRPr sz="1300" b="0">
              <a:solidFill>
                <a:srgbClr val="66717F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29" name="直接连接符 28"/>
          <p:cNvSpPr>
            <a:spLocks noGrp="1"/>
          </p:cNvSpPr>
          <p:nvPr/>
        </p:nvSpPr>
        <p:spPr>
          <a:xfrm>
            <a:off x="621792" y="5888736"/>
            <a:ext cx="10945368" cy="0"/>
          </a:xfrm>
          <a:prstGeom prst="line">
            <a:avLst/>
          </a:prstGeom>
          <a:ln w="12383">
            <a:solidFill>
              <a:srgbClr val="014099"/>
            </a:solidFill>
          </a:ln>
        </p:spPr>
      </p:sp>
      <p:sp>
        <p:nvSpPr>
          <p:cNvPr id="5" name="文本框 4"/>
          <p:cNvSpPr txBox="1"/>
          <p:nvPr/>
        </p:nvSpPr>
        <p:spPr>
          <a:xfrm>
            <a:off x="0" y="6486525"/>
            <a:ext cx="51936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 i="1">
                <a:latin typeface="Times New Roman" panose="02020603050405020304" charset="0"/>
                <a:cs typeface="Times New Roman" panose="02020603050405020304" charset="0"/>
              </a:rPr>
              <a:t>Angew. Chem. Int. Ed. 2025.</a:t>
            </a:r>
            <a:endParaRPr lang="en-US" altLang="zh-CN" sz="1600" b="1" i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" name=""/>
        <p:cNvGrpSpPr/>
        <p:nvPr/>
      </p:nvGrpSpPr>
      <p:grpSpPr/>
      <p:grpSp>
        <p:nvGrpSpPr>
          <p:cNvPr id="101" name="组合 32"/>
          <p:cNvGrpSpPr/>
          <p:nvPr/>
        </p:nvGrpSpPr>
        <p:grpSpPr>
          <a:xfrm>
            <a:off x="-2" y="261669"/>
            <a:ext cx="1827197" cy="486499"/>
            <a:chOff x="-114776" y="0"/>
            <a:chExt cx="1827197" cy="486499"/>
          </a:xfrm>
        </p:grpSpPr>
        <p:sp>
          <p:nvSpPr>
            <p:cNvPr id="102" name="矩形: 圆顶角 30"/>
            <p:cNvSpPr/>
            <p:nvPr/>
          </p:nvSpPr>
          <p:spPr>
            <a:xfrm rot="5400000">
              <a:off x="555573" y="-670349"/>
              <a:ext cx="486499" cy="182719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4E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103" name="文本框 31"/>
            <p:cNvSpPr txBox="1"/>
            <p:nvPr/>
          </p:nvSpPr>
          <p:spPr>
            <a:xfrm>
              <a:off x="-114141" y="66675"/>
              <a:ext cx="182626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b="1" dirty="0">
                  <a:solidFill>
                    <a:schemeClr val="bg1"/>
                  </a:solidFill>
                  <a:latin typeface="Noto Serif CJK SC" panose="02010600030101010101" pitchFamily="2" charset="-122"/>
                  <a:ea typeface="Noto Serif CJK SC" panose="02010600030101010101" pitchFamily="2" charset="-122"/>
                </a:rPr>
                <a:t>科学问题</a:t>
              </a:r>
              <a:endParaRPr lang="zh-CN" b="1" dirty="0">
                <a:solidFill>
                  <a:schemeClr val="bg1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endParaRPr>
            </a:p>
          </p:txBody>
        </p:sp>
      </p:grpSp>
      <p:sp>
        <p:nvSpPr>
          <p:cNvPr id="104" name="科学问题与界面谱学判据"/>
          <p:cNvSpPr>
            <a:spLocks noGrp="1"/>
          </p:cNvSpPr>
          <p:nvPr/>
        </p:nvSpPr>
        <p:spPr>
          <a:xfrm>
            <a:off x="1847088" y="256032"/>
            <a:ext cx="9189720" cy="5852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500" b="1">
                <a:solidFill>
                  <a:srgbClr val="014099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科学问题：稀土原子调控 Cu⁺/Cu⁰</a:t>
            </a:r>
            <a:endParaRPr sz="2500" b="1">
              <a:solidFill>
                <a:srgbClr val="014099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105" name="4"/>
          <p:cNvSpPr>
            <a:spLocks noGrp="1"/>
          </p:cNvSpPr>
          <p:nvPr/>
        </p:nvSpPr>
        <p:spPr>
          <a:xfrm>
            <a:off x="11192256" y="6473952"/>
            <a:ext cx="45720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r">
              <a:def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lang="en-US"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rPr>
              <a:t>4</a:t>
            </a:r>
            <a:endParaRPr lang="en-US" sz="1100" b="0">
              <a:solidFill>
                <a:srgbClr val="66717F"/>
              </a:solidFill>
              <a:latin typeface="Noto Serif CJK SC"/>
              <a:ea typeface="Noto Serif CJK SC"/>
              <a:cs typeface="Noto Serif CJK SC"/>
            </a:endParaRPr>
          </a:p>
        </p:txBody>
      </p:sp>
      <p:sp>
        <p:nvSpPr>
          <p:cNvPr id="106" name="文本框 4"/>
          <p:cNvSpPr txBox="1"/>
          <p:nvPr/>
        </p:nvSpPr>
        <p:spPr>
          <a:xfrm>
            <a:off x="0" y="6486525"/>
            <a:ext cx="105156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 i="1">
                <a:latin typeface="Times New Roman" panose="02020603050405020304" charset="0"/>
                <a:cs typeface="Times New Roman" panose="02020603050405020304" charset="0"/>
              </a:rPr>
              <a:t>Chem 6, 2673–2689; Angew. Chem. Int. Ed. 2025.</a:t>
            </a:r>
            <a:endParaRPr lang="en-US" altLang="zh-CN" sz="1600" b="1" i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7" name="在封装型 Cu@Na-Beta 体系中，能否通过"/>
          <p:cNvSpPr>
            <a:spLocks noGrp="1"/>
          </p:cNvSpPr>
          <p:nvPr/>
        </p:nvSpPr>
        <p:spPr>
          <a:xfrm>
            <a:off x="786384" y="1234440"/>
            <a:ext cx="10634472" cy="4297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0">
                <a:solidFill>
                  <a:srgbClr val="25364A"/>
                </a:solidFill>
                <a:latin typeface="Times New Roman" panose="02020603050405020304"/>
                <a:ea typeface="Noto Serif CJK SC"/>
                <a:cs typeface="Noto Serif CJK SC"/>
              </a:defRPr>
            </a:defPPr>
          </a:lstStyle>
          <a:p>
            <a:pPr algn="l">
              <a:defRPr sz="2400" b="0">
                <a:solidFill>
                  <a:srgbClr val="25364A"/>
                </a:solidFill>
                <a:latin typeface="Times New Roman" panose="02020603050405020304"/>
                <a:ea typeface="Noto Serif CJK SC"/>
                <a:cs typeface="Noto Serif CJK SC"/>
              </a:defRPr>
            </a:pPr>
            <a:r>
              <a:rPr sz="2400" b="0">
                <a:solidFill>
                  <a:srgbClr val="25364A"/>
                </a:solidFill>
                <a:latin typeface="Times New Roman" panose="02020603050405020304"/>
                <a:ea typeface="Noto Serif CJK SC"/>
                <a:cs typeface="Noto Serif CJK SC"/>
              </a:rPr>
              <a:t>在封装型 Cu@Na-Beta 体系中，能否通过</a:t>
            </a:r>
            <a:endParaRPr sz="2400" b="0">
              <a:solidFill>
                <a:srgbClr val="25364A"/>
              </a:solidFill>
              <a:latin typeface="Times New Roman" panose="02020603050405020304"/>
              <a:ea typeface="Noto Serif CJK SC"/>
              <a:cs typeface="Noto Serif CJK SC"/>
            </a:endParaRPr>
          </a:p>
        </p:txBody>
      </p:sp>
      <p:sp>
        <p:nvSpPr>
          <p:cNvPr id="108" name="晶内引入稀土单原子（Y/La）在还原气氛下锁定 Cu(I)，"/>
          <p:cNvSpPr>
            <a:spLocks noGrp="1"/>
          </p:cNvSpPr>
          <p:nvPr/>
        </p:nvSpPr>
        <p:spPr>
          <a:xfrm>
            <a:off x="786384" y="1792224"/>
            <a:ext cx="10634472" cy="5029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500" b="1">
                <a:solidFill>
                  <a:srgbClr val="014099"/>
                </a:solidFill>
                <a:latin typeface="Times New Roman" panose="02020603050405020304"/>
                <a:ea typeface="Noto Serif CJK SC"/>
                <a:cs typeface="Noto Serif CJK SC"/>
              </a:defRPr>
            </a:defPPr>
          </a:lstStyle>
          <a:p>
            <a:pPr algn="l">
              <a:defRPr sz="2500" b="1">
                <a:solidFill>
                  <a:srgbClr val="014099"/>
                </a:solidFill>
                <a:latin typeface="Times New Roman" panose="02020603050405020304"/>
                <a:ea typeface="Noto Serif CJK SC"/>
                <a:cs typeface="Noto Serif CJK SC"/>
              </a:defRPr>
            </a:pPr>
            <a:r>
              <a:rPr sz="2500" b="1">
                <a:solidFill>
                  <a:srgbClr val="014099"/>
                </a:solidFill>
                <a:latin typeface="Times New Roman" panose="02020603050405020304"/>
                <a:ea typeface="Noto Serif CJK SC"/>
                <a:cs typeface="Noto Serif CJK SC"/>
              </a:rPr>
              <a:t>晶内引入稀土原子（Y/La）在还原气氛下锁定 Cu(I)，</a:t>
            </a:r>
            <a:endParaRPr sz="2500" b="1">
              <a:solidFill>
                <a:srgbClr val="014099"/>
              </a:solidFill>
              <a:latin typeface="Times New Roman" panose="02020603050405020304"/>
              <a:ea typeface="Noto Serif CJK SC"/>
              <a:cs typeface="Noto Serif CJK SC"/>
            </a:endParaRPr>
          </a:p>
        </p:txBody>
      </p:sp>
      <p:sp>
        <p:nvSpPr>
          <p:cNvPr id="109" name="把 Cu⁺/Cu⁰ 比例从“被观测参数”升级为“可设计的结构"/>
          <p:cNvSpPr>
            <a:spLocks noGrp="1"/>
          </p:cNvSpPr>
          <p:nvPr/>
        </p:nvSpPr>
        <p:spPr>
          <a:xfrm>
            <a:off x="786384" y="2432304"/>
            <a:ext cx="10634472" cy="5029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50" b="1">
                <a:solidFill>
                  <a:srgbClr val="014099"/>
                </a:solidFill>
                <a:latin typeface="Times New Roman" panose="02020603050405020304"/>
                <a:ea typeface="Noto Serif CJK SC"/>
                <a:cs typeface="Noto Serif CJK SC"/>
              </a:defRPr>
            </a:defPPr>
          </a:lstStyle>
          <a:p>
            <a:pPr algn="l">
              <a:defRPr sz="2350" b="1">
                <a:solidFill>
                  <a:srgbClr val="014099"/>
                </a:solidFill>
                <a:latin typeface="Times New Roman" panose="02020603050405020304"/>
                <a:ea typeface="Noto Serif CJK SC"/>
                <a:cs typeface="Noto Serif CJK SC"/>
              </a:defRPr>
            </a:pPr>
            <a:r>
              <a:rPr sz="2350" b="1">
                <a:solidFill>
                  <a:srgbClr val="014099"/>
                </a:solidFill>
                <a:latin typeface="Times New Roman" panose="02020603050405020304"/>
                <a:ea typeface="Noto Serif CJK SC"/>
                <a:cs typeface="Noto Serif CJK SC"/>
              </a:rPr>
              <a:t>把 Cu⁺/Cu⁰ 比例从“被观测参数”升级为“可设计的结构变量”，</a:t>
            </a:r>
            <a:endParaRPr sz="2350" b="1">
              <a:solidFill>
                <a:srgbClr val="014099"/>
              </a:solidFill>
              <a:latin typeface="Times New Roman" panose="02020603050405020304"/>
              <a:ea typeface="Noto Serif CJK SC"/>
              <a:cs typeface="Noto Serif CJK SC"/>
            </a:endParaRPr>
          </a:p>
        </p:txBody>
      </p:sp>
      <p:sp>
        <p:nvSpPr>
          <p:cNvPr id="110" name="并给出其调控乙醇选择性的定量构效关系与作用位点？"/>
          <p:cNvSpPr>
            <a:spLocks noGrp="1"/>
          </p:cNvSpPr>
          <p:nvPr/>
        </p:nvSpPr>
        <p:spPr>
          <a:xfrm>
            <a:off x="786384" y="3063240"/>
            <a:ext cx="10634472" cy="4846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0">
                <a:solidFill>
                  <a:srgbClr val="25364A"/>
                </a:solidFill>
                <a:latin typeface="Times New Roman" panose="02020603050405020304"/>
                <a:ea typeface="Noto Serif CJK SC"/>
                <a:cs typeface="Noto Serif CJK SC"/>
              </a:defRPr>
            </a:defPPr>
          </a:lstStyle>
          <a:p>
            <a:pPr algn="l">
              <a:defRPr sz="2400" b="0">
                <a:solidFill>
                  <a:srgbClr val="25364A"/>
                </a:solidFill>
                <a:latin typeface="Times New Roman" panose="02020603050405020304"/>
                <a:ea typeface="Noto Serif CJK SC"/>
                <a:cs typeface="Noto Serif CJK SC"/>
              </a:defRPr>
            </a:pPr>
            <a:r>
              <a:rPr sz="2400" b="0">
                <a:solidFill>
                  <a:srgbClr val="25364A"/>
                </a:solidFill>
                <a:latin typeface="Times New Roman" panose="02020603050405020304"/>
                <a:ea typeface="Noto Serif CJK SC"/>
                <a:cs typeface="Noto Serif CJK SC"/>
              </a:rPr>
              <a:t>并给出其调控乙醇选择性的定量构效关系与作用位点？</a:t>
            </a:r>
            <a:endParaRPr sz="2400" b="0">
              <a:solidFill>
                <a:srgbClr val="25364A"/>
              </a:solidFill>
              <a:latin typeface="Times New Roman" panose="02020603050405020304"/>
              <a:ea typeface="Noto Serif CJK SC"/>
              <a:cs typeface="Noto Serif CJK SC"/>
            </a:endParaRPr>
          </a:p>
        </p:txBody>
      </p:sp>
      <p:sp>
        <p:nvSpPr>
          <p:cNvPr id="111" name="直接连接符 110"/>
          <p:cNvSpPr>
            <a:spLocks noGrp="1"/>
          </p:cNvSpPr>
          <p:nvPr/>
        </p:nvSpPr>
        <p:spPr>
          <a:xfrm>
            <a:off x="795528" y="3840480"/>
            <a:ext cx="10588752" cy="0"/>
          </a:xfrm>
          <a:prstGeom prst="line">
            <a:avLst/>
          </a:prstGeom>
          <a:ln w="11906">
            <a:solidFill>
              <a:srgbClr val="014099"/>
            </a:solidFill>
          </a:ln>
        </p:spPr>
      </p:sp>
      <p:sp>
        <p:nvSpPr>
          <p:cNvPr id="112" name="01  稳定化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13816" y="4114800"/>
            <a:ext cx="3346704" cy="4663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1">
                <a:solidFill>
                  <a:srgbClr val="014099"/>
                </a:solidFill>
                <a:latin typeface="Times New Roman" panose="02020603050405020304"/>
                <a:ea typeface="Noto Serif CJK SC"/>
                <a:cs typeface="Noto Serif CJK SC"/>
              </a:defRPr>
            </a:defPPr>
          </a:lstStyle>
          <a:p>
            <a:pPr algn="l">
              <a:defRPr sz="2200" b="1">
                <a:solidFill>
                  <a:srgbClr val="014099"/>
                </a:solidFill>
                <a:latin typeface="Times New Roman" panose="02020603050405020304"/>
                <a:ea typeface="Noto Serif CJK SC"/>
                <a:cs typeface="Noto Serif CJK SC"/>
              </a:defRPr>
            </a:pPr>
            <a:r>
              <a:rPr sz="2200" b="1">
                <a:solidFill>
                  <a:srgbClr val="014099"/>
                </a:solidFill>
                <a:latin typeface="Times New Roman" panose="02020603050405020304"/>
                <a:ea typeface="Noto Serif CJK SC"/>
                <a:cs typeface="Noto Serif CJK SC"/>
              </a:rPr>
              <a:t>01  稳定化</a:t>
            </a:r>
            <a:endParaRPr sz="2200" b="1">
              <a:solidFill>
                <a:srgbClr val="014099"/>
              </a:solidFill>
              <a:latin typeface="Times New Roman" panose="02020603050405020304"/>
              <a:ea typeface="Noto Serif CJK SC"/>
              <a:cs typeface="Noto Serif CJK SC"/>
            </a:endParaRPr>
          </a:p>
        </p:txBody>
      </p:sp>
      <p:sp>
        <p:nvSpPr>
          <p:cNvPr id="113" name="晶内 Y/La 单原子能否&#10;在还原气氛下稳定 Cu(I)？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13816" y="4773168"/>
            <a:ext cx="3346704" cy="74066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00" b="0">
                <a:solidFill>
                  <a:srgbClr val="25364A"/>
                </a:solidFill>
                <a:latin typeface="Times New Roman" panose="02020603050405020304"/>
                <a:ea typeface="Noto Serif CJK SC"/>
                <a:cs typeface="Noto Serif CJK SC"/>
              </a:defRPr>
            </a:defPPr>
          </a:lstStyle>
          <a:p>
            <a:pPr algn="l">
              <a:defRPr sz="1900" b="0">
                <a:solidFill>
                  <a:srgbClr val="25364A"/>
                </a:solidFill>
                <a:latin typeface="Times New Roman" panose="02020603050405020304"/>
                <a:ea typeface="Noto Serif CJK SC"/>
                <a:cs typeface="Noto Serif CJK SC"/>
              </a:defRPr>
            </a:pPr>
            <a:r>
              <a:rPr sz="1900" b="0">
                <a:solidFill>
                  <a:srgbClr val="25364A"/>
                </a:solidFill>
                <a:latin typeface="Times New Roman" panose="02020603050405020304"/>
                <a:ea typeface="Noto Serif CJK SC"/>
                <a:cs typeface="Noto Serif CJK SC"/>
              </a:rPr>
              <a:t>晶内 Y/La 单原子能否</a:t>
            </a:r>
            <a:endParaRPr sz="1900" b="0">
              <a:solidFill>
                <a:srgbClr val="25364A"/>
              </a:solidFill>
              <a:latin typeface="Times New Roman" panose="02020603050405020304"/>
              <a:ea typeface="Noto Serif CJK SC"/>
              <a:cs typeface="Noto Serif CJK SC"/>
            </a:endParaRPr>
          </a:p>
          <a:p>
            <a:pPr algn="l">
              <a:defRPr sz="1900" b="0">
                <a:solidFill>
                  <a:srgbClr val="25364A"/>
                </a:solidFill>
                <a:latin typeface="Times New Roman" panose="02020603050405020304"/>
                <a:ea typeface="Noto Serif CJK SC"/>
                <a:cs typeface="Noto Serif CJK SC"/>
              </a:defRPr>
            </a:pPr>
            <a:r>
              <a:rPr sz="1900" b="0">
                <a:solidFill>
                  <a:srgbClr val="25364A"/>
                </a:solidFill>
                <a:latin typeface="Times New Roman" panose="02020603050405020304"/>
                <a:ea typeface="Noto Serif CJK SC"/>
                <a:cs typeface="Noto Serif CJK SC"/>
              </a:rPr>
              <a:t>在还原气氛下稳定 Cu(I)</a:t>
            </a:r>
            <a:endParaRPr sz="1900" b="0">
              <a:solidFill>
                <a:srgbClr val="25364A"/>
              </a:solidFill>
              <a:latin typeface="Times New Roman" panose="02020603050405020304"/>
              <a:ea typeface="Noto Serif CJK SC"/>
              <a:cs typeface="Noto Serif CJK SC"/>
            </a:endParaRPr>
          </a:p>
        </p:txBody>
      </p:sp>
      <p:sp>
        <p:nvSpPr>
          <p:cNvPr id="114" name="02  可设计性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416552" y="4114800"/>
            <a:ext cx="3346704" cy="4663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1">
                <a:solidFill>
                  <a:srgbClr val="014099"/>
                </a:solidFill>
                <a:latin typeface="Times New Roman" panose="02020603050405020304"/>
                <a:ea typeface="Noto Serif CJK SC"/>
                <a:cs typeface="Noto Serif CJK SC"/>
              </a:defRPr>
            </a:defPPr>
          </a:lstStyle>
          <a:p>
            <a:pPr algn="l">
              <a:defRPr sz="2200" b="1">
                <a:solidFill>
                  <a:srgbClr val="014099"/>
                </a:solidFill>
                <a:latin typeface="Times New Roman" panose="02020603050405020304"/>
                <a:ea typeface="Noto Serif CJK SC"/>
                <a:cs typeface="Noto Serif CJK SC"/>
              </a:defRPr>
            </a:pPr>
            <a:r>
              <a:rPr sz="2200" b="1">
                <a:solidFill>
                  <a:srgbClr val="014099"/>
                </a:solidFill>
                <a:latin typeface="Times New Roman" panose="02020603050405020304"/>
                <a:ea typeface="Noto Serif CJK SC"/>
                <a:cs typeface="Noto Serif CJK SC"/>
              </a:rPr>
              <a:t>02  可设计性</a:t>
            </a:r>
            <a:endParaRPr sz="2200" b="1">
              <a:solidFill>
                <a:srgbClr val="014099"/>
              </a:solidFill>
              <a:latin typeface="Times New Roman" panose="02020603050405020304"/>
              <a:ea typeface="Noto Serif CJK SC"/>
              <a:cs typeface="Noto Serif CJK SC"/>
            </a:endParaRPr>
          </a:p>
        </p:txBody>
      </p:sp>
      <p:sp>
        <p:nvSpPr>
          <p:cNvPr id="115" name="稀土配位与近邻结构&#10;如何调节 Cu⁺/Cu⁰ 比例？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416552" y="4773168"/>
            <a:ext cx="3346704" cy="74066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00" b="0">
                <a:solidFill>
                  <a:srgbClr val="25364A"/>
                </a:solidFill>
                <a:latin typeface="Times New Roman" panose="02020603050405020304"/>
                <a:ea typeface="Noto Serif CJK SC"/>
                <a:cs typeface="Noto Serif CJK SC"/>
              </a:defRPr>
            </a:defPPr>
          </a:lstStyle>
          <a:p>
            <a:pPr algn="l">
              <a:defRPr sz="1900" b="0">
                <a:solidFill>
                  <a:srgbClr val="25364A"/>
                </a:solidFill>
                <a:latin typeface="Times New Roman" panose="02020603050405020304"/>
                <a:ea typeface="Noto Serif CJK SC"/>
                <a:cs typeface="Noto Serif CJK SC"/>
              </a:defRPr>
            </a:pPr>
            <a:r>
              <a:rPr sz="1900" b="0">
                <a:solidFill>
                  <a:srgbClr val="25364A"/>
                </a:solidFill>
                <a:latin typeface="Times New Roman" panose="02020603050405020304"/>
                <a:ea typeface="Noto Serif CJK SC"/>
                <a:cs typeface="Noto Serif CJK SC"/>
              </a:rPr>
              <a:t>稀土配位与近邻结构</a:t>
            </a:r>
            <a:endParaRPr sz="1900" b="0">
              <a:solidFill>
                <a:srgbClr val="25364A"/>
              </a:solidFill>
              <a:latin typeface="Times New Roman" panose="02020603050405020304"/>
              <a:ea typeface="Noto Serif CJK SC"/>
              <a:cs typeface="Noto Serif CJK SC"/>
            </a:endParaRPr>
          </a:p>
          <a:p>
            <a:pPr algn="l">
              <a:defRPr sz="1900" b="0">
                <a:solidFill>
                  <a:srgbClr val="25364A"/>
                </a:solidFill>
                <a:latin typeface="Times New Roman" panose="02020603050405020304"/>
                <a:ea typeface="Noto Serif CJK SC"/>
                <a:cs typeface="Noto Serif CJK SC"/>
              </a:defRPr>
            </a:pPr>
            <a:r>
              <a:rPr sz="1900" b="0">
                <a:solidFill>
                  <a:srgbClr val="25364A"/>
                </a:solidFill>
                <a:latin typeface="Times New Roman" panose="02020603050405020304"/>
                <a:ea typeface="Noto Serif CJK SC"/>
                <a:cs typeface="Noto Serif CJK SC"/>
              </a:rPr>
              <a:t>如何调节 Cu⁺/Cu⁰ 比例</a:t>
            </a:r>
            <a:endParaRPr sz="1900" b="0">
              <a:solidFill>
                <a:srgbClr val="25364A"/>
              </a:solidFill>
              <a:latin typeface="Times New Roman" panose="02020603050405020304"/>
              <a:ea typeface="Noto Serif CJK SC"/>
              <a:cs typeface="Noto Serif CJK SC"/>
            </a:endParaRPr>
          </a:p>
        </p:txBody>
      </p:sp>
      <p:sp>
        <p:nvSpPr>
          <p:cNvPr id="116" name="03  选择性与位点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8019288" y="4114800"/>
            <a:ext cx="3346704" cy="4663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1">
                <a:solidFill>
                  <a:srgbClr val="014099"/>
                </a:solidFill>
                <a:latin typeface="Times New Roman" panose="02020603050405020304"/>
                <a:ea typeface="Noto Serif CJK SC"/>
                <a:cs typeface="Noto Serif CJK SC"/>
              </a:defRPr>
            </a:defPPr>
          </a:lstStyle>
          <a:p>
            <a:pPr algn="l">
              <a:defRPr sz="2200" b="1">
                <a:solidFill>
                  <a:srgbClr val="014099"/>
                </a:solidFill>
                <a:latin typeface="Times New Roman" panose="02020603050405020304"/>
                <a:ea typeface="Noto Serif CJK SC"/>
                <a:cs typeface="Noto Serif CJK SC"/>
              </a:defRPr>
            </a:pPr>
            <a:r>
              <a:rPr sz="2200" b="1">
                <a:solidFill>
                  <a:srgbClr val="014099"/>
                </a:solidFill>
                <a:latin typeface="Times New Roman" panose="02020603050405020304"/>
                <a:ea typeface="Noto Serif CJK SC"/>
                <a:cs typeface="Noto Serif CJK SC"/>
              </a:rPr>
              <a:t>03  选择性与位点</a:t>
            </a:r>
            <a:endParaRPr sz="2200" b="1">
              <a:solidFill>
                <a:srgbClr val="014099"/>
              </a:solidFill>
              <a:latin typeface="Times New Roman" panose="02020603050405020304"/>
              <a:ea typeface="Noto Serif CJK SC"/>
              <a:cs typeface="Noto Serif CJK SC"/>
            </a:endParaRPr>
          </a:p>
        </p:txBody>
      </p:sp>
      <p:sp>
        <p:nvSpPr>
          <p:cNvPr id="117" name="建立定量构效关系，&#10;识别影响乙醇形成的位点。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8019288" y="4773168"/>
            <a:ext cx="3346704" cy="74066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00" b="0">
                <a:solidFill>
                  <a:srgbClr val="25364A"/>
                </a:solidFill>
                <a:latin typeface="Times New Roman" panose="02020603050405020304"/>
                <a:ea typeface="Noto Serif CJK SC"/>
                <a:cs typeface="Noto Serif CJK SC"/>
              </a:defRPr>
            </a:defPPr>
          </a:lstStyle>
          <a:p>
            <a:pPr algn="l">
              <a:defRPr sz="1900" b="0">
                <a:solidFill>
                  <a:srgbClr val="25364A"/>
                </a:solidFill>
                <a:latin typeface="Times New Roman" panose="02020603050405020304"/>
                <a:ea typeface="Noto Serif CJK SC"/>
                <a:cs typeface="Noto Serif CJK SC"/>
              </a:defRPr>
            </a:pPr>
            <a:r>
              <a:rPr sz="1900" b="0">
                <a:solidFill>
                  <a:srgbClr val="25364A"/>
                </a:solidFill>
                <a:latin typeface="Times New Roman" panose="02020603050405020304"/>
                <a:ea typeface="Noto Serif CJK SC"/>
                <a:cs typeface="Noto Serif CJK SC"/>
              </a:rPr>
              <a:t>建立定量构效关系，</a:t>
            </a:r>
            <a:endParaRPr sz="1900" b="0">
              <a:solidFill>
                <a:srgbClr val="25364A"/>
              </a:solidFill>
              <a:latin typeface="Times New Roman" panose="02020603050405020304"/>
              <a:ea typeface="Noto Serif CJK SC"/>
              <a:cs typeface="Noto Serif CJK SC"/>
            </a:endParaRPr>
          </a:p>
          <a:p>
            <a:pPr algn="l">
              <a:defRPr sz="1900" b="0">
                <a:solidFill>
                  <a:srgbClr val="25364A"/>
                </a:solidFill>
                <a:latin typeface="Times New Roman" panose="02020603050405020304"/>
                <a:ea typeface="Noto Serif CJK SC"/>
                <a:cs typeface="Noto Serif CJK SC"/>
              </a:defRPr>
            </a:pPr>
            <a:r>
              <a:rPr sz="1900" b="0">
                <a:solidFill>
                  <a:srgbClr val="25364A"/>
                </a:solidFill>
                <a:latin typeface="Times New Roman" panose="02020603050405020304"/>
                <a:ea typeface="Noto Serif CJK SC"/>
                <a:cs typeface="Noto Serif CJK SC"/>
              </a:rPr>
              <a:t>识别影响乙醇形成的位点。</a:t>
            </a:r>
            <a:endParaRPr sz="1900" b="0">
              <a:solidFill>
                <a:srgbClr val="25364A"/>
              </a:solidFill>
              <a:latin typeface="Times New Roman" panose="02020603050405020304"/>
              <a:ea typeface="Noto Serif CJK SC"/>
              <a:cs typeface="Noto Serif CJK SC"/>
            </a:endParaRPr>
          </a:p>
        </p:txBody>
      </p:sp>
      <p:sp>
        <p:nvSpPr>
          <p:cNvPr id="118" name="直接连接符 117"/>
          <p:cNvSpPr>
            <a:spLocks noGrp="1"/>
          </p:cNvSpPr>
          <p:nvPr/>
        </p:nvSpPr>
        <p:spPr>
          <a:xfrm>
            <a:off x="658368" y="5943600"/>
            <a:ext cx="10890504" cy="0"/>
          </a:xfrm>
          <a:prstGeom prst="line">
            <a:avLst/>
          </a:prstGeom>
          <a:ln w="11906">
            <a:solidFill>
              <a:srgbClr val="014099"/>
            </a:solidFill>
          </a:ln>
        </p:spPr>
      </p:sp>
      <p:sp>
        <p:nvSpPr>
          <p:cNvPr id="119" name="验证路径：工况 Cu 价态定量 → 乙醇选择性构效关系 → "/>
          <p:cNvSpPr>
            <a:spLocks noGrp="1"/>
          </p:cNvSpPr>
          <p:nvPr/>
        </p:nvSpPr>
        <p:spPr>
          <a:xfrm>
            <a:off x="740664" y="6016752"/>
            <a:ext cx="10725912" cy="33832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00" b="1">
                <a:solidFill>
                  <a:srgbClr val="014099"/>
                </a:solidFill>
                <a:latin typeface="Times New Roman" panose="02020603050405020304"/>
                <a:ea typeface="Noto Serif CJK SC"/>
                <a:cs typeface="Noto Serif CJK SC"/>
              </a:defRPr>
            </a:defPPr>
          </a:lstStyle>
          <a:p>
            <a:pPr algn="ctr">
              <a:defRPr sz="1700" b="1">
                <a:solidFill>
                  <a:srgbClr val="014099"/>
                </a:solidFill>
                <a:latin typeface="Times New Roman" panose="02020603050405020304"/>
                <a:ea typeface="Noto Serif CJK SC"/>
                <a:cs typeface="Noto Serif CJK SC"/>
              </a:defRPr>
            </a:pPr>
            <a:r>
              <a:rPr sz="1700" b="1">
                <a:solidFill>
                  <a:srgbClr val="014099"/>
                </a:solidFill>
                <a:latin typeface="Times New Roman" panose="02020603050405020304"/>
                <a:ea typeface="Noto Serif CJK SC"/>
                <a:cs typeface="Noto Serif CJK SC"/>
              </a:rPr>
              <a:t>验证路径：Cu 价态定量 → 乙醇选择性构效关系 → 活性位点与基元步骤归因</a:t>
            </a:r>
            <a:endParaRPr sz="1700" b="1">
              <a:solidFill>
                <a:srgbClr val="014099"/>
              </a:solidFill>
              <a:latin typeface="Times New Roman" panose="02020603050405020304"/>
              <a:ea typeface="Noto Serif CJK SC"/>
              <a:cs typeface="Noto Serif CJK S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" name=""/>
        <p:cNvGrpSpPr/>
        <p:nvPr/>
      </p:nvGrpSpPr>
      <p:grpSpPr/>
      <p:grpSp>
        <p:nvGrpSpPr>
          <p:cNvPr id="11" name="组合 32"/>
          <p:cNvGrpSpPr/>
          <p:nvPr/>
        </p:nvGrpSpPr>
        <p:grpSpPr>
          <a:xfrm>
            <a:off x="-2" y="261669"/>
            <a:ext cx="1827197" cy="486499"/>
            <a:chOff x="-114776" y="0"/>
            <a:chExt cx="1827197" cy="486499"/>
          </a:xfrm>
        </p:grpSpPr>
        <p:sp>
          <p:nvSpPr>
            <p:cNvPr id="12" name="矩形: 圆顶角 30"/>
            <p:cNvSpPr/>
            <p:nvPr/>
          </p:nvSpPr>
          <p:spPr>
            <a:xfrm rot="5400000">
              <a:off x="555573" y="-670349"/>
              <a:ext cx="486499" cy="182719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4E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13" name="文本框 31"/>
            <p:cNvSpPr txBox="1"/>
            <p:nvPr/>
          </p:nvSpPr>
          <p:spPr>
            <a:xfrm>
              <a:off x="-114141" y="66675"/>
              <a:ext cx="182626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b="1" dirty="0">
                  <a:solidFill>
                    <a:schemeClr val="bg1"/>
                  </a:solidFill>
                  <a:latin typeface="Noto Serif CJK SC" panose="02010600030101010101" pitchFamily="2" charset="-122"/>
                  <a:ea typeface="Noto Serif CJK SC" panose="02010600030101010101" pitchFamily="2" charset="-122"/>
                </a:rPr>
                <a:t>样品设计</a:t>
              </a:r>
              <a:endParaRPr lang="zh-CN" b="1" dirty="0">
                <a:solidFill>
                  <a:schemeClr val="bg1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endParaRPr>
            </a:p>
          </p:txBody>
        </p:sp>
      </p:grpSp>
      <p:sp>
        <p:nvSpPr>
          <p:cNvPr id="14" name="样品矩阵与成对对照"/>
          <p:cNvSpPr>
            <a:spLocks noGrp="1"/>
          </p:cNvSpPr>
          <p:nvPr/>
        </p:nvSpPr>
        <p:spPr>
          <a:xfrm>
            <a:off x="1847088" y="256032"/>
            <a:ext cx="9189720" cy="5852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rPr>
              <a:t>样品对照</a:t>
            </a:r>
            <a:endParaRPr sz="2500" b="1">
              <a:solidFill>
                <a:srgbClr val="014099"/>
              </a:solidFill>
              <a:latin typeface="Noto Serif CJK SC"/>
              <a:ea typeface="Noto Serif CJK SC"/>
              <a:cs typeface="Noto Serif CJK SC"/>
            </a:endParaRPr>
          </a:p>
        </p:txBody>
      </p:sp>
      <p:sp>
        <p:nvSpPr>
          <p:cNvPr id="16" name="5"/>
          <p:cNvSpPr>
            <a:spLocks noGrp="1"/>
          </p:cNvSpPr>
          <p:nvPr/>
        </p:nvSpPr>
        <p:spPr>
          <a:xfrm>
            <a:off x="11192256" y="6473952"/>
            <a:ext cx="45720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r">
              <a:def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lang="en-US"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rPr>
              <a:t>5</a:t>
            </a:r>
            <a:endParaRPr lang="en-US" sz="1100" b="0">
              <a:solidFill>
                <a:srgbClr val="66717F"/>
              </a:solidFill>
              <a:latin typeface="Noto Serif CJK SC"/>
              <a:ea typeface="Noto Serif CJK SC"/>
              <a:cs typeface="Noto Serif CJK SC"/>
            </a:endParaRPr>
          </a:p>
        </p:txBody>
      </p:sp>
      <p:sp>
        <p:nvSpPr>
          <p:cNvPr id="17" name="11 种配方；首轮计划 12 釜（S0 独立重复两"/>
          <p:cNvSpPr>
            <a:spLocks noGrp="1"/>
          </p:cNvSpPr>
          <p:nvPr/>
        </p:nvSpPr>
        <p:spPr>
          <a:xfrm>
            <a:off x="685800" y="1042416"/>
            <a:ext cx="10799064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2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lang="zh-CN" sz="2200" b="1">
                <a:solidFill>
                  <a:srgbClr val="014099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设计</a:t>
            </a:r>
            <a:r>
              <a:rPr lang="zh-CN" sz="2200" b="1">
                <a:solidFill>
                  <a:srgbClr val="014099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方案</a:t>
            </a:r>
            <a:endParaRPr lang="zh-CN" sz="2200" b="1">
              <a:solidFill>
                <a:srgbClr val="014099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graphicFrame>
        <p:nvGraphicFramePr>
          <p:cNvPr id="18" name="表格 17"/>
          <p:cNvGraphicFramePr/>
          <p:nvPr/>
        </p:nvGraphicFramePr>
        <p:xfrm>
          <a:off x="694944" y="1847977"/>
          <a:ext cx="10771632" cy="3456432"/>
        </p:xfrm>
        <a:graphic>
          <a:graphicData uri="http://schemas.openxmlformats.org/drawingml/2006/table">
            <a:tbl>
              <a:tblPr/>
              <a:tblGrid>
                <a:gridCol w="1344168"/>
                <a:gridCol w="2660650"/>
                <a:gridCol w="2112518"/>
                <a:gridCol w="4654296"/>
              </a:tblGrid>
              <a:tr h="493776">
                <a:tc>
                  <a:txBody>
                    <a:bodyPr wrap="square"/>
                    <a:lstStyle/>
                    <a:p>
                      <a:r>
                        <a:rPr sz="1750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Noto Serif CJK SC"/>
                          <a:cs typeface="Noto Serif CJK SC"/>
                        </a:rPr>
                        <a:t>组别</a:t>
                      </a:r>
                      <a:endParaRPr sz="1750" b="1">
                        <a:solidFill>
                          <a:srgbClr val="FFFFFF"/>
                        </a:solidFill>
                        <a:latin typeface="Times New Roman" panose="02020603050405020304" charset="0"/>
                        <a:ea typeface="Noto Serif CJK SC"/>
                        <a:cs typeface="Noto Serif CJK SC"/>
                      </a:endParaRPr>
                    </a:p>
                  </a:txBody>
                  <a:tcPr marL="95250" marR="76200" marT="57150" marB="57150" anchor="ctr">
                    <a:solidFill>
                      <a:srgbClr val="01409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50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Cu / wt%</a:t>
                      </a:r>
                      <a:endParaRPr sz="1750" b="1">
                        <a:solidFill>
                          <a:srgbClr val="FFFFFF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01409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50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稀土 / wt%</a:t>
                      </a:r>
                      <a:endParaRPr sz="1750" b="1">
                        <a:solidFill>
                          <a:srgbClr val="FFFFFF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01409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50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Noto Serif CJK SC"/>
                          <a:cs typeface="Noto Serif CJK SC"/>
                        </a:rPr>
                        <a:t>用途</a:t>
                      </a:r>
                      <a:endParaRPr sz="1750" b="1">
                        <a:solidFill>
                          <a:srgbClr val="FFFFFF"/>
                        </a:solidFill>
                        <a:latin typeface="Times New Roman" panose="02020603050405020304" charset="0"/>
                        <a:ea typeface="Noto Serif CJK SC"/>
                        <a:cs typeface="Noto Serif CJK SC"/>
                      </a:endParaRPr>
                    </a:p>
                  </a:txBody>
                  <a:tcPr marL="95250" marR="76200" marT="57150" marB="57150" anchor="ctr">
                    <a:solidFill>
                      <a:srgbClr val="014099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750" b="1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A1–A</a:t>
                      </a:r>
                      <a:r>
                        <a:rPr lang="en-US" sz="1750" b="1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4</a:t>
                      </a:r>
                      <a:endParaRPr lang="en-US" sz="1750" b="1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en-US" sz="175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6.18</a:t>
                      </a:r>
                      <a:r>
                        <a:rPr sz="175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 / </a:t>
                      </a:r>
                      <a:r>
                        <a:rPr lang="en-US" sz="175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8.24</a:t>
                      </a:r>
                      <a:r>
                        <a:rPr sz="175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 / </a:t>
                      </a:r>
                      <a:r>
                        <a:rPr lang="en-US" sz="175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10.3</a:t>
                      </a:r>
                      <a:r>
                        <a:rPr lang="en-US" sz="175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 / 12.36</a:t>
                      </a:r>
                      <a:endParaRPr lang="en-US" sz="1750" b="0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5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Y</a:t>
                      </a:r>
                      <a:r>
                        <a:rPr lang="en-US" sz="175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 /</a:t>
                      </a:r>
                      <a:r>
                        <a:rPr sz="175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 6</a:t>
                      </a:r>
                      <a:endParaRPr sz="1750" b="0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5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Noto Serif CJK SC"/>
                        </a:rPr>
                        <a:t>检验界面电子态</a:t>
                      </a:r>
                      <a:endParaRPr sz="1750" b="0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Noto Serif CJK SC"/>
                      </a:endParaRPr>
                    </a:p>
                  </a:txBody>
                  <a:tcPr marL="95250" marR="76200" marT="57150" marB="57150" anchor="ctr">
                    <a:solidFill>
                      <a:srgbClr val="F0F4F8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750" b="1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B1–B</a:t>
                      </a:r>
                      <a:r>
                        <a:rPr lang="en-US" sz="1750" b="1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4</a:t>
                      </a:r>
                      <a:endParaRPr lang="en-US" sz="1750" b="1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en-US" sz="1750">
                          <a:solidFill>
                            <a:srgbClr val="25364A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6.18</a:t>
                      </a:r>
                      <a:r>
                        <a:rPr sz="1750">
                          <a:solidFill>
                            <a:srgbClr val="25364A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/ </a:t>
                      </a:r>
                      <a:r>
                        <a:rPr lang="en-US" sz="1750">
                          <a:solidFill>
                            <a:srgbClr val="25364A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8.24</a:t>
                      </a:r>
                      <a:r>
                        <a:rPr sz="1750">
                          <a:solidFill>
                            <a:srgbClr val="25364A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/ </a:t>
                      </a:r>
                      <a:r>
                        <a:rPr lang="en-US" sz="1750">
                          <a:solidFill>
                            <a:srgbClr val="25364A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10.3 / 12.36</a:t>
                      </a:r>
                      <a:endParaRPr lang="en-US" sz="1750" b="0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5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Noto Serif CJK SC"/>
                        </a:rPr>
                        <a:t>无</a:t>
                      </a:r>
                      <a:endParaRPr sz="1750" b="0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Noto Serif CJK SC"/>
                      </a:endParaRPr>
                    </a:p>
                  </a:txBody>
                  <a:tcPr marL="95250" marR="76200" marT="57150" marB="57150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5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与 A 系列同载量</a:t>
                      </a:r>
                      <a:r>
                        <a:rPr lang="zh-CN" sz="175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对照</a:t>
                      </a:r>
                      <a:endParaRPr lang="zh-CN" sz="1750" b="0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AFBFD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lang="en-US" sz="1750" b="1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C1-</a:t>
                      </a:r>
                      <a:r>
                        <a:rPr lang="en-US" sz="1750" b="1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C4</a:t>
                      </a:r>
                      <a:endParaRPr lang="en-US" sz="1750" b="1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50">
                          <a:solidFill>
                            <a:srgbClr val="25364A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sz="1750">
                          <a:solidFill>
                            <a:srgbClr val="25364A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8.24</a:t>
                      </a:r>
                      <a:r>
                        <a:rPr sz="1750">
                          <a:solidFill>
                            <a:srgbClr val="25364A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/ </a:t>
                      </a:r>
                      <a:r>
                        <a:rPr lang="en-US" sz="1750">
                          <a:solidFill>
                            <a:srgbClr val="25364A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10.3 / 12.36</a:t>
                      </a:r>
                      <a:endParaRPr lang="en-US" altLang="zh-CN" sz="1750" b="0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5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La </a:t>
                      </a:r>
                      <a:r>
                        <a:rPr lang="en-US" sz="175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/ </a:t>
                      </a:r>
                      <a:r>
                        <a:rPr sz="175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9.4</a:t>
                      </a:r>
                      <a:endParaRPr sz="1750" b="0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5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与 Y 6 近似等摩尔对照</a:t>
                      </a:r>
                      <a:endParaRPr sz="1750" b="0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0F4F8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lang="en-US" sz="1750" b="1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D1-D4</a:t>
                      </a:r>
                      <a:endParaRPr lang="zh-CN" altLang="en-US" sz="1750" b="1">
                        <a:solidFill>
                          <a:srgbClr val="25364A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5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8.24</a:t>
                      </a:r>
                      <a:endParaRPr lang="zh-CN" sz="1750" b="0">
                        <a:solidFill>
                          <a:srgbClr val="25364A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en-US" altLang="zh-CN" sz="175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Y / 2 / 4 / 6</a:t>
                      </a:r>
                      <a:r>
                        <a:rPr sz="175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 </a:t>
                      </a:r>
                      <a:r>
                        <a:rPr lang="en-US" sz="175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/ 8</a:t>
                      </a:r>
                      <a:endParaRPr lang="en-US" sz="1750" b="0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zh-CN" altLang="en-US" sz="175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不同稀土</a:t>
                      </a:r>
                      <a:r>
                        <a:rPr lang="zh-CN" altLang="en-US" sz="175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掺杂量</a:t>
                      </a:r>
                      <a:endParaRPr lang="zh-CN" altLang="en-US" sz="1750" b="0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AFBFD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lang="en-US" sz="1750" b="1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R1</a:t>
                      </a:r>
                      <a:endParaRPr lang="en-US" sz="1750" b="1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zh-CN" altLang="en-US" sz="175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无</a:t>
                      </a:r>
                      <a:endParaRPr lang="zh-CN" altLang="en-US" sz="1750" b="0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5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Y </a:t>
                      </a:r>
                      <a:r>
                        <a:rPr lang="en-US" sz="175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/ </a:t>
                      </a:r>
                      <a:r>
                        <a:rPr sz="175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6</a:t>
                      </a:r>
                      <a:endParaRPr sz="1750" b="0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5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Noto Serif CJK SC"/>
                        </a:rPr>
                        <a:t>对照</a:t>
                      </a:r>
                      <a:endParaRPr sz="1750" b="0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Noto Serif CJK SC"/>
                      </a:endParaRPr>
                    </a:p>
                  </a:txBody>
                  <a:tcPr marL="95250" marR="76200" marT="57150" marB="57150" anchor="ctr">
                    <a:solidFill>
                      <a:srgbClr val="F0F4F8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lang="en-US" sz="1750" b="1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R2</a:t>
                      </a:r>
                      <a:endParaRPr sz="1750" b="1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zh-CN" sz="175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无</a:t>
                      </a:r>
                      <a:endParaRPr lang="zh-CN" sz="1750" b="0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en-US" sz="175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La</a:t>
                      </a:r>
                      <a:r>
                        <a:rPr sz="175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 </a:t>
                      </a:r>
                      <a:r>
                        <a:rPr lang="en-US" sz="175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/ </a:t>
                      </a:r>
                      <a:r>
                        <a:rPr sz="175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6</a:t>
                      </a:r>
                      <a:endParaRPr sz="1750" b="0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5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Noto Serif CJK SC"/>
                        </a:rPr>
                        <a:t>对照</a:t>
                      </a:r>
                      <a:endParaRPr sz="1750" b="0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Noto Serif CJK SC"/>
                      </a:endParaRPr>
                    </a:p>
                  </a:txBody>
                  <a:tcPr marL="95250" marR="76200" marT="57150" marB="57150" anchor="ctr">
                    <a:solidFill>
                      <a:srgbClr val="FAFBFD"/>
                    </a:solidFill>
                  </a:tcPr>
                </a:tc>
              </a:tr>
            </a:tbl>
          </a:graphicData>
        </a:graphic>
      </p:graphicFrame>
      <p:sp>
        <p:nvSpPr>
          <p:cNvPr id="20" name="直接连接符 19"/>
          <p:cNvSpPr>
            <a:spLocks noGrp="1"/>
          </p:cNvSpPr>
          <p:nvPr/>
        </p:nvSpPr>
        <p:spPr>
          <a:xfrm>
            <a:off x="621792" y="5888736"/>
            <a:ext cx="10945368" cy="0"/>
          </a:xfrm>
          <a:prstGeom prst="line">
            <a:avLst/>
          </a:prstGeom>
          <a:ln w="12383">
            <a:solidFill>
              <a:srgbClr val="014099"/>
            </a:solidFill>
          </a:ln>
        </p:spPr>
      </p:sp>
      <p:sp>
        <p:nvSpPr>
          <p:cNvPr id="21" name="低 Cu 系列回答科学问题；高 Cu 系列对照文献"/>
          <p:cNvSpPr>
            <a:spLocks noGrp="1"/>
          </p:cNvSpPr>
          <p:nvPr/>
        </p:nvSpPr>
        <p:spPr>
          <a:xfrm>
            <a:off x="694944" y="5952744"/>
            <a:ext cx="10808208" cy="3931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18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endParaRPr sz="1800" b="1">
              <a:solidFill>
                <a:srgbClr val="014099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" name=""/>
        <p:cNvGrpSpPr/>
        <p:nvPr/>
      </p:nvGrpSpPr>
      <p:grpSpPr/>
      <p:grpSp>
        <p:nvGrpSpPr>
          <p:cNvPr id="11" name="组合 32"/>
          <p:cNvGrpSpPr/>
          <p:nvPr/>
        </p:nvGrpSpPr>
        <p:grpSpPr>
          <a:xfrm>
            <a:off x="-2" y="261669"/>
            <a:ext cx="1827197" cy="486499"/>
            <a:chOff x="-114776" y="0"/>
            <a:chExt cx="1827197" cy="486499"/>
          </a:xfrm>
        </p:grpSpPr>
        <p:sp>
          <p:nvSpPr>
            <p:cNvPr id="12" name="矩形: 圆顶角 30"/>
            <p:cNvSpPr/>
            <p:nvPr/>
          </p:nvSpPr>
          <p:spPr>
            <a:xfrm rot="5400000">
              <a:off x="555573" y="-670349"/>
              <a:ext cx="486499" cy="182719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4E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13" name="文本框 31"/>
            <p:cNvSpPr txBox="1"/>
            <p:nvPr/>
          </p:nvSpPr>
          <p:spPr>
            <a:xfrm>
              <a:off x="-114141" y="66675"/>
              <a:ext cx="182626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b="1" dirty="0">
                  <a:solidFill>
                    <a:schemeClr val="bg1"/>
                  </a:solidFill>
                  <a:latin typeface="Noto Serif CJK SC" panose="02010600030101010101" pitchFamily="2" charset="-122"/>
                  <a:ea typeface="Noto Serif CJK SC" panose="02010600030101010101" pitchFamily="2" charset="-122"/>
                </a:rPr>
                <a:t>合成路线</a:t>
              </a:r>
              <a:endParaRPr lang="zh-CN" b="1" dirty="0">
                <a:solidFill>
                  <a:schemeClr val="bg1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endParaRPr>
            </a:p>
          </p:txBody>
        </p:sp>
      </p:grpSp>
      <p:sp>
        <p:nvSpPr>
          <p:cNvPr id="14" name="拟定合成路线与结构核验"/>
          <p:cNvSpPr>
            <a:spLocks noGrp="1"/>
          </p:cNvSpPr>
          <p:nvPr/>
        </p:nvSpPr>
        <p:spPr>
          <a:xfrm>
            <a:off x="1847088" y="256032"/>
            <a:ext cx="9189720" cy="5852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rPr>
              <a:t>拟定合成路线与结构核验</a:t>
            </a:r>
            <a:endParaRPr sz="2500" b="1">
              <a:solidFill>
                <a:srgbClr val="014099"/>
              </a:solidFill>
              <a:latin typeface="Noto Serif CJK SC"/>
              <a:ea typeface="Noto Serif CJK SC"/>
              <a:cs typeface="Noto Serif CJK SC"/>
            </a:endParaRPr>
          </a:p>
        </p:txBody>
      </p:sp>
      <p:sp>
        <p:nvSpPr>
          <p:cNvPr id="16" name="6"/>
          <p:cNvSpPr>
            <a:spLocks noGrp="1"/>
          </p:cNvSpPr>
          <p:nvPr/>
        </p:nvSpPr>
        <p:spPr>
          <a:xfrm>
            <a:off x="11192256" y="6473952"/>
            <a:ext cx="45720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r">
              <a:def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lang="en-US"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rPr>
              <a:t>6</a:t>
            </a:r>
            <a:endParaRPr lang="en-US" sz="1100" b="0">
              <a:solidFill>
                <a:srgbClr val="66717F"/>
              </a:solidFill>
              <a:latin typeface="Noto Serif CJK SC"/>
              <a:ea typeface="Noto Serif CJK SC"/>
              <a:cs typeface="Noto Serif CJK SC"/>
            </a:endParaRPr>
          </a:p>
        </p:txBody>
      </p:sp>
      <p:sp>
        <p:nvSpPr>
          <p:cNvPr id="17" name="1"/>
          <p:cNvSpPr>
            <a:spLocks noGrp="1"/>
          </p:cNvSpPr>
          <p:nvPr/>
        </p:nvSpPr>
        <p:spPr>
          <a:xfrm>
            <a:off x="768096" y="1234440"/>
            <a:ext cx="512064" cy="53035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000" b="1">
                <a:solidFill>
                  <a:srgbClr val="176D77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3000" b="1">
                <a:solidFill>
                  <a:srgbClr val="176D7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1">
                <a:solidFill>
                  <a:srgbClr val="176D77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1</a:t>
            </a:r>
            <a:endParaRPr sz="3000" b="1">
              <a:solidFill>
                <a:srgbClr val="176D77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18" name="碱处理与载 Cu"/>
          <p:cNvSpPr>
            <a:spLocks noGrp="1"/>
          </p:cNvSpPr>
          <p:nvPr/>
        </p:nvSpPr>
        <p:spPr>
          <a:xfrm>
            <a:off x="1472184" y="1234440"/>
            <a:ext cx="4123944" cy="42062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1">
                <a:solidFill>
                  <a:srgbClr val="014099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碱处理与载 Cu</a:t>
            </a:r>
            <a:endParaRPr sz="2100" b="1">
              <a:solidFill>
                <a:srgbClr val="014099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19" name="Na-Beta / NaOH：65 °C，30 m"/>
          <p:cNvSpPr>
            <a:spLocks noGrp="1"/>
          </p:cNvSpPr>
          <p:nvPr/>
        </p:nvSpPr>
        <p:spPr>
          <a:xfrm>
            <a:off x="1490472" y="1709928"/>
            <a:ext cx="5367528" cy="6583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18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00" b="0">
                <a:solidFill>
                  <a:srgbClr val="25364A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Na-Beta / NaOH：65 °C，30 min</a:t>
            </a:r>
            <a:endParaRPr sz="1800" b="0">
              <a:solidFill>
                <a:srgbClr val="25364A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  <a:p>
            <a:pPr algn="l">
              <a:defRPr sz="18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00" b="0">
                <a:solidFill>
                  <a:srgbClr val="25364A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Cu(NO₃)₂ 浸渍；450 °C，3 h</a:t>
            </a:r>
            <a:endParaRPr sz="1800" b="0">
              <a:solidFill>
                <a:srgbClr val="25364A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777240" y="2340864"/>
            <a:ext cx="6062472" cy="0"/>
          </a:xfrm>
          <a:prstGeom prst="line">
            <a:avLst/>
          </a:prstGeom>
          <a:ln w="12383">
            <a:solidFill>
              <a:srgbClr val="C9D5E3"/>
            </a:solidFill>
          </a:ln>
        </p:spPr>
      </p:sp>
      <p:sp>
        <p:nvSpPr>
          <p:cNvPr id="21" name="2"/>
          <p:cNvSpPr>
            <a:spLocks noGrp="1"/>
          </p:cNvSpPr>
          <p:nvPr/>
        </p:nvSpPr>
        <p:spPr>
          <a:xfrm>
            <a:off x="768096" y="2395728"/>
            <a:ext cx="512064" cy="53035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000" b="1">
                <a:solidFill>
                  <a:srgbClr val="176D77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3000" b="1">
                <a:solidFill>
                  <a:srgbClr val="176D7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1">
                <a:solidFill>
                  <a:srgbClr val="176D77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2</a:t>
            </a:r>
            <a:endParaRPr sz="3000" b="1">
              <a:solidFill>
                <a:srgbClr val="176D77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22" name="壳凝胶引入稀土"/>
          <p:cNvSpPr>
            <a:spLocks noGrp="1"/>
          </p:cNvSpPr>
          <p:nvPr/>
        </p:nvSpPr>
        <p:spPr>
          <a:xfrm>
            <a:off x="1472184" y="2395728"/>
            <a:ext cx="4123944" cy="42062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1">
                <a:solidFill>
                  <a:srgbClr val="014099"/>
                </a:solidFill>
                <a:latin typeface="Times New Roman" panose="02020603050405020304" charset="0"/>
                <a:ea typeface="Noto Serif CJK SC"/>
                <a:cs typeface="Noto Serif CJK SC"/>
              </a:rPr>
              <a:t>壳凝胶引入稀土</a:t>
            </a:r>
            <a:endParaRPr sz="2100" b="1">
              <a:solidFill>
                <a:srgbClr val="014099"/>
              </a:solidFill>
              <a:latin typeface="Times New Roman" panose="02020603050405020304" charset="0"/>
              <a:ea typeface="Noto Serif CJK SC"/>
              <a:cs typeface="Noto Serif CJK SC"/>
            </a:endParaRPr>
          </a:p>
        </p:txBody>
      </p:sp>
      <p:sp>
        <p:nvSpPr>
          <p:cNvPr id="23" name="加入 Y／La 硝酸盐&#10;60–90 °C 浓缩；约"/>
          <p:cNvSpPr>
            <a:spLocks noGrp="1"/>
          </p:cNvSpPr>
          <p:nvPr/>
        </p:nvSpPr>
        <p:spPr>
          <a:xfrm>
            <a:off x="1490472" y="2871216"/>
            <a:ext cx="5367528" cy="6583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18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00" b="0">
                <a:solidFill>
                  <a:srgbClr val="25364A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加入 Y／La 硝酸盐</a:t>
            </a:r>
            <a:endParaRPr sz="1800" b="0">
              <a:solidFill>
                <a:srgbClr val="25364A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  <a:p>
            <a:pPr algn="l">
              <a:defRPr sz="18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00" b="0">
                <a:solidFill>
                  <a:srgbClr val="25364A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60–90 °C 浓缩；约 5 g 干胶／釜</a:t>
            </a:r>
            <a:endParaRPr sz="1800" b="0">
              <a:solidFill>
                <a:srgbClr val="25364A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777240" y="3502152"/>
            <a:ext cx="6062472" cy="0"/>
          </a:xfrm>
          <a:prstGeom prst="line">
            <a:avLst/>
          </a:prstGeom>
          <a:ln w="12383">
            <a:solidFill>
              <a:srgbClr val="C9D5E3"/>
            </a:solidFill>
          </a:ln>
        </p:spPr>
      </p:sp>
      <p:sp>
        <p:nvSpPr>
          <p:cNvPr id="25" name="3"/>
          <p:cNvSpPr>
            <a:spLocks noGrp="1"/>
          </p:cNvSpPr>
          <p:nvPr/>
        </p:nvSpPr>
        <p:spPr>
          <a:xfrm>
            <a:off x="768096" y="3557016"/>
            <a:ext cx="512064" cy="53035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000" b="1">
                <a:solidFill>
                  <a:srgbClr val="176D77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3000" b="1">
                <a:solidFill>
                  <a:srgbClr val="176D7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1">
                <a:solidFill>
                  <a:srgbClr val="176D77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3</a:t>
            </a:r>
            <a:endParaRPr sz="3000" b="1">
              <a:solidFill>
                <a:srgbClr val="176D77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26" name="水蒸气辅助 DGC"/>
          <p:cNvSpPr>
            <a:spLocks noGrp="1"/>
          </p:cNvSpPr>
          <p:nvPr/>
        </p:nvSpPr>
        <p:spPr>
          <a:xfrm>
            <a:off x="1472184" y="3557016"/>
            <a:ext cx="4123944" cy="42062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1">
                <a:solidFill>
                  <a:srgbClr val="014099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水蒸气辅助 DGC</a:t>
            </a:r>
            <a:endParaRPr sz="2100" b="1">
              <a:solidFill>
                <a:srgbClr val="014099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27" name="180 °C 静态晶化 2 天&#10;550 °C，4 "/>
          <p:cNvSpPr>
            <a:spLocks noGrp="1"/>
          </p:cNvSpPr>
          <p:nvPr/>
        </p:nvSpPr>
        <p:spPr>
          <a:xfrm>
            <a:off x="1490472" y="4032504"/>
            <a:ext cx="5367528" cy="6583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18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00" b="0">
                <a:solidFill>
                  <a:srgbClr val="25364A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180 °C 静态晶化 2 天</a:t>
            </a:r>
            <a:endParaRPr sz="1800" b="0">
              <a:solidFill>
                <a:srgbClr val="25364A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  <a:p>
            <a:pPr algn="l">
              <a:defRPr sz="18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00" b="0">
                <a:solidFill>
                  <a:srgbClr val="25364A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550 °C，4 h 脱模板</a:t>
            </a:r>
            <a:endParaRPr sz="1800" b="0">
              <a:solidFill>
                <a:srgbClr val="25364A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28" name="直接连接符 27"/>
          <p:cNvSpPr>
            <a:spLocks noGrp="1"/>
          </p:cNvSpPr>
          <p:nvPr/>
        </p:nvSpPr>
        <p:spPr>
          <a:xfrm>
            <a:off x="777240" y="4663440"/>
            <a:ext cx="6062472" cy="0"/>
          </a:xfrm>
          <a:prstGeom prst="line">
            <a:avLst/>
          </a:prstGeom>
          <a:ln w="12383">
            <a:solidFill>
              <a:srgbClr val="C9D5E3"/>
            </a:solidFill>
          </a:ln>
        </p:spPr>
      </p:sp>
      <p:sp>
        <p:nvSpPr>
          <p:cNvPr id="29" name="4"/>
          <p:cNvSpPr>
            <a:spLocks noGrp="1"/>
          </p:cNvSpPr>
          <p:nvPr/>
        </p:nvSpPr>
        <p:spPr>
          <a:xfrm>
            <a:off x="768096" y="4718304"/>
            <a:ext cx="512064" cy="53035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000" b="1">
                <a:solidFill>
                  <a:srgbClr val="176D77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3000" b="1">
                <a:solidFill>
                  <a:srgbClr val="176D7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1">
                <a:solidFill>
                  <a:srgbClr val="176D77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4</a:t>
            </a:r>
            <a:endParaRPr sz="3000" b="1">
              <a:solidFill>
                <a:srgbClr val="176D77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30" name="还原与钝化"/>
          <p:cNvSpPr>
            <a:spLocks noGrp="1"/>
          </p:cNvSpPr>
          <p:nvPr/>
        </p:nvSpPr>
        <p:spPr>
          <a:xfrm>
            <a:off x="1472184" y="4718304"/>
            <a:ext cx="4123944" cy="42062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1">
                <a:solidFill>
                  <a:srgbClr val="014099"/>
                </a:solidFill>
                <a:latin typeface="Times New Roman" panose="02020603050405020304" charset="0"/>
                <a:ea typeface="Noto Serif CJK SC"/>
                <a:cs typeface="Noto Serif CJK SC"/>
              </a:rPr>
              <a:t>还原与钝化</a:t>
            </a:r>
            <a:endParaRPr sz="2100" b="1">
              <a:solidFill>
                <a:srgbClr val="014099"/>
              </a:solidFill>
              <a:latin typeface="Times New Roman" panose="02020603050405020304" charset="0"/>
              <a:ea typeface="Noto Serif CJK SC"/>
              <a:cs typeface="Noto Serif CJK SC"/>
            </a:endParaRPr>
          </a:p>
        </p:txBody>
      </p:sp>
      <p:sp>
        <p:nvSpPr>
          <p:cNvPr id="31" name="5% H₂/N₂：350 °C，1.5 h&#10;随后用"/>
          <p:cNvSpPr>
            <a:spLocks noGrp="1"/>
          </p:cNvSpPr>
          <p:nvPr/>
        </p:nvSpPr>
        <p:spPr>
          <a:xfrm>
            <a:off x="1490472" y="5193792"/>
            <a:ext cx="5367528" cy="6583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18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00" b="0">
                <a:solidFill>
                  <a:srgbClr val="25364A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5% H₂/N₂：350 °C，1.5 h</a:t>
            </a:r>
            <a:endParaRPr sz="1800" b="0">
              <a:solidFill>
                <a:srgbClr val="25364A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  <a:p>
            <a:pPr algn="l">
              <a:defRPr sz="18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00" b="0">
                <a:solidFill>
                  <a:srgbClr val="25364A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随后用 1% O₂/N₂ 钝化</a:t>
            </a:r>
            <a:endParaRPr sz="1800" b="0">
              <a:solidFill>
                <a:srgbClr val="25364A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32" name="直接连接符 31"/>
          <p:cNvSpPr>
            <a:spLocks noGrp="1"/>
          </p:cNvSpPr>
          <p:nvPr/>
        </p:nvSpPr>
        <p:spPr>
          <a:xfrm>
            <a:off x="7324344" y="1234440"/>
            <a:ext cx="4014216" cy="0"/>
          </a:xfrm>
          <a:prstGeom prst="line">
            <a:avLst/>
          </a:prstGeom>
          <a:ln w="12383">
            <a:solidFill>
              <a:srgbClr val="014099"/>
            </a:solidFill>
          </a:ln>
        </p:spPr>
      </p:sp>
      <p:sp>
        <p:nvSpPr>
          <p:cNvPr id="33" name="每批出釜后的必要检查"/>
          <p:cNvSpPr>
            <a:spLocks noGrp="1"/>
          </p:cNvSpPr>
          <p:nvPr/>
        </p:nvSpPr>
        <p:spPr>
          <a:xfrm>
            <a:off x="7424928" y="1444752"/>
            <a:ext cx="3794760" cy="49377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2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00" b="1">
                <a:solidFill>
                  <a:srgbClr val="014099"/>
                </a:solidFill>
                <a:latin typeface="Times New Roman" panose="02020603050405020304" charset="0"/>
                <a:ea typeface="Noto Serif CJK SC"/>
                <a:cs typeface="Noto Serif CJK SC"/>
              </a:rPr>
              <a:t>每批出釜后的必要检查</a:t>
            </a:r>
            <a:endParaRPr sz="2200" b="1">
              <a:solidFill>
                <a:srgbClr val="014099"/>
              </a:solidFill>
              <a:latin typeface="Times New Roman" panose="02020603050405020304" charset="0"/>
              <a:ea typeface="Noto Serif CJK SC"/>
              <a:cs typeface="Noto Serif CJK SC"/>
            </a:endParaRPr>
          </a:p>
        </p:txBody>
      </p:sp>
      <p:sp>
        <p:nvSpPr>
          <p:cNvPr id="34" name="Cu 保留率 ≥80%&#10;介孔保留，Beta 晶相保"/>
          <p:cNvSpPr>
            <a:spLocks noGrp="1"/>
          </p:cNvSpPr>
          <p:nvPr/>
        </p:nvSpPr>
        <p:spPr>
          <a:xfrm>
            <a:off x="7443216" y="2212848"/>
            <a:ext cx="3739896" cy="106070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19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900" b="0">
                <a:solidFill>
                  <a:srgbClr val="25364A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Cu 保留率 ≥80%</a:t>
            </a:r>
            <a:endParaRPr sz="1900" b="0">
              <a:solidFill>
                <a:srgbClr val="25364A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  <a:p>
            <a:pPr algn="l">
              <a:defRPr sz="19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900" b="0">
                <a:solidFill>
                  <a:srgbClr val="25364A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介孔保留，Beta 晶相保留</a:t>
            </a:r>
            <a:endParaRPr sz="1900" b="0">
              <a:solidFill>
                <a:srgbClr val="25364A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  <a:p>
            <a:pPr algn="l">
              <a:defRPr sz="19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900" b="0">
                <a:solidFill>
                  <a:srgbClr val="25364A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排查 CuO／Y₂O₃ 大晶相</a:t>
            </a:r>
            <a:endParaRPr sz="1900" b="0">
              <a:solidFill>
                <a:srgbClr val="25364A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35" name="直接连接符 34"/>
          <p:cNvSpPr>
            <a:spLocks noGrp="1"/>
          </p:cNvSpPr>
          <p:nvPr/>
        </p:nvSpPr>
        <p:spPr>
          <a:xfrm>
            <a:off x="7351776" y="3685032"/>
            <a:ext cx="3959352" cy="0"/>
          </a:xfrm>
          <a:prstGeom prst="line">
            <a:avLst/>
          </a:prstGeom>
          <a:ln w="12383">
            <a:solidFill>
              <a:srgbClr val="C9D5E3"/>
            </a:solidFill>
          </a:ln>
        </p:spPr>
      </p:sp>
      <p:sp>
        <p:nvSpPr>
          <p:cNvPr id="36" name="机制迁移的结构前提"/>
          <p:cNvSpPr>
            <a:spLocks noGrp="1"/>
          </p:cNvSpPr>
          <p:nvPr/>
        </p:nvSpPr>
        <p:spPr>
          <a:xfrm>
            <a:off x="7443216" y="3886200"/>
            <a:ext cx="3749040" cy="43891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1">
                <a:solidFill>
                  <a:srgbClr val="014099"/>
                </a:solidFill>
                <a:latin typeface="Times New Roman" panose="02020603050405020304" charset="0"/>
                <a:ea typeface="Noto Serif CJK SC"/>
                <a:cs typeface="Noto Serif CJK SC"/>
              </a:rPr>
              <a:t>机制迁移的结构前提</a:t>
            </a:r>
            <a:endParaRPr sz="2100" b="1">
              <a:solidFill>
                <a:srgbClr val="014099"/>
              </a:solidFill>
              <a:latin typeface="Times New Roman" panose="02020603050405020304" charset="0"/>
              <a:ea typeface="Noto Serif CJK SC"/>
              <a:cs typeface="Noto Serif CJK SC"/>
            </a:endParaRPr>
          </a:p>
        </p:txBody>
      </p:sp>
      <p:sp>
        <p:nvSpPr>
          <p:cNvPr id="37" name="HAADF-STEM / EXAFS&#10;核验稀土分散"/>
          <p:cNvSpPr>
            <a:spLocks noGrp="1"/>
          </p:cNvSpPr>
          <p:nvPr/>
        </p:nvSpPr>
        <p:spPr>
          <a:xfrm>
            <a:off x="7443216" y="4517136"/>
            <a:ext cx="3767328" cy="8229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5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185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50" b="0">
                <a:solidFill>
                  <a:srgbClr val="25364A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HAADF-STEM / EXAFS</a:t>
            </a:r>
            <a:endParaRPr sz="1850" b="0">
              <a:solidFill>
                <a:srgbClr val="25364A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  <a:p>
            <a:pPr algn="l">
              <a:defRPr sz="185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50" b="0">
                <a:solidFill>
                  <a:srgbClr val="25364A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核验稀土分散与 Cu–RE 邻近</a:t>
            </a:r>
            <a:endParaRPr sz="1850" b="0">
              <a:solidFill>
                <a:srgbClr val="25364A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38" name="直接连接符 37"/>
          <p:cNvSpPr>
            <a:spLocks noGrp="1"/>
          </p:cNvSpPr>
          <p:nvPr/>
        </p:nvSpPr>
        <p:spPr>
          <a:xfrm>
            <a:off x="621792" y="5888736"/>
            <a:ext cx="10945368" cy="0"/>
          </a:xfrm>
          <a:prstGeom prst="line">
            <a:avLst/>
          </a:prstGeom>
          <a:ln w="12383">
            <a:solidFill>
              <a:srgbClr val="014099"/>
            </a:solidFill>
          </a:ln>
        </p:spPr>
      </p:sp>
      <p:sp>
        <p:nvSpPr>
          <p:cNvPr id="39" name="壳凝胶加稀土是制备路径；晶内位置、原子分散和 Cu"/>
          <p:cNvSpPr>
            <a:spLocks noGrp="1"/>
          </p:cNvSpPr>
          <p:nvPr/>
        </p:nvSpPr>
        <p:spPr>
          <a:xfrm>
            <a:off x="694944" y="5952744"/>
            <a:ext cx="10808208" cy="3931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17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endParaRPr sz="1700" b="1">
              <a:solidFill>
                <a:srgbClr val="014099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" name=""/>
        <p:cNvGrpSpPr/>
        <p:nvPr/>
      </p:nvGrpSpPr>
      <p:grpSpPr/>
      <p:grpSp>
        <p:nvGrpSpPr>
          <p:cNvPr id="11" name="组合 32"/>
          <p:cNvGrpSpPr/>
          <p:nvPr/>
        </p:nvGrpSpPr>
        <p:grpSpPr>
          <a:xfrm>
            <a:off x="-2" y="261669"/>
            <a:ext cx="1827197" cy="486499"/>
            <a:chOff x="-114776" y="0"/>
            <a:chExt cx="1827197" cy="486499"/>
          </a:xfrm>
        </p:grpSpPr>
        <p:sp>
          <p:nvSpPr>
            <p:cNvPr id="12" name="矩形: 圆顶角 30"/>
            <p:cNvSpPr/>
            <p:nvPr/>
          </p:nvSpPr>
          <p:spPr>
            <a:xfrm rot="5400000">
              <a:off x="555573" y="-670349"/>
              <a:ext cx="486499" cy="182719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4E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13" name="文本框 31"/>
            <p:cNvSpPr txBox="1"/>
            <p:nvPr/>
          </p:nvSpPr>
          <p:spPr>
            <a:xfrm>
              <a:off x="-114141" y="66675"/>
              <a:ext cx="182626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b="1" dirty="0">
                  <a:solidFill>
                    <a:schemeClr val="bg1"/>
                  </a:solidFill>
                  <a:latin typeface="Noto Serif CJK SC" panose="02010600030101010101" pitchFamily="2" charset="-122"/>
                  <a:ea typeface="Noto Serif CJK SC" panose="02010600030101010101" pitchFamily="2" charset="-122"/>
                </a:rPr>
                <a:t>预期产出</a:t>
              </a:r>
              <a:endParaRPr lang="zh-CN" b="1" dirty="0">
                <a:solidFill>
                  <a:schemeClr val="bg1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endParaRPr>
            </a:p>
          </p:txBody>
        </p:sp>
      </p:grpSp>
      <p:sp>
        <p:nvSpPr>
          <p:cNvPr id="14" name="预期结果与可得结论"/>
          <p:cNvSpPr>
            <a:spLocks noGrp="1"/>
          </p:cNvSpPr>
          <p:nvPr/>
        </p:nvSpPr>
        <p:spPr>
          <a:xfrm>
            <a:off x="1847088" y="256032"/>
            <a:ext cx="9189720" cy="5852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rPr>
              <a:t>预期产出：配比规律与调控机制</a:t>
            </a:r>
            <a:endParaRPr sz="2500" b="1">
              <a:solidFill>
                <a:srgbClr val="014099"/>
              </a:solidFill>
              <a:latin typeface="Noto Serif CJK SC"/>
              <a:ea typeface="Noto Serif CJK SC"/>
              <a:cs typeface="Noto Serif CJK SC"/>
            </a:endParaRPr>
          </a:p>
        </p:txBody>
      </p:sp>
      <p:sp>
        <p:nvSpPr>
          <p:cNvPr id="16" name="9"/>
          <p:cNvSpPr>
            <a:spLocks noGrp="1"/>
          </p:cNvSpPr>
          <p:nvPr/>
        </p:nvSpPr>
        <p:spPr>
          <a:xfrm>
            <a:off x="11192256" y="6473952"/>
            <a:ext cx="45720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r">
              <a:def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lang="en-US"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rPr>
              <a:t>7</a:t>
            </a:r>
            <a:endParaRPr lang="en-US" sz="1100" b="0">
              <a:solidFill>
                <a:srgbClr val="66717F"/>
              </a:solidFill>
              <a:latin typeface="Noto Serif CJK SC"/>
              <a:ea typeface="Noto Serif CJK SC"/>
              <a:cs typeface="Noto Serif CJK S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68096" y="1225296"/>
            <a:ext cx="52120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14099"/>
                </a:solidFill>
                <a:latin typeface="Noto Serif CJK SC"/>
                <a:ea typeface="Noto Serif CJK SC"/>
              </a:rPr>
              <a:t>P1  配比—性能：寻找最优值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792" y="1225296"/>
            <a:ext cx="510235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14099"/>
                </a:solidFill>
                <a:latin typeface="Noto Serif CJK SC"/>
                <a:ea typeface="Noto Serif CJK SC"/>
              </a:rPr>
              <a:t>P2  载量—价态：检验锚定容量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25896" y="1280160"/>
            <a:ext cx="10972" cy="4096512"/>
          </a:xfrm>
          <a:prstGeom prst="rect">
            <a:avLst/>
          </a:prstGeom>
          <a:solidFill>
            <a:srgbClr val="C7D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8952" y="1819656"/>
            <a:ext cx="5138928" cy="1115568"/>
          </a:xfrm>
          <a:prstGeom prst="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27648" y="1819656"/>
            <a:ext cx="5120640" cy="1115568"/>
          </a:xfrm>
          <a:prstGeom prst="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1975104"/>
            <a:ext cx="477316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014099"/>
                </a:solidFill>
                <a:latin typeface="Noto Serif CJK SC"/>
                <a:ea typeface="Noto Serif CJK SC"/>
              </a:rPr>
              <a:t>乙醇 STY 随 f(Cu⁺) 先升后降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2496312"/>
            <a:ext cx="47731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6717F"/>
                </a:solidFill>
                <a:latin typeface="Noto Serif CJK SC"/>
                <a:ea typeface="Noto Serif CJK SC"/>
              </a:rPr>
              <a:t>最优区间假设：0.3–0.5（待验证）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1975104"/>
            <a:ext cx="477316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14099"/>
                </a:solidFill>
                <a:latin typeface="Noto Serif CJK SC"/>
                <a:ea typeface="Noto Serif CJK SC"/>
              </a:rPr>
              <a:t>固定 Y，Cu⁺ 绝对含量趋于恒定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496312"/>
            <a:ext cx="47731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6717F"/>
                </a:solidFill>
                <a:latin typeface="Noto Serif CJK SC"/>
                <a:ea typeface="Noto Serif CJK SC"/>
              </a:rPr>
              <a:t>Cu 载量升高 → f(Cu⁺) 下降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3182112"/>
            <a:ext cx="49834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6D77"/>
                </a:solidFill>
                <a:latin typeface="Noto Serif CJK SC"/>
                <a:ea typeface="Noto Serif CJK SC"/>
              </a:rPr>
              <a:t>如何检验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3630168"/>
            <a:ext cx="498348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5364A"/>
                </a:solidFill>
                <a:latin typeface="Noto Serif CJK SC"/>
                <a:ea typeface="Noto Serif CJK SC"/>
              </a:rPr>
              <a:t>原位 XANES 定量价态，关联 STY / 选择性；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5364A"/>
                </a:solidFill>
                <a:latin typeface="Noto Serif CJK SC"/>
                <a:ea typeface="Noto Serif CJK SC"/>
              </a:rPr>
              <a:t>需覆盖转折区，必要时补充低 Cu 样品。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4224" y="3182112"/>
            <a:ext cx="49834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6D77"/>
                </a:solidFill>
                <a:latin typeface="Noto Serif CJK SC"/>
                <a:ea typeface="Noto Serif CJK SC"/>
              </a:rPr>
              <a:t>如何检验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4224" y="3630168"/>
            <a:ext cx="498348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5364A"/>
                </a:solidFill>
                <a:latin typeface="Noto Serif CJK SC"/>
                <a:ea typeface="Noto Serif CJK SC"/>
              </a:rPr>
              <a:t>实测 Cu 载量 × f(Cu⁺)，比较 Cu⁺ 含量；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5364A"/>
                </a:solidFill>
                <a:latin typeface="Noto Serif CJK SC"/>
                <a:ea typeface="Noto Serif CJK SC"/>
              </a:rPr>
              <a:t>再以 Y 梯度检验锚定容量是否可调。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8" y="4599432"/>
            <a:ext cx="49834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6D77"/>
                </a:solidFill>
                <a:latin typeface="Noto Serif CJK SC"/>
                <a:ea typeface="Noto Serif CJK SC"/>
              </a:rPr>
              <a:t>可得结论与边界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" y="5038344"/>
            <a:ext cx="4983480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25364A"/>
                </a:solidFill>
                <a:latin typeface="Noto Serif CJK SC"/>
                <a:ea typeface="Noto Serif CJK SC"/>
              </a:rPr>
              <a:t>给出候选最优配比；火山型本身不足以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25364A"/>
                </a:solidFill>
                <a:latin typeface="Noto Serif CJK SC"/>
                <a:ea typeface="Noto Serif CJK SC"/>
              </a:rPr>
              <a:t>证明协同，仍需 Cu⁰ / Cu⁺ 邻近性证据。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64224" y="4599432"/>
            <a:ext cx="49834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6D77"/>
                </a:solidFill>
                <a:latin typeface="Noto Serif CJK SC"/>
                <a:ea typeface="Noto Serif CJK SC"/>
              </a:rPr>
              <a:t>可得结论与边界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64224" y="5038344"/>
            <a:ext cx="4983480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25364A"/>
                </a:solidFill>
                <a:latin typeface="Noto Serif CJK SC"/>
                <a:ea typeface="Noto Serif CJK SC"/>
              </a:rPr>
              <a:t>检验饱和锚定位点模型；文献约 0.4 wt%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25364A"/>
                </a:solidFill>
                <a:latin typeface="Noto Serif CJK SC"/>
                <a:ea typeface="Noto Serif CJK SC"/>
              </a:rPr>
              <a:t>仅作参照，能否迁移至 Na-Beta 待验证。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" y="5916168"/>
            <a:ext cx="10945368" cy="13716"/>
          </a:xfrm>
          <a:prstGeom prst="rect">
            <a:avLst/>
          </a:prstGeom>
          <a:solidFill>
            <a:srgbClr val="014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6035040"/>
            <a:ext cx="106619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14099"/>
                </a:solidFill>
                <a:latin typeface="Noto Serif CJK SC"/>
                <a:ea typeface="Noto Serif CJK SC"/>
              </a:rPr>
              <a:t>若两条成立：稀土载量 → 锚定容量 → f(Cu⁺) → 乙醇 STY / 选择性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" y="6483096"/>
            <a:ext cx="10012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6717F"/>
                </a:solidFill>
                <a:latin typeface="Noto Serif CJK SC"/>
                <a:ea typeface="Noto Serif CJK SC"/>
              </a:rPr>
              <a:t>前提：工况价态可靠定量、Cu 载量实测、封装完整；f(Cu⁺) 为总 Cu 中的一价铜分数。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14.55999999999995,&quot;left&quot;:506.16,&quot;top&quot;:241.2,&quot;width&quot;:387.36}"/>
</p:tagLst>
</file>

<file path=ppt/tags/tag2.xml><?xml version="1.0" encoding="utf-8"?>
<p:tagLst xmlns:p="http://schemas.openxmlformats.org/presentationml/2006/main">
  <p:tag name="KSO_WM_DIAGRAM_VIRTUALLY_FRAME" val="{&quot;height&quot;:214.55999999999995,&quot;left&quot;:506.16,&quot;top&quot;:241.2,&quot;width&quot;:387.36}"/>
</p:tagLst>
</file>

<file path=ppt/tags/tag3.xml><?xml version="1.0" encoding="utf-8"?>
<p:tagLst xmlns:p="http://schemas.openxmlformats.org/presentationml/2006/main">
  <p:tag name="KSO_WM_DIAGRAM_VIRTUALLY_FRAME" val="{&quot;height&quot;:214.55999999999995,&quot;left&quot;:506.16,&quot;top&quot;:241.2,&quot;width&quot;:387.36}"/>
</p:tagLst>
</file>

<file path=ppt/tags/tag4.xml><?xml version="1.0" encoding="utf-8"?>
<p:tagLst xmlns:p="http://schemas.openxmlformats.org/presentationml/2006/main">
  <p:tag name="KSO_WM_DIAGRAM_VIRTUALLY_FRAME" val="{&quot;height&quot;:214.55999999999995,&quot;left&quot;:506.16,&quot;top&quot;:241.2,&quot;width&quot;:387.36}"/>
</p:tagLst>
</file>

<file path=ppt/tags/tag5.xml><?xml version="1.0" encoding="utf-8"?>
<p:tagLst xmlns:p="http://schemas.openxmlformats.org/presentationml/2006/main">
  <p:tag name="KSO_WM_DIAGRAM_VIRTUALLY_FRAME" val="{&quot;height&quot;:214.55999999999995,&quot;left&quot;:506.16,&quot;top&quot;:241.2,&quot;width&quot;:387.36}"/>
</p:tagLst>
</file>

<file path=ppt/tags/tag6.xml><?xml version="1.0" encoding="utf-8"?>
<p:tagLst xmlns:p="http://schemas.openxmlformats.org/presentationml/2006/main">
  <p:tag name="KSO_WM_DIAGRAM_VIRTUALLY_FRAME" val="{&quot;height&quot;:214.55999999999995,&quot;left&quot;:506.16,&quot;top&quot;:241.2,&quot;width&quot;:387.36}"/>
</p:tagLst>
</file>

<file path=ppt/tags/tag7.xml><?xml version="1.0" encoding="utf-8"?>
<p:tagLst xmlns:p="http://schemas.openxmlformats.org/presentationml/2006/main">
  <p:tag name="KSO_WM_DIAGRAM_VIRTUALLY_FRAME" val="{&quot;height&quot;:110.16000000000004,&quot;left&quot;:64.08,&quot;top&quot;:324,&quot;width&quot;:830.8799999999999}"/>
</p:tagLst>
</file>

<file path=ppt/tags/tag8.xml><?xml version="1.0" encoding="utf-8"?>
<p:tagLst xmlns:p="http://schemas.openxmlformats.org/presentationml/2006/main">
  <p:tag name="KSO_WM_DIAGRAM_VIRTUALLY_FRAME" val="{&quot;height&quot;:110.16000000000004,&quot;left&quot;:64.08,&quot;top&quot;:324,&quot;width&quot;:830.8799999999999}"/>
</p:tagLst>
</file>

<file path=ppt/tags/tag9.xml><?xml version="1.0" encoding="utf-8"?>
<p:tagLst xmlns:p="http://schemas.openxmlformats.org/presentationml/2006/main">
  <p:tag name="KSO_WM_DIAGRAM_VIRTUALLY_FRAME" val="{&quot;height&quot;:110.16000000000004,&quot;left&quot;:64.08,&quot;top&quot;:324,&quot;width&quot;:830.8799999999999}"/>
</p:tagLst>
</file>

<file path=ppt/tags/tag10.xml><?xml version="1.0" encoding="utf-8"?>
<p:tagLst xmlns:p="http://schemas.openxmlformats.org/presentationml/2006/main">
  <p:tag name="KSO_WM_DIAGRAM_VIRTUALLY_FRAME" val="{&quot;height&quot;:110.16000000000004,&quot;left&quot;:64.08,&quot;top&quot;:324,&quot;width&quot;:830.8799999999999}"/>
</p:tagLst>
</file>

<file path=ppt/tags/tag11.xml><?xml version="1.0" encoding="utf-8"?>
<p:tagLst xmlns:p="http://schemas.openxmlformats.org/presentationml/2006/main">
  <p:tag name="KSO_WM_DIAGRAM_VIRTUALLY_FRAME" val="{&quot;height&quot;:110.16000000000004,&quot;left&quot;:64.08,&quot;top&quot;:324,&quot;width&quot;:830.8799999999999}"/>
</p:tagLst>
</file>

<file path=ppt/tags/tag12.xml><?xml version="1.0" encoding="utf-8"?>
<p:tagLst xmlns:p="http://schemas.openxmlformats.org/presentationml/2006/main">
  <p:tag name="KSO_WM_DIAGRAM_VIRTUALLY_FRAME" val="{&quot;height&quot;:110.16000000000004,&quot;left&quot;:64.08,&quot;top&quot;:324,&quot;width&quot;:830.8799999999999}"/>
</p:tagLst>
</file>

<file path=ppt/tags/tag13.xml><?xml version="1.0" encoding="utf-8"?>
<p:tagLst xmlns:p="http://schemas.openxmlformats.org/presentationml/2006/main">
  <p:tag name="ISPRING_PRESENTATION_TITLE" val="PowerPoint 演示文稿"/>
  <p:tag name="KSO_WPP_MARK_KEY" val="29a7757d-6c0b-44f1-9ac6-ae21c2ab77ee"/>
  <p:tag name="COMMONDATA" val="eyJoZGlkIjoiODE2OTQwZDllYTBhMDVkOWJjMjQzMTgyNDlkYTVhOTgifQ=="/>
  <p:tag name="commondata" val="eyJoZGlkIjoiOGIzZWI0MmEwM2M1Yjc0MGM4YzYyZDg4NzI4N2JiYWEifQ=="/>
  <p:tag name="resource_record_key" val="{&quot;70&quot;:[3327356,3312417,3321782]}"/>
</p:tagLst>
</file>

<file path=ppt/theme/theme1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Noto Serif CJK SC"/>
        <a:ea typeface="Noto Serif CJK SC"/>
        <a:cs typeface="Noto Serif CJK SC"/>
        <a:font script="Jpan" typeface="ＭＳ Ｐゴシック"/>
        <a:font script="Hang" typeface="맑은 고딕"/>
        <a:font script="Hans" typeface="Noto Serif CJK SC"/>
        <a:font script="Hant" typeface="Noto Serif CJK S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erif CJK SC"/>
        <a:ea typeface="Noto Serif CJK SC"/>
        <a:cs typeface="Noto Serif CJK SC"/>
        <a:font script="Jpan" typeface="ＭＳ Ｐゴシック"/>
        <a:font script="Hang" typeface="맑은 고딕"/>
        <a:font script="Hans" typeface="Noto Serif CJK SC"/>
        <a:font script="Hant" typeface="Noto Serif CJK S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SC"/>
        <a:ea typeface="Noto Serif CJK SC"/>
        <a:cs typeface="Noto Serif CJK SC"/>
        <a:font script="Jpan" typeface="游ゴシック Light"/>
        <a:font script="Hang" typeface="맑은 고딕"/>
        <a:font script="Hans" typeface="Noto Serif CJK SC"/>
        <a:font script="Hant" typeface="Noto Serif CJK S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erif CJK SC"/>
        <a:ea typeface="Noto Serif CJK SC"/>
        <a:cs typeface="Noto Serif CJK SC"/>
        <a:font script="Jpan" typeface="游ゴシック"/>
        <a:font script="Hang" typeface="맑은 고딕"/>
        <a:font script="Hans" typeface="Noto Serif CJK SC"/>
        <a:font script="Hant" typeface="Noto Serif CJK S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Noto Serif CJK SC"/>
        <a:ea typeface="Noto Serif CJK SC"/>
        <a:cs typeface="Noto Serif CJK SC"/>
        <a:font script="Jpan" typeface="ＭＳ Ｐゴシック"/>
        <a:font script="Hang" typeface="맑은 고딕"/>
        <a:font script="Hans" typeface="Noto Serif CJK SC"/>
        <a:font script="Hant" typeface="Noto Serif CJK S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erif CJK SC"/>
        <a:ea typeface="Noto Serif CJK SC"/>
        <a:cs typeface="Noto Serif CJK SC"/>
        <a:font script="Jpan" typeface="ＭＳ Ｐゴシック"/>
        <a:font script="Hang" typeface="맑은 고딕"/>
        <a:font script="Hans" typeface="Noto Serif CJK SC"/>
        <a:font script="Hant" typeface="Noto Serif CJK S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Noto Serif CJK SC"/>
        <a:ea typeface="Noto Serif CJK SC"/>
        <a:cs typeface="Noto Serif CJK SC"/>
        <a:font script="Jpan" typeface="ＭＳ Ｐゴシック"/>
        <a:font script="Hang" typeface="맑은 고딕"/>
        <a:font script="Hans" typeface="Noto Serif CJK SC"/>
        <a:font script="Hant" typeface="Noto Serif CJK S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erif CJK SC"/>
        <a:ea typeface="Noto Serif CJK SC"/>
        <a:cs typeface="Noto Serif CJK SC"/>
        <a:font script="Jpan" typeface="ＭＳ Ｐゴシック"/>
        <a:font script="Hang" typeface="맑은 고딕"/>
        <a:font script="Hans" typeface="Noto Serif CJK SC"/>
        <a:font script="Hant" typeface="Noto Serif CJK S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SC"/>
        <a:ea typeface="Noto Serif CJK SC"/>
        <a:cs typeface="Noto Serif CJK SC"/>
        <a:font script="Jpan" typeface="ＭＳ Ｐゴシック"/>
        <a:font script="Hang" typeface="맑은 고딕"/>
        <a:font script="Hans" typeface="Noto Serif CJK SC"/>
        <a:font script="Hant" typeface="Noto Serif CJK S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erif CJK SC"/>
        <a:ea typeface="Noto Serif CJK SC"/>
        <a:cs typeface="Noto Serif CJK SC"/>
        <a:font script="Jpan" typeface="ＭＳ Ｐゴシック"/>
        <a:font script="Hang" typeface="맑은 고딕"/>
        <a:font script="Hans" typeface="Noto Serif CJK SC"/>
        <a:font script="Hant" typeface="Noto Serif CJK S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SC"/>
        <a:ea typeface="Noto Serif CJK SC"/>
        <a:cs typeface="Noto Serif CJK SC"/>
        <a:font script="Jpan" typeface="游ゴシック Light"/>
        <a:font script="Hang" typeface="맑은 고딕"/>
        <a:font script="Hans" typeface="Noto Serif CJK SC"/>
        <a:font script="Hant" typeface="Noto Serif CJK S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erif CJK SC"/>
        <a:ea typeface="Noto Serif CJK SC"/>
        <a:cs typeface="Noto Serif CJK SC"/>
        <a:font script="Jpan" typeface="游ゴシック"/>
        <a:font script="Hang" typeface="맑은 고딕"/>
        <a:font script="Hans" typeface="Noto Serif CJK SC"/>
        <a:font script="Hant" typeface="Noto Serif CJK S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2101</Words>
  <Application>WPS 演示</Application>
  <PresentationFormat>宽屏</PresentationFormat>
  <Paragraphs>298</Paragraphs>
  <Slides>8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8</vt:i4>
      </vt:variant>
    </vt:vector>
  </HeadingPairs>
  <TitlesOfParts>
    <vt:vector size="22" baseType="lpstr">
      <vt:lpstr>Arial</vt:lpstr>
      <vt:lpstr>宋体</vt:lpstr>
      <vt:lpstr>Wingdings</vt:lpstr>
      <vt:lpstr>Noto Serif CJK SC</vt:lpstr>
      <vt:lpstr>Noto Serif CJK SC</vt:lpstr>
      <vt:lpstr>Times New Roman</vt:lpstr>
      <vt:lpstr>Noto Serif CJK SC</vt:lpstr>
      <vt:lpstr>Times New Roman</vt:lpstr>
      <vt:lpstr>微软雅黑</vt:lpstr>
      <vt:lpstr>Arial Unicode MS</vt:lpstr>
      <vt:lpstr>1_自定义设计方案</vt:lpstr>
      <vt:lpstr>自定义设计方案</vt:lpstr>
      <vt:lpstr>2_自定义设计方案</vt:lpstr>
      <vt:lpstr>3_自定义设计方案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张捷</cp:lastModifiedBy>
  <cp:revision>1423</cp:revision>
  <dcterms:created xsi:type="dcterms:W3CDTF">2026-07-19T04:26:00Z</dcterms:created>
  <dcterms:modified xsi:type="dcterms:W3CDTF">2026-10-13T07:28:14Z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BEC41E318E2C44F4A2BF896433250AE3_13</vt:lpwstr>
  </property>
  <property fmtid="{D5CDD505-2E9C-101B-9397-08002B2CF9AE}" pid="3" name="KSOProductBuildVer">
    <vt:lpwstr>2052-12.1.0.28505</vt:lpwstr>
  </property>
</Properties>
</file>