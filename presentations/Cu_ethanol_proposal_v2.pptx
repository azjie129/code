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71" r:id="rId3"/>
    <p:sldMasterId id="2147483685" r:id="rId4"/>
    <p:sldMasterId id="2147483704" r:id="rId5"/>
  </p:sldMasterIdLst>
  <p:notesMasterIdLst>
    <p:notesMasterId r:id="rId7"/>
  </p:notesMasterIdLst>
  <p:handoutMasterIdLst>
    <p:handoutMasterId r:id="rId11"/>
  </p:handoutMasterIdLst>
  <p:sldIdLst>
    <p:sldId id="256" r:id="v2s1"/>
    <p:sldId id="257" r:id="v2s2"/>
    <p:sldId id="258" r:id="v2s3"/>
    <p:sldId id="259" r:id="v2s4"/>
    <p:sldId id="260" r:id="v2s5"/>
    <p:sldId id="261" r:id="v2s6"/>
    <p:sldId id="262" r:id="v2s7"/>
    <p:sldId id="263" r:id="v2s8"/>
    <p:sldId id="264" r:id="v2s9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5" userDrawn="1">
          <p15:clr>
            <a:srgbClr val="A4A3A4"/>
          </p15:clr>
        </p15:guide>
        <p15:guide id="2" orient="horz" pos="23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2C7"/>
    <a:srgbClr val="D99694"/>
    <a:srgbClr val="2B71B1"/>
    <a:srgbClr val="17375E"/>
    <a:srgbClr val="002060"/>
    <a:srgbClr val="003F98"/>
    <a:srgbClr val="CDE1F2"/>
    <a:srgbClr val="F80304"/>
    <a:srgbClr val="BD3D6E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0" autoAdjust="0"/>
    <p:restoredTop sz="91269" autoAdjust="0"/>
  </p:normalViewPr>
  <p:slideViewPr>
    <p:cSldViewPr snapToGrid="0" showGuides="1">
      <p:cViewPr varScale="1">
        <p:scale>
          <a:sx n="101" d="100"/>
          <a:sy n="101" d="100"/>
        </p:scale>
        <p:origin x="1008" y="72"/>
      </p:cViewPr>
      <p:guideLst>
        <p:guide pos="3845"/>
        <p:guide orient="horz" pos="23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4237"/>
    </p:cViewPr>
  </p:sorter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7" Type="http://schemas.openxmlformats.org/officeDocument/2006/relationships/notesMaster" Target="notesMasters/notesMaster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gs" Target="tags/tag25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v2s1" Type="http://schemas.openxmlformats.org/officeDocument/2006/relationships/slide" Target="slides/slide1.xml"/><Relationship Id="v2s2" Type="http://schemas.openxmlformats.org/officeDocument/2006/relationships/slide" Target="slides/slide2.xml"/><Relationship Id="v2s3" Type="http://schemas.openxmlformats.org/officeDocument/2006/relationships/slide" Target="slides/slide3.xml"/><Relationship Id="v2s4" Type="http://schemas.openxmlformats.org/officeDocument/2006/relationships/slide" Target="slides/slide4.xml"/><Relationship Id="v2s5" Type="http://schemas.openxmlformats.org/officeDocument/2006/relationships/slide" Target="slides/slide5.xml"/><Relationship Id="v2s6" Type="http://schemas.openxmlformats.org/officeDocument/2006/relationships/slide" Target="slides/slide6.xml"/><Relationship Id="v2s7" Type="http://schemas.openxmlformats.org/officeDocument/2006/relationships/slide" Target="slides/slide7.xml"/><Relationship Id="v2s8" Type="http://schemas.openxmlformats.org/officeDocument/2006/relationships/slide" Target="slides/slide8.xml"/><Relationship Id="v2s9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A402E-0A3A-4BB2-892E-2A006059FE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47892-CE47-41FF-9649-DF0E141C2D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CCD68-BB16-4B09-96DE-77E75F617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B5D0D-1737-4DFB-8E55-DAD58C6B9E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v2master" Type="http://schemas.openxmlformats.org/officeDocument/2006/relationships/notesMaster" Target="../notesMasters/notesMaster1.xml"/><Relationship Id="v2slide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定位：用稀土作探针，检验封装型Cu@Na-Beta中界面Cu电子态与CO₂加氢制乙醇的关系，不以性能提升为成败标准。依据用户2026-10-12最终版逻辑文件；两篇原始论文：[1] Ding et al., Chem 2020, 6, 2673–2689, DOI:10.1016/j.chempr.2020.07.001；[2] Zhang et al., Angew. Chem. Int. Ed. 2025, 64, e202514920, DOI:10.1002/anie.202514920。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性能条件：1.3MPa/300°C下STY258、CO₂转化率7.9%、有机产物中乙醇约100%、CO选择性30.5%；2.1MPa下STY约398、乙醇收率约14%。均为GHSV12000 mL gcat−1 h−1，H₂/CO₂=3。100h稳定性在1.3MPa验证。价态证据：XAFS为250°C/0.5MPa；XPS/AES前同条件处理40min后无空气转移。体相与表面灵敏度不同，少量电正性Cu与主要为金属Cu并非必然矛盾。缺口是目标性能工况下界面Cu价态定量及其功能归因。原文也讨论Cu与骨架氧相互作用，不能说只有纯几何叙事。逻辑文件Cu@Na-ZSM-5表格仍误把25.4%记为乙醇选择性；原文Table1为乙醇85.0%、CO25.4%，本页不引用该错误。图截自主文PDF第6页Fig.2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为主文PDF第4页Fig.2d、2h。Y固定6wt%、脱铝Beta、350°C纯H₂还原后，Cu(I)绝对量为0.39±0.02、0.53±0.04、0.43±0.17wt%，支持该系列存在近似有限的难还原Cu池。不能证明池容量与Y量线性缩放，也不能推断Cu负载是唯一可调变量。按0.45wt%容量外推，Cu0.4/1.0/2.0/8.24wt%对应f(Cu⁺)=min(100%,0.45/Cu×100%)约100/45/22.5/5.46%，属样品设计假设而非实测或硬上限。本体系是封装Cu颗粒，与脱铝Beta不同。原文乙醇脱氢中Cu(I)活性较低，乙醇暴露可继续将其还原；不能直接视为CO₂加氢的严格逆反应或据此给出结局先验概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谱截图来自Angew主文PDF第3页Fig.1d，是合成/焙烧后样品于−100°C测量的CO-DRIFTS，并非CO₂加氢工况谱。2137cm−1归属CO–Cu(I)，2194cm−1为Y相关CO吸附，2206cm−1为Cu(II)相关肩峰；峰位须在本体系、受控CO覆盖下重新标定。以扣除S5背景、按可接近表面Cu量归一的Cu⁺–CO响应和Cu⁺/Cu⁰–CO响应比作为操作性谱学指标。未校准吸光响应因子、CO覆盖度及探针扰动前，不把峰面积比等同于绝对界面Cu⁺覆盖率。N₂O滴定/CO化学吸附对氧化态和可接近性的依赖需交叉核验。n≥3与相对差异&gt;10%是拟定筛选门槛而非公认检测限；需连同误差和统计效能判断。无信号可能低于检出限，不等于Cu⁺不存在。SQ2至少三个可分辨水平，并控制结构差异；三点Spearman不足以单独证明可靠相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品清单为11种配方：A1/A2/A3、B1/B2/B3、S5、S0、P1、L1、X1。首轮制备12釜，来自S0独立重复两釜，未计补做/放大。低Cu0.4–2.0wt%处于单原子—小颗粒过渡区，同载量有无Y仍可能改变Cu配位和粒径，成对比较不能自动保证几何相同。L1的La目标9.4wt%基于同一最终催化剂质量基准下6×138.905/88.905=9.374%，实现近似等摩尔RE原子数，实际投料需按最终收率及ICP修正。X1位置与制备方式同时变化，比较前须核验孔结构/分散度/酸性。文献固定Y6wt%的容量不证明Y2wt%必为0.13wt%Cu(I)，不作线性缩放硬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沿用户DGC配方路线，在壳凝胶阶段加入Y(NO₃)₃·6H₂O或La(NO₃)₃·6H₂O。壳凝胶具体组分比例没有随本次逻辑文件给出，执行前按既定配方补齐，不能凭这页直接完成全配方称量。目标是晶内分散/锚定，不宣称加稀土盐即可自动进入骨架位。酸洗ICP、N₂吸附及XRD用于初筛；酸洗条件1MHNO₃、2h，Cu保留≥80%为项目拟定门槛，须在可比酸洗条件及无Y基线上验证，单项不能充分证明封装成功。XRD未见Y₂O₃不能排除无定形或微量团簇。HAADF-STEM/EXAFS共同检查稀土分散与Cu–RE邻近；无邻近证据不沿用双单原子机制，仍可探索载体或酸性效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文件详细计划明确只排合成与出釜判定，但末尾又提12周回答SQ1及形成SQ2散点图；这里按具体合成排期界定交付，避免在无机时/装置信息时承诺12周完成全链验证。W1–W2五釜：S0×2、A2、B2、S5；W5–W6六釜：A1/A3/B1/B3/L1/X1；W9–W10新增P1一釜，另补做/放大。W3–W4、W7–W8、W11–W12用于各批质量核验与下一批决策。若S5表明Y6wt%导致孔结构破坏，先于第二批下调Y，Cu梯度同步重设；同比下调仅是实验设计，不意味着容量必随Y线性变化。同步辐射在第1月提交申请，CO-DRIFTS方法标定可并行，但不把离线低温CO信号直接标为工况覆盖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截自Chem主文PDF第9页Fig.3A，原文已经完成¹²CO₂/¹³CO₂瞬态切换，创新不在重复方法，而是在可比结构、可分辨界面Cu谱学水平上比较混合同位素乙醇形成速率和时间常数。气相滞留、取样时间和同位素混合必须校正。通过CH₃COO*红外动态和动力学判断对CH₃*形成、偶联、乙酸根加氢各步的影响；相同信号可有多种机理解释，不能仅凭同位素或相关性指认Cu(I)。XANES LCF与EXAFS用于交叉验证，统一S₀²处理并报告误差，避免跨样品CN表观差异直接作粒径定量。CO探针可能改变氧化态/覆盖度，准工况转移须验证状态保真。DFT模型依据实测近邻/配位，采用自洽电荷补偿，不能人为指定一个Cu⁺便声称实现真实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六类结果均为条件化解释。A正相关只支持电子态作用假设，不充分证明Cu(I)参与偶联；B负相关与未检出应分开解释，后者不能证明纯几何机制；C结构破坏仅定义已测工艺范围，不能断言两种调控永不兼容；D可评估选择性/稳定性权衡，但抗水汽或CO抑制须实测；E无近邻证据不能自动证明载体电子效应，应调整模型并检验其他解释；F工况下Cu⁺信号消失必须排除探针扰动与检测限，只能约束本体系/测量范围，不能泛化所有热催化体系。文献综述清单仅有文件自述的Crossref元数据核验，未提供完整原文；本报告不据其断言全领域首次、无人研究或最可能结局。成功标准为可重复的方法、受控构效证据或清晰的可用边界，而非超过STY258/398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s.cn/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s.cn/" TargetMode="External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20603050405020304" pitchFamily="18" charset="0"/>
              <a:ea typeface="Noto Serif CJK SC" panose="020B0503020204020204" pitchFamily="34" charset="-122"/>
              <a:cs typeface="Noto Serif CJK SC" panose="02020603050405020304" pitchFamily="18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  <a:cs typeface="Noto Serif CJK SC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CJK SC"/>
                <a:ea typeface="Noto Serif CJK SC"/>
                <a:cs typeface="Noto Serif CJK SC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Noto Serif CJK SC" panose="020B0604020202020204" pitchFamily="34" charset="0"/>
                <a:ea typeface="Noto Serif CJK SC" panose="02010600030101010101" pitchFamily="2" charset="-122"/>
                <a:cs typeface="Noto Serif CJK SC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erif CJK SC" panose="020B0604020202020204" pitchFamily="34" charset="0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Noto Serif CJK SC" panose="020F0502020204030204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CJK SC" panose="020F0502020204030204"/>
              <a:ea typeface="Noto Serif CJK SC" panose="02010600030101010101" pitchFamily="2" charset="-122"/>
              <a:cs typeface="Noto Serif CJK SC"/>
            </a:endParaRP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 flipH="1">
            <a:off x="-1" y="1"/>
            <a:ext cx="12192001" cy="6858000"/>
          </a:xfrm>
          <a:prstGeom prst="rect">
            <a:avLst/>
          </a:prstGeom>
          <a:gradFill flip="none" rotWithShape="1">
            <a:gsLst>
              <a:gs pos="76000">
                <a:schemeClr val="bg1">
                  <a:lumMod val="85000"/>
                  <a:alpha val="30000"/>
                </a:schemeClr>
              </a:gs>
              <a:gs pos="14000">
                <a:srgbClr val="256385">
                  <a:alpha val="75000"/>
                </a:srgbClr>
              </a:gs>
              <a:gs pos="44000">
                <a:schemeClr val="bg1">
                  <a:lumMod val="85000"/>
                  <a:alpha val="5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pic>
        <p:nvPicPr>
          <p:cNvPr id="9" name="图片 8" descr="资源 9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8460" y="443230"/>
            <a:ext cx="1275080" cy="1275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04567" y="6356351"/>
            <a:ext cx="447502" cy="343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  <a:latin typeface="Noto Serif CJK SC" panose="02020603050405020304" pitchFamily="18" charset="0"/>
                <a:cs typeface="Noto Serif CJK SC" panose="02020603050405020304" pitchFamily="18" charset="0"/>
              </a:defRPr>
            </a:lvl1pPr>
          </a:lstStyle>
          <a:p>
            <a:fld id="{5D42E840-DB4D-4613-9801-0A608BBD03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69B5D-2B9E-4097-B447-B9AE8A9D542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0D15-1A6B-4929-BF9A-52CE8FD03295}" type="datetime1">
              <a:rPr lang="zh-CN" altLang="en-US" smtClean="0"/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20603050405020304" pitchFamily="18" charset="0"/>
              <a:ea typeface="Noto Serif CJK SC" panose="020B0503020204020204" pitchFamily="34" charset="-122"/>
              <a:cs typeface="Noto Serif CJK SC" panose="02020603050405020304" pitchFamily="18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20603050405020304" pitchFamily="18" charset="0"/>
              <a:ea typeface="Noto Serif CJK SC" panose="020B0503020204020204" pitchFamily="34" charset="-122"/>
              <a:cs typeface="Noto Serif CJK SC" panose="02020603050405020304" pitchFamily="18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  <a:cs typeface="Noto Serif CJK SC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CJK SC"/>
                <a:ea typeface="Noto Serif CJK SC"/>
                <a:cs typeface="Noto Serif CJK SC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Noto Serif CJK SC" panose="020B0604020202020204" pitchFamily="34" charset="0"/>
                <a:ea typeface="Noto Serif CJK SC" panose="02010600030101010101" pitchFamily="2" charset="-122"/>
                <a:cs typeface="Noto Serif CJK SC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erif CJK SC" panose="020B0604020202020204" pitchFamily="34" charset="0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Noto Serif CJK SC" panose="020F0502020204030204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CJK SC" panose="020F0502020204030204"/>
              <a:ea typeface="Noto Serif CJK SC" panose="02010600030101010101" pitchFamily="2" charset="-122"/>
              <a:cs typeface="Noto Serif CJK SC"/>
            </a:endParaRPr>
          </a:p>
        </p:txBody>
      </p:sp>
    </p:spTree>
  </p:cSld>
  <p:clrMapOvr>
    <a:masterClrMapping/>
  </p:clrMapOvr>
  <p:transition spd="slow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6.png"/><Relationship Id="rId23" Type="http://schemas.openxmlformats.org/officeDocument/2006/relationships/image" Target="../media/image5.jpe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1" Type="http://schemas.openxmlformats.org/officeDocument/2006/relationships/theme" Target="../theme/theme3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37.xml"/><Relationship Id="rId19" Type="http://schemas.openxmlformats.org/officeDocument/2006/relationships/image" Target="../media/image5.jpeg"/><Relationship Id="rId18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0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6.xml"/><Relationship Id="rId25" Type="http://schemas.openxmlformats.org/officeDocument/2006/relationships/theme" Target="../theme/theme4.xml"/><Relationship Id="rId24" Type="http://schemas.openxmlformats.org/officeDocument/2006/relationships/image" Target="../media/image6.png"/><Relationship Id="rId23" Type="http://schemas.openxmlformats.org/officeDocument/2006/relationships/image" Target="../media/image5.jpeg"/><Relationship Id="rId22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  <a:latin typeface="Noto Serif CJK SC" panose="020B0604020202020204" pitchFamily="34" charset="0"/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F050202020403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4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microsoft.com/office/2007/relationships/hdphoto" Target="../media/image8.wdp"/><Relationship Id="rId1" Type="http://schemas.openxmlformats.org/officeDocument/2006/relationships/image" Target="../media/image7.png"/><Relationship Id="v2notes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bac56beee2da4509" Type="http://schemas.openxmlformats.org/officeDocument/2006/relationships/image" Target="../media/v2_image.png"/><Relationship Id="v2notes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c70a36b477a44db2" Type="http://schemas.openxmlformats.org/officeDocument/2006/relationships/image" Target="../media/v2_image2.png"/><Relationship Id="Rda4b0e3184a14473" Type="http://schemas.openxmlformats.org/officeDocument/2006/relationships/image" Target="../media/v2_image3.png"/><Relationship Id="v2notes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76fa00c9cbd34ca0" Type="http://schemas.openxmlformats.org/officeDocument/2006/relationships/image" Target="../media/v2_image4.png"/><Relationship Id="v2notes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v2notes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v2notes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v2notes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c084aa6934a64e5d" Type="http://schemas.openxmlformats.org/officeDocument/2006/relationships/image" Target="../media/v2_image5.png"/><Relationship Id="v2notes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v2notes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7084"/>
            <a:ext cx="12192000" cy="4390916"/>
          </a:xfrm>
          <a:prstGeom prst="rect">
            <a:avLst/>
          </a:prstGeom>
        </p:spPr>
      </p:pic>
      <p:sp>
        <p:nvSpPr>
          <p:cNvPr id="12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charset="-122"/>
                <a:ea typeface="Noto Serif CJK SC" panose="02010600030101010101" charset="-122"/>
                <a:cs typeface="Noto Serif CJK SC"/>
              </a:rPr>
              <a:t> 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erif CJK SC" panose="02010600030101010101" charset="-122"/>
              <a:ea typeface="Noto Serif CJK SC" panose="02010600030101010101" charset="-122"/>
              <a:cs typeface="Noto Serif CJK SC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-1" y="1576873"/>
            <a:ext cx="12192001" cy="1813093"/>
          </a:xfrm>
          <a:prstGeom prst="roundRect">
            <a:avLst>
              <a:gd name="adj" fmla="val 10350"/>
            </a:avLst>
          </a:prstGeom>
          <a:solidFill>
            <a:srgbClr val="014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erif CJK SC" panose="02010600030101010101" charset="-122"/>
              <a:ea typeface="Noto Serif CJK SC" panose="02010600030101010101" charset="-122"/>
              <a:cs typeface="Noto Serif CJK SC" panose="00020600040101010101" pitchFamily="18" charset="-122"/>
            </a:endParaRPr>
          </a:p>
        </p:txBody>
      </p:sp>
      <p:grpSp>
        <p:nvGrpSpPr>
          <p:cNvPr id="14" name="组合 21"/>
          <p:cNvGrpSpPr/>
          <p:nvPr/>
        </p:nvGrpSpPr>
        <p:grpSpPr>
          <a:xfrm>
            <a:off x="-38391" y="5731544"/>
            <a:ext cx="3468343" cy="1366557"/>
            <a:chOff x="-38391" y="5726916"/>
            <a:chExt cx="3468343" cy="1366557"/>
          </a:xfrm>
        </p:grpSpPr>
        <p:sp>
          <p:nvSpPr>
            <p:cNvPr id="15" name="任意多边形: 形状 3"/>
            <p:cNvSpPr/>
            <p:nvPr/>
          </p:nvSpPr>
          <p:spPr>
            <a:xfrm rot="21140193">
              <a:off x="-10067" y="5726916"/>
              <a:ext cx="3440019" cy="1366557"/>
            </a:xfrm>
            <a:custGeom>
              <a:avLst/>
              <a:gdLst>
                <a:gd name="connsiteX0" fmla="*/ 86597 w 3440019"/>
                <a:gd name="connsiteY0" fmla="*/ 0 h 1366557"/>
                <a:gd name="connsiteX1" fmla="*/ 127728 w 3440019"/>
                <a:gd name="connsiteY1" fmla="*/ 26486 h 1366557"/>
                <a:gd name="connsiteX2" fmla="*/ 3192470 w 3440019"/>
                <a:gd name="connsiteY2" fmla="*/ 1301380 h 1366557"/>
                <a:gd name="connsiteX3" fmla="*/ 3440019 w 3440019"/>
                <a:gd name="connsiteY3" fmla="*/ 1366557 h 1366557"/>
                <a:gd name="connsiteX4" fmla="*/ 0 w 3440019"/>
                <a:gd name="connsiteY4" fmla="*/ 903682 h 1366557"/>
                <a:gd name="connsiteX5" fmla="*/ 0 w 3440019"/>
                <a:gd name="connsiteY5" fmla="*/ 643579 h 136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019" h="1366557">
                  <a:moveTo>
                    <a:pt x="86597" y="0"/>
                  </a:moveTo>
                  <a:lnTo>
                    <a:pt x="127728" y="26486"/>
                  </a:lnTo>
                  <a:cubicBezTo>
                    <a:pt x="959851" y="535988"/>
                    <a:pt x="2000799" y="969821"/>
                    <a:pt x="3192470" y="1301380"/>
                  </a:cubicBezTo>
                  <a:lnTo>
                    <a:pt x="3440019" y="1366557"/>
                  </a:lnTo>
                  <a:lnTo>
                    <a:pt x="0" y="903682"/>
                  </a:lnTo>
                  <a:lnTo>
                    <a:pt x="0" y="643579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1"/>
                </a:gs>
                <a:gs pos="0">
                  <a:schemeClr val="accent2">
                    <a:lumMod val="58000"/>
                    <a:lumOff val="42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5552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1978" tIns="55988" rIns="111978" bIns="5598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charset="-122"/>
                <a:ea typeface="Noto Serif CJK SC" panose="02010600030101010101" charset="-122"/>
                <a:cs typeface="Noto Serif CJK SC"/>
              </a:endParaRPr>
            </a:p>
          </p:txBody>
        </p:sp>
        <p:sp>
          <p:nvSpPr>
            <p:cNvPr id="16" name="任意多边形: 形状 4"/>
            <p:cNvSpPr/>
            <p:nvPr/>
          </p:nvSpPr>
          <p:spPr>
            <a:xfrm rot="20929187">
              <a:off x="-38391" y="6080250"/>
              <a:ext cx="2200002" cy="1000529"/>
            </a:xfrm>
            <a:custGeom>
              <a:avLst/>
              <a:gdLst>
                <a:gd name="connsiteX0" fmla="*/ 77968 w 2161240"/>
                <a:gd name="connsiteY0" fmla="*/ 0 h 1000529"/>
                <a:gd name="connsiteX1" fmla="*/ 391434 w 2161240"/>
                <a:gd name="connsiteY1" fmla="*/ 182654 h 1000529"/>
                <a:gd name="connsiteX2" fmla="*/ 1776824 w 2161240"/>
                <a:gd name="connsiteY2" fmla="*/ 848052 h 1000529"/>
                <a:gd name="connsiteX3" fmla="*/ 2161240 w 2161240"/>
                <a:gd name="connsiteY3" fmla="*/ 1000529 h 1000529"/>
                <a:gd name="connsiteX4" fmla="*/ 0 w 2161240"/>
                <a:gd name="connsiteY4" fmla="*/ 573368 h 1000529"/>
                <a:gd name="connsiteX5" fmla="*/ 15955 w 2161240"/>
                <a:gd name="connsiteY5" fmla="*/ 313759 h 1000529"/>
                <a:gd name="connsiteX0-1" fmla="*/ 116730 w 2200002"/>
                <a:gd name="connsiteY0-2" fmla="*/ 0 h 1000529"/>
                <a:gd name="connsiteX1-3" fmla="*/ 430196 w 2200002"/>
                <a:gd name="connsiteY1-4" fmla="*/ 182654 h 1000529"/>
                <a:gd name="connsiteX2-5" fmla="*/ 1815586 w 2200002"/>
                <a:gd name="connsiteY2-6" fmla="*/ 848052 h 1000529"/>
                <a:gd name="connsiteX3-7" fmla="*/ 2200002 w 2200002"/>
                <a:gd name="connsiteY3-8" fmla="*/ 1000529 h 1000529"/>
                <a:gd name="connsiteX4-9" fmla="*/ 0 w 2200002"/>
                <a:gd name="connsiteY4-10" fmla="*/ 572989 h 1000529"/>
                <a:gd name="connsiteX5-11" fmla="*/ 54717 w 2200002"/>
                <a:gd name="connsiteY5-12" fmla="*/ 313759 h 1000529"/>
                <a:gd name="connsiteX6" fmla="*/ 116730 w 2200002"/>
                <a:gd name="connsiteY6" fmla="*/ 0 h 1000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" y="connsiteY6"/>
                </a:cxn>
              </a:cxnLst>
              <a:rect l="l" t="t" r="r" b="b"/>
              <a:pathLst>
                <a:path w="2200002" h="1000529">
                  <a:moveTo>
                    <a:pt x="116730" y="0"/>
                  </a:moveTo>
                  <a:lnTo>
                    <a:pt x="430196" y="182654"/>
                  </a:lnTo>
                  <a:cubicBezTo>
                    <a:pt x="856807" y="419361"/>
                    <a:pt x="1319919" y="641763"/>
                    <a:pt x="1815586" y="848052"/>
                  </a:cubicBezTo>
                  <a:lnTo>
                    <a:pt x="2200002" y="1000529"/>
                  </a:lnTo>
                  <a:lnTo>
                    <a:pt x="0" y="572989"/>
                  </a:lnTo>
                  <a:lnTo>
                    <a:pt x="54717" y="313759"/>
                  </a:lnTo>
                  <a:lnTo>
                    <a:pt x="11673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charset="-122"/>
                <a:ea typeface="Noto Serif CJK SC" panose="02010600030101010101" charset="-122"/>
                <a:cs typeface="Noto Serif CJK SC"/>
              </a:endParaRPr>
            </a:p>
          </p:txBody>
        </p:sp>
      </p:grpSp>
      <p:grpSp>
        <p:nvGrpSpPr>
          <p:cNvPr id="17" name="组合 24"/>
          <p:cNvGrpSpPr/>
          <p:nvPr/>
        </p:nvGrpSpPr>
        <p:grpSpPr>
          <a:xfrm flipH="1">
            <a:off x="8764681" y="5731544"/>
            <a:ext cx="3466057" cy="1366557"/>
            <a:chOff x="-36105" y="5726916"/>
            <a:chExt cx="3466057" cy="1366557"/>
          </a:xfrm>
        </p:grpSpPr>
        <p:sp>
          <p:nvSpPr>
            <p:cNvPr id="18" name="任意多边形: 形状 9"/>
            <p:cNvSpPr/>
            <p:nvPr/>
          </p:nvSpPr>
          <p:spPr>
            <a:xfrm rot="21140193">
              <a:off x="-10067" y="5726916"/>
              <a:ext cx="3440019" cy="1366557"/>
            </a:xfrm>
            <a:custGeom>
              <a:avLst/>
              <a:gdLst>
                <a:gd name="connsiteX0" fmla="*/ 86597 w 3440019"/>
                <a:gd name="connsiteY0" fmla="*/ 0 h 1366557"/>
                <a:gd name="connsiteX1" fmla="*/ 127728 w 3440019"/>
                <a:gd name="connsiteY1" fmla="*/ 26486 h 1366557"/>
                <a:gd name="connsiteX2" fmla="*/ 3192470 w 3440019"/>
                <a:gd name="connsiteY2" fmla="*/ 1301380 h 1366557"/>
                <a:gd name="connsiteX3" fmla="*/ 3440019 w 3440019"/>
                <a:gd name="connsiteY3" fmla="*/ 1366557 h 1366557"/>
                <a:gd name="connsiteX4" fmla="*/ 0 w 3440019"/>
                <a:gd name="connsiteY4" fmla="*/ 903682 h 1366557"/>
                <a:gd name="connsiteX5" fmla="*/ 0 w 3440019"/>
                <a:gd name="connsiteY5" fmla="*/ 643579 h 136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019" h="1366557">
                  <a:moveTo>
                    <a:pt x="86597" y="0"/>
                  </a:moveTo>
                  <a:lnTo>
                    <a:pt x="127728" y="26486"/>
                  </a:lnTo>
                  <a:cubicBezTo>
                    <a:pt x="959851" y="535988"/>
                    <a:pt x="2000799" y="969821"/>
                    <a:pt x="3192470" y="1301380"/>
                  </a:cubicBezTo>
                  <a:lnTo>
                    <a:pt x="3440019" y="1366557"/>
                  </a:lnTo>
                  <a:lnTo>
                    <a:pt x="0" y="903682"/>
                  </a:lnTo>
                  <a:lnTo>
                    <a:pt x="0" y="643579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1"/>
                </a:gs>
                <a:gs pos="0">
                  <a:schemeClr val="accent2">
                    <a:lumMod val="58000"/>
                    <a:lumOff val="42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5552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1978" tIns="55988" rIns="111978" bIns="5598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charset="-122"/>
                <a:ea typeface="Noto Serif CJK SC" panose="02010600030101010101" charset="-122"/>
                <a:cs typeface="Noto Serif CJK SC"/>
              </a:endParaRPr>
            </a:p>
          </p:txBody>
        </p:sp>
        <p:sp>
          <p:nvSpPr>
            <p:cNvPr id="19" name="任意多边形: 形状 10"/>
            <p:cNvSpPr/>
            <p:nvPr/>
          </p:nvSpPr>
          <p:spPr>
            <a:xfrm rot="20929187">
              <a:off x="-36105" y="6080027"/>
              <a:ext cx="2197695" cy="1000529"/>
            </a:xfrm>
            <a:custGeom>
              <a:avLst/>
              <a:gdLst>
                <a:gd name="connsiteX0" fmla="*/ 77968 w 2161240"/>
                <a:gd name="connsiteY0" fmla="*/ 0 h 1000529"/>
                <a:gd name="connsiteX1" fmla="*/ 391434 w 2161240"/>
                <a:gd name="connsiteY1" fmla="*/ 182654 h 1000529"/>
                <a:gd name="connsiteX2" fmla="*/ 1776824 w 2161240"/>
                <a:gd name="connsiteY2" fmla="*/ 848052 h 1000529"/>
                <a:gd name="connsiteX3" fmla="*/ 2161240 w 2161240"/>
                <a:gd name="connsiteY3" fmla="*/ 1000529 h 1000529"/>
                <a:gd name="connsiteX4" fmla="*/ 0 w 2161240"/>
                <a:gd name="connsiteY4" fmla="*/ 573368 h 1000529"/>
                <a:gd name="connsiteX5" fmla="*/ 15955 w 2161240"/>
                <a:gd name="connsiteY5" fmla="*/ 313759 h 1000529"/>
                <a:gd name="connsiteX0-1" fmla="*/ 129362 w 2212634"/>
                <a:gd name="connsiteY0-2" fmla="*/ 0 h 1000529"/>
                <a:gd name="connsiteX1-3" fmla="*/ 442828 w 2212634"/>
                <a:gd name="connsiteY1-4" fmla="*/ 182654 h 1000529"/>
                <a:gd name="connsiteX2-5" fmla="*/ 1828218 w 2212634"/>
                <a:gd name="connsiteY2-6" fmla="*/ 848052 h 1000529"/>
                <a:gd name="connsiteX3-7" fmla="*/ 2212634 w 2212634"/>
                <a:gd name="connsiteY3-8" fmla="*/ 1000529 h 1000529"/>
                <a:gd name="connsiteX4-9" fmla="*/ 0 w 2212634"/>
                <a:gd name="connsiteY4-10" fmla="*/ 563211 h 1000529"/>
                <a:gd name="connsiteX5-11" fmla="*/ 67349 w 2212634"/>
                <a:gd name="connsiteY5-12" fmla="*/ 313759 h 1000529"/>
                <a:gd name="connsiteX6" fmla="*/ 129362 w 2212634"/>
                <a:gd name="connsiteY6" fmla="*/ 0 h 1000529"/>
                <a:gd name="connsiteX0-13" fmla="*/ 114423 w 2197695"/>
                <a:gd name="connsiteY0-14" fmla="*/ 0 h 1000529"/>
                <a:gd name="connsiteX1-15" fmla="*/ 427889 w 2197695"/>
                <a:gd name="connsiteY1-16" fmla="*/ 182654 h 1000529"/>
                <a:gd name="connsiteX2-17" fmla="*/ 1813279 w 2197695"/>
                <a:gd name="connsiteY2-18" fmla="*/ 848052 h 1000529"/>
                <a:gd name="connsiteX3-19" fmla="*/ 2197695 w 2197695"/>
                <a:gd name="connsiteY3-20" fmla="*/ 1000529 h 1000529"/>
                <a:gd name="connsiteX4-21" fmla="*/ 0 w 2197695"/>
                <a:gd name="connsiteY4-22" fmla="*/ 561310 h 1000529"/>
                <a:gd name="connsiteX5-23" fmla="*/ 52410 w 2197695"/>
                <a:gd name="connsiteY5-24" fmla="*/ 313759 h 1000529"/>
                <a:gd name="connsiteX6-25" fmla="*/ 114423 w 2197695"/>
                <a:gd name="connsiteY6-26" fmla="*/ 0 h 1000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25" y="connsiteY6-26"/>
                </a:cxn>
              </a:cxnLst>
              <a:rect l="l" t="t" r="r" b="b"/>
              <a:pathLst>
                <a:path w="2197695" h="1000529">
                  <a:moveTo>
                    <a:pt x="114423" y="0"/>
                  </a:moveTo>
                  <a:lnTo>
                    <a:pt x="427889" y="182654"/>
                  </a:lnTo>
                  <a:cubicBezTo>
                    <a:pt x="854500" y="419361"/>
                    <a:pt x="1317612" y="641763"/>
                    <a:pt x="1813279" y="848052"/>
                  </a:cubicBezTo>
                  <a:lnTo>
                    <a:pt x="2197695" y="1000529"/>
                  </a:lnTo>
                  <a:lnTo>
                    <a:pt x="0" y="561310"/>
                  </a:lnTo>
                  <a:lnTo>
                    <a:pt x="52410" y="313759"/>
                  </a:lnTo>
                  <a:lnTo>
                    <a:pt x="11442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charset="-122"/>
                <a:ea typeface="Noto Serif CJK SC" panose="02010600030101010101" charset="-122"/>
                <a:cs typeface="Noto Serif CJK SC"/>
              </a:endParaRPr>
            </a:p>
          </p:txBody>
        </p:sp>
      </p:grpSp>
      <p:pic>
        <p:nvPicPr>
          <p:cNvPr id="20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44" y="189577"/>
            <a:ext cx="4490450" cy="687501"/>
          </a:xfrm>
          <a:prstGeom prst="rect">
            <a:avLst/>
          </a:prstGeom>
        </p:spPr>
      </p:pic>
      <p:pic>
        <p:nvPicPr>
          <p:cNvPr id="21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890" y="207483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稀土调控 Cu 电子态&#10;用于 CO₂ 加氢制乙醇">
            <a:extLst>
              <a:ext uri="{FF2B5EF4-FFF2-40B4-BE49-F238E27FC236}">
                <a16:creationId xmlns:a16="http://schemas.microsoft.com/office/drawing/2014/main" id="{4B75CADB-811F-41DB-9F5D-BBE3814D4BC3}"/>
              </a:ext>
            </a:extLst>
          </p:cNvPr>
          <p:cNvSpPr>
            <a:spLocks noGrp="1"/>
          </p:cNvSpPr>
          <p:nvPr/>
        </p:nvSpPr>
        <p:spPr>
          <a:xfrm>
            <a:off x="640080" y="1819656"/>
            <a:ext cx="10908792" cy="12527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稀土调控 Cu 电子态</a:t>
            </a:r>
          </a:p>
          <a:p>
            <a: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用于 CO₂ 加氢制乙醇</a:t>
            </a:r>
          </a:p>
        </p:txBody>
      </p:sp>
      <p:sp>
        <p:nvSpPr>
          <p:cNvPr id="23" name="界面 Cu⁺ 的工况存在性、构效关系与作用步骤">
            <a:extLst>
              <a:ext uri="{FF2B5EF4-FFF2-40B4-BE49-F238E27FC236}">
                <a16:creationId xmlns:a16="http://schemas.microsoft.com/office/drawing/2014/main" id="{F3E68204-85A3-4144-8BAF-3040DB69D437}"/>
              </a:ext>
            </a:extLst>
          </p:cNvPr>
          <p:cNvSpPr>
            <a:spLocks noGrp="1"/>
          </p:cNvSpPr>
          <p:nvPr/>
        </p:nvSpPr>
        <p:spPr>
          <a:xfrm>
            <a:off x="1097280" y="3785616"/>
            <a:ext cx="9994392" cy="6035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3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界面 Cu⁺ 的工况存在性、构效关系与作用步骤</a:t>
            </a:r>
          </a:p>
        </p:txBody>
      </p:sp>
      <p:sp>
        <p:nvSpPr>
          <p:cNvPr id="24" name="立项依据与近期合成计划&#10;以稀土为探针，检验电子态的">
            <a:extLst>
              <a:ext uri="{FF2B5EF4-FFF2-40B4-BE49-F238E27FC236}">
                <a16:creationId xmlns:a16="http://schemas.microsoft.com/office/drawing/2014/main" id="{BA72045B-3D32-479D-94A7-30B85E122FDB}"/>
              </a:ext>
            </a:extLst>
          </p:cNvPr>
          <p:cNvSpPr>
            <a:spLocks noGrp="1"/>
          </p:cNvSpPr>
          <p:nvPr/>
        </p:nvSpPr>
        <p:spPr>
          <a:xfrm>
            <a:off x="1828800" y="4645152"/>
            <a:ext cx="8531352" cy="6766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立项依据与近期合成计划</a:t>
            </a:r>
          </a:p>
          <a:p>
            <a:pPr algn="ctr">
              <a:defRPr sz="1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以稀土为探针，检验电子态的作用</a:t>
            </a:r>
          </a:p>
        </p:txBody>
      </p:sp>
      <p:sp>
        <p:nvSpPr>
          <p:cNvPr id="25" name="2026年10月12日">
            <a:extLst>
              <a:ext uri="{FF2B5EF4-FFF2-40B4-BE49-F238E27FC236}">
                <a16:creationId xmlns:a16="http://schemas.microsoft.com/office/drawing/2014/main" id="{67E1B6E3-A2EB-4AF9-85C5-181E00B9F7D4}"/>
              </a:ext>
            </a:extLst>
          </p:cNvPr>
          <p:cNvSpPr>
            <a:spLocks noGrp="1"/>
          </p:cNvSpPr>
          <p:nvPr/>
        </p:nvSpPr>
        <p:spPr>
          <a:xfrm>
            <a:off x="2377440" y="6035040"/>
            <a:ext cx="7434072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2026年10月12日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8"/>
    </mc:Choice>
    <mc:Fallback>
      <p:transition spd="slow" advTm="9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B0503020204020204" pitchFamily="34" charset="-122"/>
                  <a:ea typeface="Noto Serif CJK SC" panose="020B0503020204020204" pitchFamily="34" charset="-122"/>
                </a:rPr>
                <a:t>立项依据</a:t>
              </a:r>
              <a:endParaRPr lang="zh-CN" b="1" dirty="0">
                <a:solidFill>
                  <a:schemeClr val="bg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endParaRPr>
            </a:p>
          </p:txBody>
        </p:sp>
      </p:grpSp>
      <p:sp>
        <p:nvSpPr>
          <p:cNvPr id="14" name="性能基线与工况价态缺口">
            <a:extLst>
              <a:ext uri="{FF2B5EF4-FFF2-40B4-BE49-F238E27FC236}">
                <a16:creationId xmlns:a16="http://schemas.microsoft.com/office/drawing/2014/main" id="{D07BFB02-D9E3-4CE9-A063-D3589B0F8DEE}"/>
              </a:ext>
            </a:extLst>
          </p:cNvPr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性能基线与工况价态缺口</a:t>
            </a:r>
          </a:p>
        </p:txBody>
      </p:sp>
      <p:sp>
        <p:nvSpPr>
          <p:cNvPr id="15" name="[1] Ding et al., Chem 202">
            <a:extLst>
              <a:ext uri="{FF2B5EF4-FFF2-40B4-BE49-F238E27FC236}">
                <a16:creationId xmlns:a16="http://schemas.microsoft.com/office/drawing/2014/main" id="{EE1F7133-5650-4FE2-A60E-9E93C2318A81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6527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[1] Ding et al., Chem 2020. Table 1; Fig. 2G; XPS/AES experimental methods.</a:t>
            </a:r>
          </a:p>
        </p:txBody>
      </p:sp>
      <p:sp>
        <p:nvSpPr>
          <p:cNvPr id="16" name="2">
            <a:extLst>
              <a:ext uri="{FF2B5EF4-FFF2-40B4-BE49-F238E27FC236}">
                <a16:creationId xmlns:a16="http://schemas.microsoft.com/office/drawing/2014/main" id="{A22C0F3A-0DF6-41C7-B779-D3EF9E3DA2BD}"/>
              </a:ext>
            </a:extLst>
          </p:cNvPr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17" name="已建立：封装 Cu 的性能基线">
            <a:extLst>
              <a:ext uri="{FF2B5EF4-FFF2-40B4-BE49-F238E27FC236}">
                <a16:creationId xmlns:a16="http://schemas.microsoft.com/office/drawing/2014/main" id="{70839D98-992B-40D3-A5F6-922411B76766}"/>
              </a:ext>
            </a:extLst>
          </p:cNvPr>
          <p:cNvSpPr>
            <a:spLocks noGrp="1"/>
          </p:cNvSpPr>
          <p:nvPr/>
        </p:nvSpPr>
        <p:spPr>
          <a:xfrm>
            <a:off x="676656" y="1097280"/>
            <a:ext cx="5212080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已建立：封装 Cu 的性能基线</a:t>
            </a:r>
          </a:p>
        </p:txBody>
      </p:sp>
      <p:graphicFrame>
        <p:nvGraphicFramePr>
          <p:cNvPr id="18" name="">
            <a:extLst>
              <a:ext uri="{FF2B5EF4-FFF2-40B4-BE49-F238E27FC236}">
                <a16:creationId xmlns:a16="http://schemas.microsoft.com/office/drawing/2014/main" id="{0B389C0E-06B3-49C2-A7D5-229F51B8E37C}"/>
              </a:ext>
            </a:extLst>
          </p:cNvPr>
          <p:cNvGraphicFramePr/>
          <p:nvPr/>
        </p:nvGraphicFramePr>
        <p:xfrm>
          <a:off x="676656" y="1719072"/>
          <a:ext cx="5001768" cy="1563624"/>
        </p:xfrm>
        <a:graphic>
          <a:graphicData uri="http://schemas.openxmlformats.org/drawingml/2006/table">
            <a:tbl>
              <a:tblPr/>
              <a:tblGrid>
                <a:gridCol w="1490472"/>
                <a:gridCol w="1700784"/>
                <a:gridCol w="1810512"/>
              </a:tblGrid>
              <a:tr h="521208"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压力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乙醇 STY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乙醇收率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</a:tr>
              <a:tr h="521208"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1.3 MPa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258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2.1 MPa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≈398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≈14%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9" name="乙醇为唯一有机产物，仍有 CO 副产物。&#10;1.3 ">
            <a:extLst>
              <a:ext uri="{FF2B5EF4-FFF2-40B4-BE49-F238E27FC236}">
                <a16:creationId xmlns:a16="http://schemas.microsoft.com/office/drawing/2014/main" id="{0C4BF77D-5324-452D-9091-2281BEBE4A06}"/>
              </a:ext>
            </a:extLst>
          </p:cNvPr>
          <p:cNvSpPr>
            <a:spLocks noGrp="1"/>
          </p:cNvSpPr>
          <p:nvPr/>
        </p:nvSpPr>
        <p:spPr>
          <a:xfrm>
            <a:off x="713232" y="3483864"/>
            <a:ext cx="4882896" cy="8412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乙醇为唯一有机产物，仍有 CO 副产物。</a:t>
            </a: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1.3 MPa 下已验证 100 h 稳定性。</a:t>
            </a:r>
          </a:p>
        </p:txBody>
      </p:sp>
      <p:sp>
        <p:nvSpPr>
          <p:cNvPr id="20" name="300 °C；H₂/CO₂ = 3；GHSV = ">
            <a:extLst>
              <a:ext uri="{FF2B5EF4-FFF2-40B4-BE49-F238E27FC236}">
                <a16:creationId xmlns:a16="http://schemas.microsoft.com/office/drawing/2014/main" id="{4350280E-3AC3-4842-9682-15E67DD601C3}"/>
              </a:ext>
            </a:extLst>
          </p:cNvPr>
          <p:cNvSpPr>
            <a:spLocks noGrp="1"/>
          </p:cNvSpPr>
          <p:nvPr/>
        </p:nvSpPr>
        <p:spPr>
          <a:xfrm>
            <a:off x="713232" y="4681728"/>
            <a:ext cx="4919472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300 °C；H₂/CO₂ = 3；GHSV = 12,000</a:t>
            </a:r>
          </a:p>
          <a:p>
            <a: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STY：mg·gcat⁻¹·h⁻¹；GHSV：mL·gcat⁻¹·h⁻¹</a:t>
            </a:r>
          </a:p>
        </p:txBody>
      </p:sp>
      <p:pic>
        <p:nvPicPr>
          <p:cNvPr id="21" name="">
            <a:extLst>
              <a:ext uri="{FF2B5EF4-FFF2-40B4-BE49-F238E27FC236}">
                <a16:creationId xmlns:a16="http://schemas.microsoft.com/office/drawing/2014/main" id="{9FE46D9E-0529-4756-9A22-56876606865A}"/>
              </a:ext>
            </a:extLst>
          </p:cNvPr>
          <p:cNvPicPr>
            <a:picLocks noChangeAspect="1"/>
          </p:cNvPicPr>
          <p:nvPr/>
        </p:nvPicPr>
        <p:blipFill>
          <a:blip r:embed="Rbac56beee2da4509"/>
          <a:stretch/>
        </p:blipFill>
        <p:spPr>
          <a:xfrm>
            <a:off x="6089904" y="1496542"/>
            <a:ext cx="2331720" cy="3041957"/>
          </a:xfrm>
          <a:prstGeom prst="rect">
            <a:avLst/>
          </a:prstGeom>
        </p:spPr>
      </p:pic>
      <p:sp>
        <p:nvSpPr>
          <p:cNvPr id="22" name="已有价态证据&#10;250 °C / 0.5 MPa">
            <a:extLst>
              <a:ext uri="{FF2B5EF4-FFF2-40B4-BE49-F238E27FC236}">
                <a16:creationId xmlns:a16="http://schemas.microsoft.com/office/drawing/2014/main" id="{4D0C6BA6-97F2-4D7D-9484-A06C5A35B239}"/>
              </a:ext>
            </a:extLst>
          </p:cNvPr>
          <p:cNvSpPr>
            <a:spLocks noGrp="1"/>
          </p:cNvSpPr>
          <p:nvPr/>
        </p:nvSpPr>
        <p:spPr>
          <a:xfrm>
            <a:off x="8686800" y="1490472"/>
            <a:ext cx="2651760" cy="6766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已有价态证据</a:t>
            </a:r>
          </a:p>
          <a:p>
            <a:pPr algn="l">
              <a:def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250 °C / 0.5 MPa</a:t>
            </a:r>
          </a:p>
        </p:txBody>
      </p:sp>
      <p:sp>
        <p:nvSpPr>
          <p:cNvPr id="23" name="XANES：以 Cu⁰ 为主&#10;表面谱学：少量&#10;电正">
            <a:extLst>
              <a:ext uri="{FF2B5EF4-FFF2-40B4-BE49-F238E27FC236}">
                <a16:creationId xmlns:a16="http://schemas.microsoft.com/office/drawing/2014/main" id="{CF0C3218-B533-4462-ABD3-4BE4A2261C58}"/>
              </a:ext>
            </a:extLst>
          </p:cNvPr>
          <p:cNvSpPr>
            <a:spLocks noGrp="1"/>
          </p:cNvSpPr>
          <p:nvPr/>
        </p:nvSpPr>
        <p:spPr>
          <a:xfrm>
            <a:off x="8686800" y="2587752"/>
            <a:ext cx="2651760" cy="9418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XANES：以 Cu⁰ 为主</a:t>
            </a: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表面谱学：少量</a:t>
            </a: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电正性 Cu</a:t>
            </a:r>
          </a:p>
        </p:txBody>
      </p:sp>
      <p:sp>
        <p:nvSpPr>
          <p:cNvPr id="24" name="目标性能工况&#10;300 °C / 1.3–2.1 M">
            <a:extLst>
              <a:ext uri="{FF2B5EF4-FFF2-40B4-BE49-F238E27FC236}">
                <a16:creationId xmlns:a16="http://schemas.microsoft.com/office/drawing/2014/main" id="{0468DA22-A6B6-422D-A7D6-E218CCA83FFF}"/>
              </a:ext>
            </a:extLst>
          </p:cNvPr>
          <p:cNvSpPr>
            <a:spLocks noGrp="1"/>
          </p:cNvSpPr>
          <p:nvPr/>
        </p:nvSpPr>
        <p:spPr>
          <a:xfrm>
            <a:off x="8686800" y="4041648"/>
            <a:ext cx="2651760" cy="9509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目标性能工况</a:t>
            </a:r>
          </a:p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300 °C / 1.3–2.1 MPa</a:t>
            </a:r>
          </a:p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界面价态仍需验证</a:t>
            </a:r>
          </a:p>
        </p:txBody>
      </p:sp>
      <p:sp>
        <p:nvSpPr>
          <p:cNvPr id="25" name="Fig. 2G｜反应气氛 XANES">
            <a:extLst>
              <a:ext uri="{FF2B5EF4-FFF2-40B4-BE49-F238E27FC236}">
                <a16:creationId xmlns:a16="http://schemas.microsoft.com/office/drawing/2014/main" id="{4AE00693-F425-494F-BC67-0F54D833B0EE}"/>
              </a:ext>
            </a:extLst>
          </p:cNvPr>
          <p:cNvSpPr>
            <a:spLocks noGrp="1"/>
          </p:cNvSpPr>
          <p:nvPr/>
        </p:nvSpPr>
        <p:spPr>
          <a:xfrm>
            <a:off x="6053328" y="5285232"/>
            <a:ext cx="249631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Fig. 2G｜反应气氛 XANES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522BCB7D-BB9E-46B2-825F-37BC512A7DBC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7" name="核心缺口：目标工况下的界面 Cu 价态，是否影响乙">
            <a:extLst>
              <a:ext uri="{FF2B5EF4-FFF2-40B4-BE49-F238E27FC236}">
                <a16:creationId xmlns:a16="http://schemas.microsoft.com/office/drawing/2014/main" id="{B8836305-1E97-449F-8AFE-0834A0A8C3C5}"/>
              </a:ext>
            </a:extLst>
          </p:cNvPr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核心缺口：目标工况下的界面 Cu 价态，是否影响乙醇形成？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B0503020204020204" pitchFamily="34" charset="-122"/>
                  <a:ea typeface="Noto Serif CJK SC" panose="020B0503020204020204" pitchFamily="34" charset="-122"/>
                </a:rPr>
                <a:t>稀土依据</a:t>
              </a:r>
              <a:endParaRPr lang="zh-CN" b="1" dirty="0">
                <a:solidFill>
                  <a:schemeClr val="bg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endParaRPr>
            </a:p>
          </p:txBody>
        </p:sp>
      </p:grpSp>
      <p:sp>
        <p:nvSpPr>
          <p:cNvPr id="14" name="难还原 Cu 池：文献规律与外推边界">
            <a:extLst>
              <a:ext uri="{FF2B5EF4-FFF2-40B4-BE49-F238E27FC236}">
                <a16:creationId xmlns:a16="http://schemas.microsoft.com/office/drawing/2014/main" id="{0ADC3E12-A089-4647-913E-D6158D8575CB}"/>
              </a:ext>
            </a:extLst>
          </p:cNvPr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难还原 Cu 池：文献规律与外推边界</a:t>
            </a:r>
          </a:p>
        </p:txBody>
      </p:sp>
      <p:sp>
        <p:nvSpPr>
          <p:cNvPr id="15" name="[2] Zhang et al., Angew. ">
            <a:extLst>
              <a:ext uri="{FF2B5EF4-FFF2-40B4-BE49-F238E27FC236}">
                <a16:creationId xmlns:a16="http://schemas.microsoft.com/office/drawing/2014/main" id="{C719EE80-6B05-484E-AE16-D044A2E3F717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6527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[2] Zhang et al., Angew. Chem. Int. Ed. 2025, e202514920. Fig. 2d, 2h; Conclusion.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FE764450-0F53-41BF-99D6-78F6DD9E8427}"/>
              </a:ext>
            </a:extLst>
          </p:cNvPr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pic>
        <p:nvPicPr>
          <p:cNvPr id="17" name="">
            <a:extLst>
              <a:ext uri="{FF2B5EF4-FFF2-40B4-BE49-F238E27FC236}">
                <a16:creationId xmlns:a16="http://schemas.microsoft.com/office/drawing/2014/main" id="{24C383D7-8B19-47C5-B5F5-3415A651E176}"/>
              </a:ext>
            </a:extLst>
          </p:cNvPr>
          <p:cNvPicPr>
            <a:picLocks noChangeAspect="1"/>
          </p:cNvPicPr>
          <p:nvPr/>
        </p:nvPicPr>
        <p:blipFill>
          <a:blip r:embed="Rc70a36b477a44db2"/>
          <a:stretch/>
        </p:blipFill>
        <p:spPr>
          <a:xfrm>
            <a:off x="640080" y="1491357"/>
            <a:ext cx="2523744" cy="3317502"/>
          </a:xfrm>
          <a:prstGeom prst="rect">
            <a:avLst/>
          </a:prstGeom>
        </p:spPr>
      </p:pic>
      <p:pic>
        <p:nvPicPr>
          <p:cNvPr id="18" name="">
            <a:extLst>
              <a:ext uri="{FF2B5EF4-FFF2-40B4-BE49-F238E27FC236}">
                <a16:creationId xmlns:a16="http://schemas.microsoft.com/office/drawing/2014/main" id="{5A6341E2-ACE8-4526-957F-0EFFFCD24CA1}"/>
              </a:ext>
            </a:extLst>
          </p:cNvPr>
          <p:cNvPicPr>
            <a:picLocks noChangeAspect="1"/>
          </p:cNvPicPr>
          <p:nvPr/>
        </p:nvPicPr>
        <p:blipFill>
          <a:blip r:embed="Rda4b0e3184a14473"/>
          <a:stretch/>
        </p:blipFill>
        <p:spPr>
          <a:xfrm>
            <a:off x="3355960" y="1481328"/>
            <a:ext cx="2523521" cy="3337560"/>
          </a:xfrm>
          <a:prstGeom prst="rect">
            <a:avLst/>
          </a:prstGeom>
        </p:spPr>
      </p:pic>
      <p:sp>
        <p:nvSpPr>
          <p:cNvPr id="19" name="Cu-Y/Beta">
            <a:extLst>
              <a:ext uri="{FF2B5EF4-FFF2-40B4-BE49-F238E27FC236}">
                <a16:creationId xmlns:a16="http://schemas.microsoft.com/office/drawing/2014/main" id="{0CDF1271-C64E-4A48-8B9D-98D2D6687C7F}"/>
              </a:ext>
            </a:extLst>
          </p:cNvPr>
          <p:cNvSpPr>
            <a:spLocks noGrp="1"/>
          </p:cNvSpPr>
          <p:nvPr/>
        </p:nvSpPr>
        <p:spPr>
          <a:xfrm>
            <a:off x="713232" y="1005840"/>
            <a:ext cx="2340864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Cu-Y/Beta</a:t>
            </a:r>
          </a:p>
        </p:txBody>
      </p:sp>
      <p:sp>
        <p:nvSpPr>
          <p:cNvPr id="20" name="Cu-Beta">
            <a:extLst>
              <a:ext uri="{FF2B5EF4-FFF2-40B4-BE49-F238E27FC236}">
                <a16:creationId xmlns:a16="http://schemas.microsoft.com/office/drawing/2014/main" id="{3609214E-DAF5-4D89-BCE8-A9BDB21298FB}"/>
              </a:ext>
            </a:extLst>
          </p:cNvPr>
          <p:cNvSpPr>
            <a:spLocks noGrp="1"/>
          </p:cNvSpPr>
          <p:nvPr/>
        </p:nvSpPr>
        <p:spPr>
          <a:xfrm>
            <a:off x="3465576" y="1005840"/>
            <a:ext cx="2313432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Cu-Beta</a:t>
            </a:r>
          </a:p>
        </p:txBody>
      </p:sp>
      <p:sp>
        <p:nvSpPr>
          <p:cNvPr id="21" name="Fig. 2d / 2h｜Y = 6 wt%；35">
            <a:extLst>
              <a:ext uri="{FF2B5EF4-FFF2-40B4-BE49-F238E27FC236}">
                <a16:creationId xmlns:a16="http://schemas.microsoft.com/office/drawing/2014/main" id="{0492AC7B-C77F-4CFC-80B1-2C5AF20D533C}"/>
              </a:ext>
            </a:extLst>
          </p:cNvPr>
          <p:cNvSpPr>
            <a:spLocks noGrp="1"/>
          </p:cNvSpPr>
          <p:nvPr/>
        </p:nvSpPr>
        <p:spPr>
          <a:xfrm>
            <a:off x="731520" y="4901184"/>
            <a:ext cx="5038344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Fig. 2d / 2h｜Y = 6 wt%；350 °C，纯 H₂</a:t>
            </a:r>
          </a:p>
        </p:txBody>
      </p:sp>
      <p:sp>
        <p:nvSpPr>
          <p:cNvPr id="22" name="文献实测：Cu(I) ≈0.4–0.5 wt%">
            <a:extLst>
              <a:ext uri="{FF2B5EF4-FFF2-40B4-BE49-F238E27FC236}">
                <a16:creationId xmlns:a16="http://schemas.microsoft.com/office/drawing/2014/main" id="{15EE73A5-901B-44B7-BEAA-95D3230ADA23}"/>
              </a:ext>
            </a:extLst>
          </p:cNvPr>
          <p:cNvSpPr>
            <a:spLocks noGrp="1"/>
          </p:cNvSpPr>
          <p:nvPr/>
        </p:nvSpPr>
        <p:spPr>
          <a:xfrm>
            <a:off x="6391656" y="1097280"/>
            <a:ext cx="5111496" cy="4480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文献实测：Cu(I) ≈0.4–0.5 wt%</a:t>
            </a:r>
          </a:p>
        </p:txBody>
      </p:sp>
      <p:sp>
        <p:nvSpPr>
          <p:cNvPr id="23" name="该数值为占催化剂总质量的含量。&#10;仅在原文固定 Y、">
            <a:extLst>
              <a:ext uri="{FF2B5EF4-FFF2-40B4-BE49-F238E27FC236}">
                <a16:creationId xmlns:a16="http://schemas.microsoft.com/office/drawing/2014/main" id="{854DAEA3-3962-415D-800A-98146F1A7C94}"/>
              </a:ext>
            </a:extLst>
          </p:cNvPr>
          <p:cNvSpPr>
            <a:spLocks noGrp="1"/>
          </p:cNvSpPr>
          <p:nvPr/>
        </p:nvSpPr>
        <p:spPr>
          <a:xfrm>
            <a:off x="6400800" y="1728216"/>
            <a:ext cx="5029200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该数值为占催化剂总质量的含量。</a:t>
            </a:r>
          </a:p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仅在原文固定 Y、脱铝 Beta 系列验证。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39CDB06C-569B-4789-A57C-AFC742E9DE78}"/>
              </a:ext>
            </a:extLst>
          </p:cNvPr>
          <p:cNvSpPr>
            <a:spLocks noGrp="1"/>
          </p:cNvSpPr>
          <p:nvPr/>
        </p:nvSpPr>
        <p:spPr>
          <a:xfrm>
            <a:off x="6391656" y="2798064"/>
            <a:ext cx="5038344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5" name="据此设计：低 Cu 主线，高 Cu 对标">
            <a:extLst>
              <a:ext uri="{FF2B5EF4-FFF2-40B4-BE49-F238E27FC236}">
                <a16:creationId xmlns:a16="http://schemas.microsoft.com/office/drawing/2014/main" id="{A04C7090-9260-4C2C-88AD-7892633CEEEF}"/>
              </a:ext>
            </a:extLst>
          </p:cNvPr>
          <p:cNvSpPr>
            <a:spLocks noGrp="1"/>
          </p:cNvSpPr>
          <p:nvPr/>
        </p:nvSpPr>
        <p:spPr>
          <a:xfrm>
            <a:off x="6391656" y="2990088"/>
            <a:ext cx="5038344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据此设计：低 Cu 主线，高 Cu 对标</a:t>
            </a:r>
          </a:p>
        </p:txBody>
      </p:sp>
      <p:sp>
        <p:nvSpPr>
          <p:cNvPr id="26" name="低 Cu：扩大可检验的价态差异&#10;高 Cu：验证容量">
            <a:extLst>
              <a:ext uri="{FF2B5EF4-FFF2-40B4-BE49-F238E27FC236}">
                <a16:creationId xmlns:a16="http://schemas.microsoft.com/office/drawing/2014/main" id="{5471FDB6-2740-43BC-BC9A-511087EF0AB0}"/>
              </a:ext>
            </a:extLst>
          </p:cNvPr>
          <p:cNvSpPr>
            <a:spLocks noGrp="1"/>
          </p:cNvSpPr>
          <p:nvPr/>
        </p:nvSpPr>
        <p:spPr>
          <a:xfrm>
            <a:off x="6400800" y="3648456"/>
            <a:ext cx="5010912" cy="8138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低 Cu：扩大可检验的价态差异</a:t>
            </a: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高 Cu：验证容量规律能否迁移</a:t>
            </a:r>
          </a:p>
        </p:txBody>
      </p:sp>
      <p:sp>
        <p:nvSpPr>
          <p:cNvPr id="27" name="遇乙醇后 Cu(I) 可继续还原，&#10;不能将“难还原">
            <a:extLst>
              <a:ext uri="{FF2B5EF4-FFF2-40B4-BE49-F238E27FC236}">
                <a16:creationId xmlns:a16="http://schemas.microsoft.com/office/drawing/2014/main" id="{14C442C3-5B70-4F97-829B-1DBB474F4C21}"/>
              </a:ext>
            </a:extLst>
          </p:cNvPr>
          <p:cNvSpPr>
            <a:spLocks noGrp="1"/>
          </p:cNvSpPr>
          <p:nvPr/>
        </p:nvSpPr>
        <p:spPr>
          <a:xfrm>
            <a:off x="6400800" y="4754880"/>
            <a:ext cx="5010912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rPr>
              <a:t>遇乙醇后 Cu(I) 可继续还原，</a:t>
            </a:r>
          </a:p>
          <a:p>
            <a: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rPr>
              <a:t>不能将“难还原”写成“工况锁定”。</a:t>
            </a:r>
          </a:p>
        </p:txBody>
      </p:sp>
      <p:sp>
        <p:nvSpPr>
          <p:cNvPr id="28" name="假设容量为 0.45 wt%：Cu 0.4 / 1">
            <a:extLst>
              <a:ext uri="{FF2B5EF4-FFF2-40B4-BE49-F238E27FC236}">
                <a16:creationId xmlns:a16="http://schemas.microsoft.com/office/drawing/2014/main" id="{AE734C68-FD64-47AA-892E-07BF8A6AC4E3}"/>
              </a:ext>
            </a:extLst>
          </p:cNvPr>
          <p:cNvSpPr>
            <a:spLocks noGrp="1"/>
          </p:cNvSpPr>
          <p:nvPr/>
        </p:nvSpPr>
        <p:spPr>
          <a:xfrm>
            <a:off x="749808" y="5495544"/>
            <a:ext cx="106527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3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假设容量为 0.45 wt%：Cu 0.4 / 1 / 2 / 8.24 wt% → f(Cu⁺) ≈100 / 45 / 22.5 / 5.5%（待检验）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CF16F1F3-949B-4E6F-B7BF-548E61118189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0" name="Y 6 wt% 是文献对齐的起点；封顶量、检出限和">
            <a:extLst>
              <a:ext uri="{FF2B5EF4-FFF2-40B4-BE49-F238E27FC236}">
                <a16:creationId xmlns:a16="http://schemas.microsoft.com/office/drawing/2014/main" id="{7AC6ED38-5491-4E7E-A2B4-6950882DEEAF}"/>
              </a:ext>
            </a:extLst>
          </p:cNvPr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Y 6 wt% 是文献对齐的起点；封顶量、检出限和工况稳定性均需本体系验证。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B0503020204020204" pitchFamily="34" charset="-122"/>
                  <a:ea typeface="Noto Serif CJK SC" panose="020B0503020204020204" pitchFamily="34" charset="-122"/>
                </a:rPr>
                <a:t>科学问题</a:t>
              </a:r>
              <a:endParaRPr lang="zh-CN" b="1" dirty="0">
                <a:solidFill>
                  <a:schemeClr val="bg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endParaRPr>
            </a:p>
          </p:txBody>
        </p:sp>
      </p:grpSp>
      <p:sp>
        <p:nvSpPr>
          <p:cNvPr id="14" name="科学问题与界面谱学判据">
            <a:extLst>
              <a:ext uri="{FF2B5EF4-FFF2-40B4-BE49-F238E27FC236}">
                <a16:creationId xmlns:a16="http://schemas.microsoft.com/office/drawing/2014/main" id="{14A5EC75-FDCC-4579-84B0-21B6EB9BEAEB}"/>
              </a:ext>
            </a:extLst>
          </p:cNvPr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科学问题与界面谱学判据</a:t>
            </a:r>
          </a:p>
        </p:txBody>
      </p:sp>
      <p:sp>
        <p:nvSpPr>
          <p:cNvPr id="15" name="[2] Angew. Chem. Int. Ed.">
            <a:extLst>
              <a:ext uri="{FF2B5EF4-FFF2-40B4-BE49-F238E27FC236}">
                <a16:creationId xmlns:a16="http://schemas.microsoft.com/office/drawing/2014/main" id="{9987899B-E074-4A25-A60A-D8F2110AFDD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6527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[2] Angew. Chem. Int. Ed. 2025. Fig. 1d（低温 CO 探针谱）；右侧为拟开展判据。</a:t>
            </a:r>
          </a:p>
        </p:txBody>
      </p:sp>
      <p:sp>
        <p:nvSpPr>
          <p:cNvPr id="16" name="4">
            <a:extLst>
              <a:ext uri="{FF2B5EF4-FFF2-40B4-BE49-F238E27FC236}">
                <a16:creationId xmlns:a16="http://schemas.microsoft.com/office/drawing/2014/main" id="{5D4058D2-AA2A-4662-A8E4-AAAD690AC5E1}"/>
              </a:ext>
            </a:extLst>
          </p:cNvPr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4</a:t>
            </a:r>
          </a:p>
        </p:txBody>
      </p:sp>
      <p:pic>
        <p:nvPicPr>
          <p:cNvPr id="17" name="">
            <a:extLst>
              <a:ext uri="{FF2B5EF4-FFF2-40B4-BE49-F238E27FC236}">
                <a16:creationId xmlns:a16="http://schemas.microsoft.com/office/drawing/2014/main" id="{1D1284F7-155C-43EE-9FB4-3275251C2431}"/>
              </a:ext>
            </a:extLst>
          </p:cNvPr>
          <p:cNvPicPr>
            <a:picLocks noChangeAspect="1"/>
          </p:cNvPicPr>
          <p:nvPr/>
        </p:nvPicPr>
        <p:blipFill>
          <a:blip r:embed="R76fa00c9cbd34ca0"/>
          <a:stretch/>
        </p:blipFill>
        <p:spPr>
          <a:xfrm>
            <a:off x="694453" y="1335024"/>
            <a:ext cx="3109942" cy="3767328"/>
          </a:xfrm>
          <a:prstGeom prst="rect">
            <a:avLst/>
          </a:prstGeom>
        </p:spPr>
      </p:pic>
      <p:sp>
        <p:nvSpPr>
          <p:cNvPr id="18" name="2137：Cu(I)；2194：Y 相关峰&#10;原文 ">
            <a:extLst>
              <a:ext uri="{FF2B5EF4-FFF2-40B4-BE49-F238E27FC236}">
                <a16:creationId xmlns:a16="http://schemas.microsoft.com/office/drawing/2014/main" id="{242A2763-C9BB-49AE-9B72-5964538F8D02}"/>
              </a:ext>
            </a:extLst>
          </p:cNvPr>
          <p:cNvSpPr>
            <a:spLocks noGrp="1"/>
          </p:cNvSpPr>
          <p:nvPr/>
        </p:nvSpPr>
        <p:spPr>
          <a:xfrm>
            <a:off x="594360" y="5193792"/>
            <a:ext cx="3474720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5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15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5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2137：Cu(I)；2194：Y 相关峰</a:t>
            </a:r>
          </a:p>
          <a:p>
            <a:pPr algn="ctr">
              <a:defRPr sz="115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5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原文 −100 °C 探针谱，非目标工况</a:t>
            </a:r>
          </a:p>
        </p:txBody>
      </p:sp>
      <p:sp>
        <p:nvSpPr>
          <p:cNvPr id="19" name="SQ1">
            <a:extLst>
              <a:ext uri="{FF2B5EF4-FFF2-40B4-BE49-F238E27FC236}">
                <a16:creationId xmlns:a16="http://schemas.microsoft.com/office/drawing/2014/main" id="{E185E688-5D40-427E-B226-E385B736E535}"/>
              </a:ext>
            </a:extLst>
          </p:cNvPr>
          <p:cNvSpPr>
            <a:spLocks noGrp="1"/>
          </p:cNvSpPr>
          <p:nvPr/>
        </p:nvSpPr>
        <p:spPr>
          <a:xfrm>
            <a:off x="4288536" y="1216152"/>
            <a:ext cx="74066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SQ1</a:t>
            </a:r>
          </a:p>
        </p:txBody>
      </p:sp>
      <p:sp>
        <p:nvSpPr>
          <p:cNvPr id="20" name="存在性：工况下是否可调？">
            <a:extLst>
              <a:ext uri="{FF2B5EF4-FFF2-40B4-BE49-F238E27FC236}">
                <a16:creationId xmlns:a16="http://schemas.microsoft.com/office/drawing/2014/main" id="{A93F94E5-69D7-49ED-86AD-8B2D30C7EC5B}"/>
              </a:ext>
            </a:extLst>
          </p:cNvPr>
          <p:cNvSpPr>
            <a:spLocks noGrp="1"/>
          </p:cNvSpPr>
          <p:nvPr/>
        </p:nvSpPr>
        <p:spPr>
          <a:xfrm>
            <a:off x="5166360" y="1216152"/>
            <a:ext cx="630021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存在性：工况下是否可调？</a:t>
            </a:r>
          </a:p>
        </p:txBody>
      </p:sp>
      <p:sp>
        <p:nvSpPr>
          <p:cNvPr id="21" name="同 Cu 载量，有／无 Y 成对比较；&#10;拟定筛选：">
            <a:extLst>
              <a:ext uri="{FF2B5EF4-FFF2-40B4-BE49-F238E27FC236}">
                <a16:creationId xmlns:a16="http://schemas.microsoft.com/office/drawing/2014/main" id="{7A19D489-782F-46DC-84F8-3F7F56C3D9B4}"/>
              </a:ext>
            </a:extLst>
          </p:cNvPr>
          <p:cNvSpPr>
            <a:spLocks noGrp="1"/>
          </p:cNvSpPr>
          <p:nvPr/>
        </p:nvSpPr>
        <p:spPr>
          <a:xfrm>
            <a:off x="5166360" y="1783080"/>
            <a:ext cx="6153912" cy="7955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同 Cu 载量，有／无 Y 成对比较；</a:t>
            </a: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拟定筛选：重复 n≥3，差异 &gt;10%。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7CCD3C42-4AB8-4F13-8A85-9739A8E1A582}"/>
              </a:ext>
            </a:extLst>
          </p:cNvPr>
          <p:cNvSpPr>
            <a:spLocks noGrp="1"/>
          </p:cNvSpPr>
          <p:nvPr/>
        </p:nvSpPr>
        <p:spPr>
          <a:xfrm>
            <a:off x="4306824" y="2633472"/>
            <a:ext cx="7141464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3" name="SQ2">
            <a:extLst>
              <a:ext uri="{FF2B5EF4-FFF2-40B4-BE49-F238E27FC236}">
                <a16:creationId xmlns:a16="http://schemas.microsoft.com/office/drawing/2014/main" id="{DE9159E4-0DAB-46A1-A69C-5554D0BEBB05}"/>
              </a:ext>
            </a:extLst>
          </p:cNvPr>
          <p:cNvSpPr>
            <a:spLocks noGrp="1"/>
          </p:cNvSpPr>
          <p:nvPr/>
        </p:nvSpPr>
        <p:spPr>
          <a:xfrm>
            <a:off x="4288536" y="2752344"/>
            <a:ext cx="74066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SQ2</a:t>
            </a:r>
          </a:p>
        </p:txBody>
      </p:sp>
      <p:sp>
        <p:nvSpPr>
          <p:cNvPr id="24" name="构效关系：是否关联性能？">
            <a:extLst>
              <a:ext uri="{FF2B5EF4-FFF2-40B4-BE49-F238E27FC236}">
                <a16:creationId xmlns:a16="http://schemas.microsoft.com/office/drawing/2014/main" id="{22824F2F-BCCD-4CAC-987F-7EBCC16E3A16}"/>
              </a:ext>
            </a:extLst>
          </p:cNvPr>
          <p:cNvSpPr>
            <a:spLocks noGrp="1"/>
          </p:cNvSpPr>
          <p:nvPr/>
        </p:nvSpPr>
        <p:spPr>
          <a:xfrm>
            <a:off x="5166360" y="2752344"/>
            <a:ext cx="630021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构效关系：是否关联性能？</a:t>
            </a:r>
          </a:p>
        </p:txBody>
      </p:sp>
      <p:sp>
        <p:nvSpPr>
          <p:cNvPr id="25" name="≥3 个可分辨界面 Cu⁺ 水平；&#10;比较乙醇碳选择">
            <a:extLst>
              <a:ext uri="{FF2B5EF4-FFF2-40B4-BE49-F238E27FC236}">
                <a16:creationId xmlns:a16="http://schemas.microsoft.com/office/drawing/2014/main" id="{F9697CA9-FF43-4217-B7EA-D17091CD8E6A}"/>
              </a:ext>
            </a:extLst>
          </p:cNvPr>
          <p:cNvSpPr>
            <a:spLocks noGrp="1"/>
          </p:cNvSpPr>
          <p:nvPr/>
        </p:nvSpPr>
        <p:spPr>
          <a:xfrm>
            <a:off x="5166360" y="3319272"/>
            <a:ext cx="6153912" cy="7955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≥3 个可分辨界面 Cu⁺ 水平；</a:t>
            </a: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比较乙醇碳选择性与表面 Cu 归一速率。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09D349CF-39FF-41F7-884B-24FC4CECEE01}"/>
              </a:ext>
            </a:extLst>
          </p:cNvPr>
          <p:cNvSpPr>
            <a:spLocks noGrp="1"/>
          </p:cNvSpPr>
          <p:nvPr/>
        </p:nvSpPr>
        <p:spPr>
          <a:xfrm>
            <a:off x="4306824" y="4169664"/>
            <a:ext cx="7141464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7" name="SQ3">
            <a:extLst>
              <a:ext uri="{FF2B5EF4-FFF2-40B4-BE49-F238E27FC236}">
                <a16:creationId xmlns:a16="http://schemas.microsoft.com/office/drawing/2014/main" id="{28C6F4DB-C321-4F71-8294-4DF3FC36F8B1}"/>
              </a:ext>
            </a:extLst>
          </p:cNvPr>
          <p:cNvSpPr>
            <a:spLocks noGrp="1"/>
          </p:cNvSpPr>
          <p:nvPr/>
        </p:nvSpPr>
        <p:spPr>
          <a:xfrm>
            <a:off x="4288536" y="4288536"/>
            <a:ext cx="74066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SQ3</a:t>
            </a:r>
          </a:p>
        </p:txBody>
      </p:sp>
      <p:sp>
        <p:nvSpPr>
          <p:cNvPr id="28" name="作用步骤：影响哪一步？">
            <a:extLst>
              <a:ext uri="{FF2B5EF4-FFF2-40B4-BE49-F238E27FC236}">
                <a16:creationId xmlns:a16="http://schemas.microsoft.com/office/drawing/2014/main" id="{2650F61C-0AE9-4211-A341-74E76C9CFB41}"/>
              </a:ext>
            </a:extLst>
          </p:cNvPr>
          <p:cNvSpPr>
            <a:spLocks noGrp="1"/>
          </p:cNvSpPr>
          <p:nvPr/>
        </p:nvSpPr>
        <p:spPr>
          <a:xfrm>
            <a:off x="5166360" y="4288536"/>
            <a:ext cx="6300216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作用步骤：影响哪一步？</a:t>
            </a:r>
          </a:p>
        </p:txBody>
      </p:sp>
      <p:sp>
        <p:nvSpPr>
          <p:cNvPr id="29" name="区分 CH₃* 生成、C–C 偶联&#10;及 CH₃CO">
            <a:extLst>
              <a:ext uri="{FF2B5EF4-FFF2-40B4-BE49-F238E27FC236}">
                <a16:creationId xmlns:a16="http://schemas.microsoft.com/office/drawing/2014/main" id="{6ED7B76A-808D-42AA-9476-8598984D25BE}"/>
              </a:ext>
            </a:extLst>
          </p:cNvPr>
          <p:cNvSpPr>
            <a:spLocks noGrp="1"/>
          </p:cNvSpPr>
          <p:nvPr/>
        </p:nvSpPr>
        <p:spPr>
          <a:xfrm>
            <a:off x="5166360" y="4855464"/>
            <a:ext cx="6153912" cy="7955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区分 CH₃* 生成、C–C 偶联</a:t>
            </a: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及 CH₃COO* 后续加氢。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4C84A902-240E-4F16-A53A-41491DEEE15D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1" name="主判据：扣 Y 背景并按表面 Cu 归一；未经校准">
            <a:extLst>
              <a:ext uri="{FF2B5EF4-FFF2-40B4-BE49-F238E27FC236}">
                <a16:creationId xmlns:a16="http://schemas.microsoft.com/office/drawing/2014/main" id="{581E989C-459D-451A-9318-19242A8D1E29}"/>
              </a:ext>
            </a:extLst>
          </p:cNvPr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6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主判据：扣 Y 背景并按表面 Cu 归一；未经校准，不将 CO 峰比等同于绝对覆盖率。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B0503020204020204" pitchFamily="34" charset="-122"/>
                  <a:ea typeface="Noto Serif CJK SC" panose="020B0503020204020204" pitchFamily="34" charset="-122"/>
                </a:rPr>
                <a:t>样品设计</a:t>
              </a:r>
              <a:endParaRPr lang="zh-CN" b="1" dirty="0">
                <a:solidFill>
                  <a:schemeClr val="bg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endParaRPr>
            </a:p>
          </p:txBody>
        </p:sp>
      </p:grpSp>
      <p:sp>
        <p:nvSpPr>
          <p:cNvPr id="14" name="样品矩阵与成对对照">
            <a:extLst>
              <a:ext uri="{FF2B5EF4-FFF2-40B4-BE49-F238E27FC236}">
                <a16:creationId xmlns:a16="http://schemas.microsoft.com/office/drawing/2014/main" id="{277D284E-4509-442F-B5EE-AEFC389AF23B}"/>
              </a:ext>
            </a:extLst>
          </p:cNvPr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样品矩阵与成对对照</a:t>
            </a:r>
          </a:p>
        </p:txBody>
      </p:sp>
      <p:sp>
        <p:nvSpPr>
          <p:cNvPr id="15" name="拟开展工作｜金属质量分数为目标值，最终以 ICP ">
            <a:extLst>
              <a:ext uri="{FF2B5EF4-FFF2-40B4-BE49-F238E27FC236}">
                <a16:creationId xmlns:a16="http://schemas.microsoft.com/office/drawing/2014/main" id="{13F85A1C-8BF7-4E71-A9CE-7BBDB444720C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6527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拟开展工作｜金属质量分数为目标值，最终以 ICP 等实测值为准。</a:t>
            </a:r>
          </a:p>
        </p:txBody>
      </p:sp>
      <p:sp>
        <p:nvSpPr>
          <p:cNvPr id="16" name="5">
            <a:extLst>
              <a:ext uri="{FF2B5EF4-FFF2-40B4-BE49-F238E27FC236}">
                <a16:creationId xmlns:a16="http://schemas.microsoft.com/office/drawing/2014/main" id="{FD8E61BE-3CBC-4634-87D7-781C85C72373}"/>
              </a:ext>
            </a:extLst>
          </p:cNvPr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5</a:t>
            </a:r>
          </a:p>
        </p:txBody>
      </p:sp>
      <p:sp>
        <p:nvSpPr>
          <p:cNvPr id="17" name="11 种配方；首轮计划 12 釜（S0 独立重复两">
            <a:extLst>
              <a:ext uri="{FF2B5EF4-FFF2-40B4-BE49-F238E27FC236}">
                <a16:creationId xmlns:a16="http://schemas.microsoft.com/office/drawing/2014/main" id="{7AC6AF2A-B87D-4699-8212-03A9B0AF8599}"/>
              </a:ext>
            </a:extLst>
          </p:cNvPr>
          <p:cNvSpPr>
            <a:spLocks noGrp="1"/>
          </p:cNvSpPr>
          <p:nvPr/>
        </p:nvSpPr>
        <p:spPr>
          <a:xfrm>
            <a:off x="685800" y="1042416"/>
            <a:ext cx="10799064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11 种配方；首轮计划 12 釜（S0 独立重复两釜）</a:t>
            </a:r>
          </a:p>
        </p:txBody>
      </p:sp>
      <p:graphicFrame>
        <p:nvGraphicFramePr>
          <p:cNvPr id="18" name="">
            <a:extLst>
              <a:ext uri="{FF2B5EF4-FFF2-40B4-BE49-F238E27FC236}">
                <a16:creationId xmlns:a16="http://schemas.microsoft.com/office/drawing/2014/main" id="{5328BEBA-8434-41FE-937C-925A296384C3}"/>
              </a:ext>
            </a:extLst>
          </p:cNvPr>
          <p:cNvGraphicFramePr/>
          <p:nvPr/>
        </p:nvGraphicFramePr>
        <p:xfrm>
          <a:off x="694944" y="1764792"/>
          <a:ext cx="10771632" cy="3456432"/>
        </p:xfrm>
        <a:graphic>
          <a:graphicData uri="http://schemas.openxmlformats.org/drawingml/2006/table">
            <a:tbl>
              <a:tblPr/>
              <a:tblGrid>
                <a:gridCol w="1344168"/>
                <a:gridCol w="2322576"/>
                <a:gridCol w="2450592"/>
                <a:gridCol w="4654296"/>
              </a:tblGrid>
              <a:tr h="493776"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组别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Cu / wt%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稀土 / wt%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</a:tr>
              <a:tr h="493776"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A1–A3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0.4 / 1.0 / 2.0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Y 6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主系列：检验界面电子态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B1–B3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0.4 / 1.0 / 2.0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与 A 系列同载量配对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</a:tr>
              <a:tr h="493776"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S5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Y 6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CO 背景；孔结构／酸性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S0 / P1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8.24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无 / Y 6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原文基线／高 Cu 对标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</a:tr>
              <a:tr h="493776"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L1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La 9.4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与 Y 6 近似等摩尔对照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X1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8.24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Y 6（晶外）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位置与接触方式对照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9" name="比较前匹配 Cu 配位／粒径、孔结构与酸性；低 C">
            <a:extLst>
              <a:ext uri="{FF2B5EF4-FFF2-40B4-BE49-F238E27FC236}">
                <a16:creationId xmlns:a16="http://schemas.microsoft.com/office/drawing/2014/main" id="{6EA379C5-2026-42CC-87D2-24E67847278E}"/>
              </a:ext>
            </a:extLst>
          </p:cNvPr>
          <p:cNvSpPr>
            <a:spLocks noGrp="1"/>
          </p:cNvSpPr>
          <p:nvPr/>
        </p:nvSpPr>
        <p:spPr>
          <a:xfrm>
            <a:off x="749808" y="5458968"/>
            <a:ext cx="1069848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6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比较前匹配 Cu 配位／粒径、孔结构与酸性；低 Cu 成对比较也不能预设几何相同。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938BAA5-5BC9-4278-9A73-ED7D62D50401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1" name="低 Cu 系列回答科学问题；高 Cu 系列对照文献">
            <a:extLst>
              <a:ext uri="{FF2B5EF4-FFF2-40B4-BE49-F238E27FC236}">
                <a16:creationId xmlns:a16="http://schemas.microsoft.com/office/drawing/2014/main" id="{C1C40C4C-8BE0-49DB-9B43-9B656808DF2E}"/>
              </a:ext>
            </a:extLst>
          </p:cNvPr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低 Cu 系列回答科学问题；高 Cu 系列对照文献性能并检验容量外推。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B0503020204020204" pitchFamily="34" charset="-122"/>
                  <a:ea typeface="Noto Serif CJK SC" panose="020B0503020204020204" pitchFamily="34" charset="-122"/>
                </a:rPr>
                <a:t>合成路线</a:t>
              </a:r>
              <a:endParaRPr lang="zh-CN" b="1" dirty="0">
                <a:solidFill>
                  <a:schemeClr val="bg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endParaRPr>
            </a:p>
          </p:txBody>
        </p:sp>
      </p:grpSp>
      <p:sp>
        <p:nvSpPr>
          <p:cNvPr id="14" name="拟定合成路线与结构核验">
            <a:extLst>
              <a:ext uri="{FF2B5EF4-FFF2-40B4-BE49-F238E27FC236}">
                <a16:creationId xmlns:a16="http://schemas.microsoft.com/office/drawing/2014/main" id="{39D998BB-AE9A-439C-944E-27F26CBBC3C2}"/>
              </a:ext>
            </a:extLst>
          </p:cNvPr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拟定合成路线与结构核验</a:t>
            </a:r>
          </a:p>
        </p:txBody>
      </p:sp>
      <p:sp>
        <p:nvSpPr>
          <p:cNvPr id="15" name="合成参数据《立项逻辑_最终版》；配方为拟实施方案，">
            <a:extLst>
              <a:ext uri="{FF2B5EF4-FFF2-40B4-BE49-F238E27FC236}">
                <a16:creationId xmlns:a16="http://schemas.microsoft.com/office/drawing/2014/main" id="{AC7C1214-D62F-43D9-915A-AEC5F62172AA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6527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合成参数据《立项逻辑_最终版》；配方为拟实施方案，晶内分布及近邻结构须实测确认。</a:t>
            </a:r>
          </a:p>
        </p:txBody>
      </p:sp>
      <p:sp>
        <p:nvSpPr>
          <p:cNvPr id="16" name="6">
            <a:extLst>
              <a:ext uri="{FF2B5EF4-FFF2-40B4-BE49-F238E27FC236}">
                <a16:creationId xmlns:a16="http://schemas.microsoft.com/office/drawing/2014/main" id="{F9E75AAD-FEBE-4651-BBE4-C0C64808E613}"/>
              </a:ext>
            </a:extLst>
          </p:cNvPr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6</a:t>
            </a:r>
          </a:p>
        </p:txBody>
      </p:sp>
      <p:sp>
        <p:nvSpPr>
          <p:cNvPr id="17" name="1">
            <a:extLst>
              <a:ext uri="{FF2B5EF4-FFF2-40B4-BE49-F238E27FC236}">
                <a16:creationId xmlns:a16="http://schemas.microsoft.com/office/drawing/2014/main" id="{423CED54-A9F0-4EA8-A325-847A4EAC7B2D}"/>
              </a:ext>
            </a:extLst>
          </p:cNvPr>
          <p:cNvSpPr>
            <a:spLocks noGrp="1"/>
          </p:cNvSpPr>
          <p:nvPr/>
        </p:nvSpPr>
        <p:spPr>
          <a:xfrm>
            <a:off x="768096" y="1234440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18" name="碱处理与载 Cu">
            <a:extLst>
              <a:ext uri="{FF2B5EF4-FFF2-40B4-BE49-F238E27FC236}">
                <a16:creationId xmlns:a16="http://schemas.microsoft.com/office/drawing/2014/main" id="{35A9EE5D-4AD2-4A5F-8F6A-EE4631680E03}"/>
              </a:ext>
            </a:extLst>
          </p:cNvPr>
          <p:cNvSpPr>
            <a:spLocks noGrp="1"/>
          </p:cNvSpPr>
          <p:nvPr/>
        </p:nvSpPr>
        <p:spPr>
          <a:xfrm>
            <a:off x="1472184" y="1234440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碱处理与载 Cu</a:t>
            </a:r>
          </a:p>
        </p:txBody>
      </p:sp>
      <p:sp>
        <p:nvSpPr>
          <p:cNvPr id="19" name="Na-Beta / NaOH：65 °C，30 m">
            <a:extLst>
              <a:ext uri="{FF2B5EF4-FFF2-40B4-BE49-F238E27FC236}">
                <a16:creationId xmlns:a16="http://schemas.microsoft.com/office/drawing/2014/main" id="{95277CD6-56F7-402F-AF4D-61D7C42861FB}"/>
              </a:ext>
            </a:extLst>
          </p:cNvPr>
          <p:cNvSpPr>
            <a:spLocks noGrp="1"/>
          </p:cNvSpPr>
          <p:nvPr/>
        </p:nvSpPr>
        <p:spPr>
          <a:xfrm>
            <a:off x="1490472" y="1709928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Na-Beta / NaOH：65 °C，30 min</a:t>
            </a: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Cu(NO₃)₂ 浸渍；450 °C，3 h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457B195-652B-4C59-B12E-A09C593D687B}"/>
              </a:ext>
            </a:extLst>
          </p:cNvPr>
          <p:cNvSpPr>
            <a:spLocks noGrp="1"/>
          </p:cNvSpPr>
          <p:nvPr/>
        </p:nvSpPr>
        <p:spPr>
          <a:xfrm>
            <a:off x="777240" y="2340864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1" name="2">
            <a:extLst>
              <a:ext uri="{FF2B5EF4-FFF2-40B4-BE49-F238E27FC236}">
                <a16:creationId xmlns:a16="http://schemas.microsoft.com/office/drawing/2014/main" id="{45CAD943-1150-4275-9949-89D0E51621BE}"/>
              </a:ext>
            </a:extLst>
          </p:cNvPr>
          <p:cNvSpPr>
            <a:spLocks noGrp="1"/>
          </p:cNvSpPr>
          <p:nvPr/>
        </p:nvSpPr>
        <p:spPr>
          <a:xfrm>
            <a:off x="768096" y="2395728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22" name="壳凝胶引入稀土">
            <a:extLst>
              <a:ext uri="{FF2B5EF4-FFF2-40B4-BE49-F238E27FC236}">
                <a16:creationId xmlns:a16="http://schemas.microsoft.com/office/drawing/2014/main" id="{42F0392E-3085-4485-9DE0-900517064A4D}"/>
              </a:ext>
            </a:extLst>
          </p:cNvPr>
          <p:cNvSpPr>
            <a:spLocks noGrp="1"/>
          </p:cNvSpPr>
          <p:nvPr/>
        </p:nvSpPr>
        <p:spPr>
          <a:xfrm>
            <a:off x="1472184" y="2395728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壳凝胶引入稀土</a:t>
            </a:r>
          </a:p>
        </p:txBody>
      </p:sp>
      <p:sp>
        <p:nvSpPr>
          <p:cNvPr id="23" name="加入 Y／La 硝酸盐&#10;60–90 °C 浓缩；约">
            <a:extLst>
              <a:ext uri="{FF2B5EF4-FFF2-40B4-BE49-F238E27FC236}">
                <a16:creationId xmlns:a16="http://schemas.microsoft.com/office/drawing/2014/main" id="{8F314C9C-AC64-4F42-9412-AB2DD0814559}"/>
              </a:ext>
            </a:extLst>
          </p:cNvPr>
          <p:cNvSpPr>
            <a:spLocks noGrp="1"/>
          </p:cNvSpPr>
          <p:nvPr/>
        </p:nvSpPr>
        <p:spPr>
          <a:xfrm>
            <a:off x="1490472" y="2871216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加入 Y／La 硝酸盐</a:t>
            </a: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60–90 °C 浓缩；约 5 g 干胶／釜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32B4088-F649-4903-8A95-8E7EDAD29BE3}"/>
              </a:ext>
            </a:extLst>
          </p:cNvPr>
          <p:cNvSpPr>
            <a:spLocks noGrp="1"/>
          </p:cNvSpPr>
          <p:nvPr/>
        </p:nvSpPr>
        <p:spPr>
          <a:xfrm>
            <a:off x="777240" y="3502152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5" name="3">
            <a:extLst>
              <a:ext uri="{FF2B5EF4-FFF2-40B4-BE49-F238E27FC236}">
                <a16:creationId xmlns:a16="http://schemas.microsoft.com/office/drawing/2014/main" id="{FF4ED5EA-5F27-4769-AFF0-4753EE09356A}"/>
              </a:ext>
            </a:extLst>
          </p:cNvPr>
          <p:cNvSpPr>
            <a:spLocks noGrp="1"/>
          </p:cNvSpPr>
          <p:nvPr/>
        </p:nvSpPr>
        <p:spPr>
          <a:xfrm>
            <a:off x="768096" y="3557016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26" name="水蒸气辅助 DGC">
            <a:extLst>
              <a:ext uri="{FF2B5EF4-FFF2-40B4-BE49-F238E27FC236}">
                <a16:creationId xmlns:a16="http://schemas.microsoft.com/office/drawing/2014/main" id="{1E86F306-9F4B-4DBE-82B9-D93FBAEF1B81}"/>
              </a:ext>
            </a:extLst>
          </p:cNvPr>
          <p:cNvSpPr>
            <a:spLocks noGrp="1"/>
          </p:cNvSpPr>
          <p:nvPr/>
        </p:nvSpPr>
        <p:spPr>
          <a:xfrm>
            <a:off x="1472184" y="3557016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水蒸气辅助 DGC</a:t>
            </a:r>
          </a:p>
        </p:txBody>
      </p:sp>
      <p:sp>
        <p:nvSpPr>
          <p:cNvPr id="27" name="180 °C 静态晶化 2 天&#10;550 °C，4 ">
            <a:extLst>
              <a:ext uri="{FF2B5EF4-FFF2-40B4-BE49-F238E27FC236}">
                <a16:creationId xmlns:a16="http://schemas.microsoft.com/office/drawing/2014/main" id="{0037AF1A-3057-4F80-B90D-1AD4B0C7F02E}"/>
              </a:ext>
            </a:extLst>
          </p:cNvPr>
          <p:cNvSpPr>
            <a:spLocks noGrp="1"/>
          </p:cNvSpPr>
          <p:nvPr/>
        </p:nvSpPr>
        <p:spPr>
          <a:xfrm>
            <a:off x="1490472" y="4032504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180 °C 静态晶化 2 天</a:t>
            </a: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550 °C，4 h 脱模板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8C968C1C-BACB-4690-B841-992101526F05}"/>
              </a:ext>
            </a:extLst>
          </p:cNvPr>
          <p:cNvSpPr>
            <a:spLocks noGrp="1"/>
          </p:cNvSpPr>
          <p:nvPr/>
        </p:nvSpPr>
        <p:spPr>
          <a:xfrm>
            <a:off x="777240" y="4663440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9" name="4">
            <a:extLst>
              <a:ext uri="{FF2B5EF4-FFF2-40B4-BE49-F238E27FC236}">
                <a16:creationId xmlns:a16="http://schemas.microsoft.com/office/drawing/2014/main" id="{88448FA0-B6F5-4B52-B5A6-9D5760F698F7}"/>
              </a:ext>
            </a:extLst>
          </p:cNvPr>
          <p:cNvSpPr>
            <a:spLocks noGrp="1"/>
          </p:cNvSpPr>
          <p:nvPr/>
        </p:nvSpPr>
        <p:spPr>
          <a:xfrm>
            <a:off x="768096" y="4718304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4</a:t>
            </a:r>
          </a:p>
        </p:txBody>
      </p:sp>
      <p:sp>
        <p:nvSpPr>
          <p:cNvPr id="30" name="还原与钝化">
            <a:extLst>
              <a:ext uri="{FF2B5EF4-FFF2-40B4-BE49-F238E27FC236}">
                <a16:creationId xmlns:a16="http://schemas.microsoft.com/office/drawing/2014/main" id="{755F96D7-2C73-4CEC-89D7-A993A3C8B346}"/>
              </a:ext>
            </a:extLst>
          </p:cNvPr>
          <p:cNvSpPr>
            <a:spLocks noGrp="1"/>
          </p:cNvSpPr>
          <p:nvPr/>
        </p:nvSpPr>
        <p:spPr>
          <a:xfrm>
            <a:off x="1472184" y="4718304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还原与钝化</a:t>
            </a:r>
          </a:p>
        </p:txBody>
      </p:sp>
      <p:sp>
        <p:nvSpPr>
          <p:cNvPr id="31" name="5% H₂/N₂：350 °C，1.5 h&#10;随后用">
            <a:extLst>
              <a:ext uri="{FF2B5EF4-FFF2-40B4-BE49-F238E27FC236}">
                <a16:creationId xmlns:a16="http://schemas.microsoft.com/office/drawing/2014/main" id="{0D881244-F457-4990-ACDF-A29F4E7DAC85}"/>
              </a:ext>
            </a:extLst>
          </p:cNvPr>
          <p:cNvSpPr>
            <a:spLocks noGrp="1"/>
          </p:cNvSpPr>
          <p:nvPr/>
        </p:nvSpPr>
        <p:spPr>
          <a:xfrm>
            <a:off x="1490472" y="5193792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5% H₂/N₂：350 °C，1.5 h</a:t>
            </a: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随后用 1% O₂/N₂ 钝化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A0A20E89-8C38-410B-9432-3B311E9649CB}"/>
              </a:ext>
            </a:extLst>
          </p:cNvPr>
          <p:cNvSpPr>
            <a:spLocks noGrp="1"/>
          </p:cNvSpPr>
          <p:nvPr/>
        </p:nvSpPr>
        <p:spPr>
          <a:xfrm>
            <a:off x="7324344" y="1234440"/>
            <a:ext cx="4014216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3" name="每批出釜后的必要检查">
            <a:extLst>
              <a:ext uri="{FF2B5EF4-FFF2-40B4-BE49-F238E27FC236}">
                <a16:creationId xmlns:a16="http://schemas.microsoft.com/office/drawing/2014/main" id="{D56F40B1-6A3C-4FDF-88B4-CBB8438635ED}"/>
              </a:ext>
            </a:extLst>
          </p:cNvPr>
          <p:cNvSpPr>
            <a:spLocks noGrp="1"/>
          </p:cNvSpPr>
          <p:nvPr/>
        </p:nvSpPr>
        <p:spPr>
          <a:xfrm>
            <a:off x="7424928" y="1444752"/>
            <a:ext cx="3794760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每批出釜后的必要检查</a:t>
            </a:r>
          </a:p>
        </p:txBody>
      </p:sp>
      <p:sp>
        <p:nvSpPr>
          <p:cNvPr id="34" name="Cu 保留率 ≥80%&#10;介孔保留，Beta 晶相保">
            <a:extLst>
              <a:ext uri="{FF2B5EF4-FFF2-40B4-BE49-F238E27FC236}">
                <a16:creationId xmlns:a16="http://schemas.microsoft.com/office/drawing/2014/main" id="{CE3891B0-617F-436E-8573-8713CE52AD7D}"/>
              </a:ext>
            </a:extLst>
          </p:cNvPr>
          <p:cNvSpPr>
            <a:spLocks noGrp="1"/>
          </p:cNvSpPr>
          <p:nvPr/>
        </p:nvSpPr>
        <p:spPr>
          <a:xfrm>
            <a:off x="7443216" y="2212848"/>
            <a:ext cx="3739896" cy="10607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Cu 保留率 ≥80%</a:t>
            </a: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介孔保留，Beta 晶相保留</a:t>
            </a: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排查 CuO／Y₂O₃ 大晶相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03503492-2105-442F-ACC4-052B736B74C2}"/>
              </a:ext>
            </a:extLst>
          </p:cNvPr>
          <p:cNvSpPr>
            <a:spLocks noGrp="1"/>
          </p:cNvSpPr>
          <p:nvPr/>
        </p:nvSpPr>
        <p:spPr>
          <a:xfrm>
            <a:off x="7351776" y="3685032"/>
            <a:ext cx="395935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36" name="机制迁移的结构前提">
            <a:extLst>
              <a:ext uri="{FF2B5EF4-FFF2-40B4-BE49-F238E27FC236}">
                <a16:creationId xmlns:a16="http://schemas.microsoft.com/office/drawing/2014/main" id="{ED16FEFE-06BB-4C3A-91F0-00434316FB85}"/>
              </a:ext>
            </a:extLst>
          </p:cNvPr>
          <p:cNvSpPr>
            <a:spLocks noGrp="1"/>
          </p:cNvSpPr>
          <p:nvPr/>
        </p:nvSpPr>
        <p:spPr>
          <a:xfrm>
            <a:off x="7443216" y="3886200"/>
            <a:ext cx="3749040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机制迁移的结构前提</a:t>
            </a:r>
          </a:p>
        </p:txBody>
      </p:sp>
      <p:sp>
        <p:nvSpPr>
          <p:cNvPr id="37" name="HAADF-STEM / EXAFS&#10;核验稀土分散">
            <a:extLst>
              <a:ext uri="{FF2B5EF4-FFF2-40B4-BE49-F238E27FC236}">
                <a16:creationId xmlns:a16="http://schemas.microsoft.com/office/drawing/2014/main" id="{6F35AEB7-BC74-43E5-BC04-822F6972FDF0}"/>
              </a:ext>
            </a:extLst>
          </p:cNvPr>
          <p:cNvSpPr>
            <a:spLocks noGrp="1"/>
          </p:cNvSpPr>
          <p:nvPr/>
        </p:nvSpPr>
        <p:spPr>
          <a:xfrm>
            <a:off x="7443216" y="4517136"/>
            <a:ext cx="3767328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HAADF-STEM / EXAFS</a:t>
            </a:r>
          </a:p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核验稀土分散与 Cu–RE 邻近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1E616199-DD39-4044-9729-BFE188F142B5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9" name="壳凝胶加稀土是制备路径；晶内位置、原子分散和 Cu">
            <a:extLst>
              <a:ext uri="{FF2B5EF4-FFF2-40B4-BE49-F238E27FC236}">
                <a16:creationId xmlns:a16="http://schemas.microsoft.com/office/drawing/2014/main" id="{CC4A66C4-7E98-410D-8AC5-70A9D8BA5ECE}"/>
              </a:ext>
            </a:extLst>
          </p:cNvPr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壳凝胶加稀土是制备路径；晶内位置、原子分散和 Cu–RE 邻近均不能预设。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B0503020204020204" pitchFamily="34" charset="-122"/>
                  <a:ea typeface="Noto Serif CJK SC" panose="020B0503020204020204" pitchFamily="34" charset="-122"/>
                </a:rPr>
                <a:t>工作计划</a:t>
              </a:r>
              <a:endParaRPr lang="zh-CN" b="1" dirty="0">
                <a:solidFill>
                  <a:schemeClr val="bg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endParaRPr>
            </a:p>
          </p:txBody>
        </p:sp>
      </p:grpSp>
      <p:sp>
        <p:nvSpPr>
          <p:cNvPr id="14" name="近期 12 周合成安排">
            <a:extLst>
              <a:ext uri="{FF2B5EF4-FFF2-40B4-BE49-F238E27FC236}">
                <a16:creationId xmlns:a16="http://schemas.microsoft.com/office/drawing/2014/main" id="{A8DFFD3F-CA72-455E-AA8B-2825F333F281}"/>
              </a:ext>
            </a:extLst>
          </p:cNvPr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近期 12 周合成安排</a:t>
            </a:r>
          </a:p>
        </p:txBody>
      </p:sp>
      <p:sp>
        <p:nvSpPr>
          <p:cNvPr id="15" name="计划范围：样品制备与质量判定；工况表征、性能评价及">
            <a:extLst>
              <a:ext uri="{FF2B5EF4-FFF2-40B4-BE49-F238E27FC236}">
                <a16:creationId xmlns:a16="http://schemas.microsoft.com/office/drawing/2014/main" id="{0050471E-8CDC-4F32-BFE5-053F52460BD3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6527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计划范围：样品制备与质量判定；工况表征、性能评价及机理实验另行衔接。</a:t>
            </a:r>
          </a:p>
        </p:txBody>
      </p:sp>
      <p:sp>
        <p:nvSpPr>
          <p:cNvPr id="16" name="7">
            <a:extLst>
              <a:ext uri="{FF2B5EF4-FFF2-40B4-BE49-F238E27FC236}">
                <a16:creationId xmlns:a16="http://schemas.microsoft.com/office/drawing/2014/main" id="{0E6C41DC-B5FA-44AF-8985-AD523063B1D6}"/>
              </a:ext>
            </a:extLst>
          </p:cNvPr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7</a:t>
            </a:r>
          </a:p>
        </p:txBody>
      </p:sp>
      <p:graphicFrame>
        <p:nvGraphicFramePr>
          <p:cNvPr id="17" name="">
            <a:extLst>
              <a:ext uri="{FF2B5EF4-FFF2-40B4-BE49-F238E27FC236}">
                <a16:creationId xmlns:a16="http://schemas.microsoft.com/office/drawing/2014/main" id="{9398233F-3E26-43DC-A70C-C9BD19C11D41}"/>
              </a:ext>
            </a:extLst>
          </p:cNvPr>
          <p:cNvGraphicFramePr/>
          <p:nvPr/>
        </p:nvGraphicFramePr>
        <p:xfrm>
          <a:off x="713232" y="1307592"/>
          <a:ext cx="10744200" cy="3968496"/>
        </p:xfrm>
        <a:graphic>
          <a:graphicData uri="http://schemas.openxmlformats.org/drawingml/2006/table">
            <a:tbl>
              <a:tblPr/>
              <a:tblGrid>
                <a:gridCol w="1536192"/>
                <a:gridCol w="4928616"/>
                <a:gridCol w="4279392"/>
              </a:tblGrid>
              <a:tr h="566928"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周次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制备／核验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阶段交付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</a:tr>
              <a:tr h="566928"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W1–W2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S0×2、A2、B2、S5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基线、成对样品及 Y 空白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  <a:tr h="566928"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W3–W4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首批质量核验；必要时调配方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决定是否保留 Y 6 wt%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</a:tr>
              <a:tr h="566928"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W5–W6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A1、A3、B1、B3、L1、X1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补齐主系列与关键对照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  <a:tr h="566928"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W7–W8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结构与组成核验；安排补做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确认可比样品组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</a:tr>
              <a:tr h="566928"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W9–W10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P1；不合格样补做／放大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完成高 Cu 对标端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  <a:tr h="566928"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W11–W12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批次复核与样品归档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 lIns="95250" tIns="57150" rIns="7620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形成合格样品库与参数记录</a:t>
                      </a:r>
                    </a:p>
                  </a:txBody>
                  <a:tcPr marL="91440" marR="91440" marT="45720" marB="4572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8" name="并行准备：第 1 月申请同步辐射；标定 CO-DR">
            <a:extLst>
              <a:ext uri="{FF2B5EF4-FFF2-40B4-BE49-F238E27FC236}">
                <a16:creationId xmlns:a16="http://schemas.microsoft.com/office/drawing/2014/main" id="{C52B0481-F9E3-457C-AEE4-79F9982AB54B}"/>
              </a:ext>
            </a:extLst>
          </p:cNvPr>
          <p:cNvSpPr>
            <a:spLocks noGrp="1"/>
          </p:cNvSpPr>
          <p:nvPr/>
        </p:nvSpPr>
        <p:spPr>
          <a:xfrm>
            <a:off x="758952" y="5458968"/>
            <a:ext cx="1063447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600" b="0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00" b="0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rPr>
              <a:t>并行准备：第 1 月申请同步辐射；标定 CO-DRIFTS 背景、峰归属与表面 Cu 计数。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83ABEB6D-84C9-4276-ABCD-D7025CF38D88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0" name="若 Y 6 wt% 破坏孔结构，先调整 Y 及 C">
            <a:extLst>
              <a:ext uri="{FF2B5EF4-FFF2-40B4-BE49-F238E27FC236}">
                <a16:creationId xmlns:a16="http://schemas.microsoft.com/office/drawing/2014/main" id="{E9B66803-9A43-4536-A8EB-BB37CC51CC4F}"/>
              </a:ext>
            </a:extLst>
          </p:cNvPr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若 Y 6 wt% 破坏孔结构，先调整 Y 及 Cu 梯度，再进入下一批制备。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B0503020204020204" pitchFamily="34" charset="-122"/>
                  <a:ea typeface="Noto Serif CJK SC" panose="020B0503020204020204" pitchFamily="34" charset="-122"/>
                </a:rPr>
                <a:t>验证路线</a:t>
              </a:r>
              <a:endParaRPr lang="zh-CN" b="1" dirty="0">
                <a:solidFill>
                  <a:schemeClr val="bg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endParaRPr>
            </a:p>
          </p:txBody>
        </p:sp>
      </p:grpSp>
      <p:sp>
        <p:nvSpPr>
          <p:cNvPr id="14" name="价态变量化与基元步骤归因">
            <a:extLst>
              <a:ext uri="{FF2B5EF4-FFF2-40B4-BE49-F238E27FC236}">
                <a16:creationId xmlns:a16="http://schemas.microsoft.com/office/drawing/2014/main" id="{3E61F00F-989E-473D-BDD1-9DB910563F06}"/>
              </a:ext>
            </a:extLst>
          </p:cNvPr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价态变量化与基元步骤归因</a:t>
            </a:r>
          </a:p>
        </p:txBody>
      </p:sp>
      <p:sp>
        <p:nvSpPr>
          <p:cNvPr id="15" name="[1] Chem 2020. Fig. 3A（30">
            <a:extLst>
              <a:ext uri="{FF2B5EF4-FFF2-40B4-BE49-F238E27FC236}">
                <a16:creationId xmlns:a16="http://schemas.microsoft.com/office/drawing/2014/main" id="{96F423F1-E3F9-4F27-84FC-D77C1D8525AC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6527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[1] Chem 2020. Fig. 3A（300 °C，0.5 MPa）；本项目拟在多个界面谱学水平上重复比较。</a:t>
            </a:r>
          </a:p>
        </p:txBody>
      </p:sp>
      <p:sp>
        <p:nvSpPr>
          <p:cNvPr id="16" name="8">
            <a:extLst>
              <a:ext uri="{FF2B5EF4-FFF2-40B4-BE49-F238E27FC236}">
                <a16:creationId xmlns:a16="http://schemas.microsoft.com/office/drawing/2014/main" id="{01858D5B-3742-4D72-9CBF-1FDBE9B11D01}"/>
              </a:ext>
            </a:extLst>
          </p:cNvPr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8</a:t>
            </a:r>
          </a:p>
        </p:txBody>
      </p:sp>
      <p:pic>
        <p:nvPicPr>
          <p:cNvPr id="17" name="">
            <a:extLst>
              <a:ext uri="{FF2B5EF4-FFF2-40B4-BE49-F238E27FC236}">
                <a16:creationId xmlns:a16="http://schemas.microsoft.com/office/drawing/2014/main" id="{FA3B65EB-8EA4-4F83-A5BB-C0BBB29A2D22}"/>
              </a:ext>
            </a:extLst>
          </p:cNvPr>
          <p:cNvPicPr>
            <a:picLocks noChangeAspect="1"/>
          </p:cNvPicPr>
          <p:nvPr/>
        </p:nvPicPr>
        <p:blipFill>
          <a:blip r:embed="Rc084aa6934a64e5d"/>
          <a:stretch/>
        </p:blipFill>
        <p:spPr>
          <a:xfrm>
            <a:off x="767140" y="1325880"/>
            <a:ext cx="2973712" cy="3941064"/>
          </a:xfrm>
          <a:prstGeom prst="rect">
            <a:avLst/>
          </a:prstGeom>
        </p:spPr>
      </p:pic>
      <p:sp>
        <p:nvSpPr>
          <p:cNvPr id="18" name="Fig. 3A｜原文同位素切换">
            <a:extLst>
              <a:ext uri="{FF2B5EF4-FFF2-40B4-BE49-F238E27FC236}">
                <a16:creationId xmlns:a16="http://schemas.microsoft.com/office/drawing/2014/main" id="{3082BB36-22B6-42CD-84A9-8795F6FE9E9A}"/>
              </a:ext>
            </a:extLst>
          </p:cNvPr>
          <p:cNvSpPr>
            <a:spLocks noGrp="1"/>
          </p:cNvSpPr>
          <p:nvPr/>
        </p:nvSpPr>
        <p:spPr>
          <a:xfrm>
            <a:off x="758952" y="5358384"/>
            <a:ext cx="3035808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Fig. 3A｜原文同位素切换</a:t>
            </a:r>
          </a:p>
        </p:txBody>
      </p:sp>
      <p:sp>
        <p:nvSpPr>
          <p:cNvPr id="19" name="① 先建立可比较的界面指标">
            <a:extLst>
              <a:ext uri="{FF2B5EF4-FFF2-40B4-BE49-F238E27FC236}">
                <a16:creationId xmlns:a16="http://schemas.microsoft.com/office/drawing/2014/main" id="{C09B6000-76D4-4A44-BA4A-55966E186979}"/>
              </a:ext>
            </a:extLst>
          </p:cNvPr>
          <p:cNvSpPr>
            <a:spLocks noGrp="1"/>
          </p:cNvSpPr>
          <p:nvPr/>
        </p:nvSpPr>
        <p:spPr>
          <a:xfrm>
            <a:off x="4370832" y="1243584"/>
            <a:ext cx="704088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① 先建立可比较的界面指标</a:t>
            </a:r>
          </a:p>
        </p:txBody>
      </p:sp>
      <p:sp>
        <p:nvSpPr>
          <p:cNvPr id="20" name="CO-DRIFTS 扣背景与响应校准；&#10;XANES">
            <a:extLst>
              <a:ext uri="{FF2B5EF4-FFF2-40B4-BE49-F238E27FC236}">
                <a16:creationId xmlns:a16="http://schemas.microsoft.com/office/drawing/2014/main" id="{ECB1AB1A-B19C-4ACD-AD90-459EE782E116}"/>
              </a:ext>
            </a:extLst>
          </p:cNvPr>
          <p:cNvSpPr>
            <a:spLocks noGrp="1"/>
          </p:cNvSpPr>
          <p:nvPr/>
        </p:nvSpPr>
        <p:spPr>
          <a:xfrm>
            <a:off x="4416552" y="1856232"/>
            <a:ext cx="6858000" cy="7863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CO-DRIFTS 扣背景与响应校准；</a:t>
            </a: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XANES / EXAFS 交叉验证，报告误差。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7D2B3AC0-1BD5-407E-B0D1-1F633F9EC86D}"/>
              </a:ext>
            </a:extLst>
          </p:cNvPr>
          <p:cNvSpPr>
            <a:spLocks noGrp="1"/>
          </p:cNvSpPr>
          <p:nvPr/>
        </p:nvSpPr>
        <p:spPr>
          <a:xfrm>
            <a:off x="4370832" y="2651760"/>
            <a:ext cx="704088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2" name="② 将同位素方法变量化">
            <a:extLst>
              <a:ext uri="{FF2B5EF4-FFF2-40B4-BE49-F238E27FC236}">
                <a16:creationId xmlns:a16="http://schemas.microsoft.com/office/drawing/2014/main" id="{A4B6A9B1-A8B7-4C3B-A6E0-5C9AD42764D1}"/>
              </a:ext>
            </a:extLst>
          </p:cNvPr>
          <p:cNvSpPr>
            <a:spLocks noGrp="1"/>
          </p:cNvSpPr>
          <p:nvPr/>
        </p:nvSpPr>
        <p:spPr>
          <a:xfrm>
            <a:off x="4370832" y="2788920"/>
            <a:ext cx="704088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② 将同位素方法变量化</a:t>
            </a:r>
          </a:p>
        </p:txBody>
      </p:sp>
      <p:sp>
        <p:nvSpPr>
          <p:cNvPr id="23" name="比较 ≥3 个可分辨水平样品的&#10;¹²CH₃¹³CH">
            <a:extLst>
              <a:ext uri="{FF2B5EF4-FFF2-40B4-BE49-F238E27FC236}">
                <a16:creationId xmlns:a16="http://schemas.microsoft.com/office/drawing/2014/main" id="{89F8DA15-8751-4222-8A0C-45429E61ADEB}"/>
              </a:ext>
            </a:extLst>
          </p:cNvPr>
          <p:cNvSpPr>
            <a:spLocks noGrp="1"/>
          </p:cNvSpPr>
          <p:nvPr/>
        </p:nvSpPr>
        <p:spPr>
          <a:xfrm>
            <a:off x="4416552" y="3401568"/>
            <a:ext cx="6858000" cy="7863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比较 ≥3 个可分辨水平样品的</a:t>
            </a: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¹²CH₃¹³CH₂OH 形成速率与时间常数。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128AFB6D-AA11-4D3B-B259-22D34B16AD05}"/>
              </a:ext>
            </a:extLst>
          </p:cNvPr>
          <p:cNvSpPr>
            <a:spLocks noGrp="1"/>
          </p:cNvSpPr>
          <p:nvPr/>
        </p:nvSpPr>
        <p:spPr>
          <a:xfrm>
            <a:off x="4370832" y="4197096"/>
            <a:ext cx="704088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5" name="③ 区分三个可能作用步骤">
            <a:extLst>
              <a:ext uri="{FF2B5EF4-FFF2-40B4-BE49-F238E27FC236}">
                <a16:creationId xmlns:a16="http://schemas.microsoft.com/office/drawing/2014/main" id="{FB3C49C8-1AB6-4A7A-931B-C92E2CC86CB0}"/>
              </a:ext>
            </a:extLst>
          </p:cNvPr>
          <p:cNvSpPr>
            <a:spLocks noGrp="1"/>
          </p:cNvSpPr>
          <p:nvPr/>
        </p:nvSpPr>
        <p:spPr>
          <a:xfrm>
            <a:off x="4370832" y="4334256"/>
            <a:ext cx="704088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③ 区分三个可能作用步骤</a:t>
            </a:r>
          </a:p>
        </p:txBody>
      </p:sp>
      <p:sp>
        <p:nvSpPr>
          <p:cNvPr id="26" name="CH₃* 生成 → C–C 偶联 → 乙酸根加氢；">
            <a:extLst>
              <a:ext uri="{FF2B5EF4-FFF2-40B4-BE49-F238E27FC236}">
                <a16:creationId xmlns:a16="http://schemas.microsoft.com/office/drawing/2014/main" id="{491D1720-DBF9-4BCE-8114-6648072E79AA}"/>
              </a:ext>
            </a:extLst>
          </p:cNvPr>
          <p:cNvSpPr>
            <a:spLocks noGrp="1"/>
          </p:cNvSpPr>
          <p:nvPr/>
        </p:nvSpPr>
        <p:spPr>
          <a:xfrm>
            <a:off x="4416552" y="4946904"/>
            <a:ext cx="6858000" cy="7863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CH₃* 生成 → C–C 偶联 → 乙酸根加氢；</a:t>
            </a: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用原位红外、动力学与 DFT 联合判别。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63BCA81D-DCD5-4D9A-8320-936690E2A5DF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8" name="研究增量：在受控界面 Cu 水平上比较反应路径，而">
            <a:extLst>
              <a:ext uri="{FF2B5EF4-FFF2-40B4-BE49-F238E27FC236}">
                <a16:creationId xmlns:a16="http://schemas.microsoft.com/office/drawing/2014/main" id="{1E8FEB13-826A-46BA-834D-BF4277543679}"/>
              </a:ext>
            </a:extLst>
          </p:cNvPr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研究增量：在受控界面 Cu 水平上比较反应路径，而非再次证明同位素可以切换。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B0503020204020204" pitchFamily="34" charset="-122"/>
                  <a:ea typeface="Noto Serif CJK SC" panose="020B0503020204020204" pitchFamily="34" charset="-122"/>
                </a:rPr>
                <a:t>预期产出</a:t>
              </a:r>
              <a:endParaRPr lang="zh-CN" b="1" dirty="0">
                <a:solidFill>
                  <a:schemeClr val="bg1"/>
                </a:solidFill>
                <a:latin typeface="Noto Serif CJK SC" panose="020B0503020204020204" pitchFamily="34" charset="-122"/>
                <a:ea typeface="Noto Serif CJK SC" panose="020B0503020204020204" pitchFamily="34" charset="-122"/>
              </a:endParaRPr>
            </a:p>
          </p:txBody>
        </p:sp>
      </p:grpSp>
      <p:sp>
        <p:nvSpPr>
          <p:cNvPr id="14" name="预期结果与可得结论">
            <a:extLst>
              <a:ext uri="{FF2B5EF4-FFF2-40B4-BE49-F238E27FC236}">
                <a16:creationId xmlns:a16="http://schemas.microsoft.com/office/drawing/2014/main" id="{C1200923-9D3B-42BF-8787-26B7A0A9C10D}"/>
              </a:ext>
            </a:extLst>
          </p:cNvPr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预期结果与可得结论</a:t>
            </a:r>
          </a:p>
        </p:txBody>
      </p:sp>
      <p:sp>
        <p:nvSpPr>
          <p:cNvPr id="15" name="研究定位：晶内稀土干预 × 封装 Cu × 工况界">
            <a:extLst>
              <a:ext uri="{FF2B5EF4-FFF2-40B4-BE49-F238E27FC236}">
                <a16:creationId xmlns:a16="http://schemas.microsoft.com/office/drawing/2014/main" id="{BBC26306-ADA9-41B6-80DF-585590ABC377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106527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研究定位：晶内稀土干预 × 封装 Cu × 工况界面指标 × C–C 偶联步骤归因。</a:t>
            </a:r>
          </a:p>
        </p:txBody>
      </p:sp>
      <p:sp>
        <p:nvSpPr>
          <p:cNvPr id="16" name="9">
            <a:extLst>
              <a:ext uri="{FF2B5EF4-FFF2-40B4-BE49-F238E27FC236}">
                <a16:creationId xmlns:a16="http://schemas.microsoft.com/office/drawing/2014/main" id="{A4DD17FB-EFD2-417D-B947-019138BBCBBF}"/>
              </a:ext>
            </a:extLst>
          </p:cNvPr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9</a:t>
            </a:r>
          </a:p>
        </p:txBody>
      </p:sp>
      <p:sp>
        <p:nvSpPr>
          <p:cNvPr id="17" name="A  正相关">
            <a:extLst>
              <a:ext uri="{FF2B5EF4-FFF2-40B4-BE49-F238E27FC236}">
                <a16:creationId xmlns:a16="http://schemas.microsoft.com/office/drawing/2014/main" id="{9F944C1F-28EA-407A-A7CA-F6C28C3CE139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A  正相关</a:t>
            </a:r>
          </a:p>
        </p:txBody>
      </p:sp>
      <p:sp>
        <p:nvSpPr>
          <p:cNvPr id="18" name="支持电子态作用假设，继续验证位点与步骤。">
            <a:extLst>
              <a:ext uri="{FF2B5EF4-FFF2-40B4-BE49-F238E27FC236}">
                <a16:creationId xmlns:a16="http://schemas.microsoft.com/office/drawing/2014/main" id="{8670CD84-412F-4E90-959B-1F04A75E6627}"/>
              </a:ext>
            </a:extLst>
          </p:cNvPr>
          <p:cNvSpPr>
            <a:spLocks noGrp="1"/>
          </p:cNvSpPr>
          <p:nvPr/>
        </p:nvSpPr>
        <p:spPr>
          <a:xfrm>
            <a:off x="4069080" y="1325880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支持电子态作用假设，继续验证位点与步骤。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867C52B4-1061-47C8-AD17-EB6F33F7B436}"/>
              </a:ext>
            </a:extLst>
          </p:cNvPr>
          <p:cNvSpPr>
            <a:spLocks noGrp="1"/>
          </p:cNvSpPr>
          <p:nvPr/>
        </p:nvSpPr>
        <p:spPr>
          <a:xfrm>
            <a:off x="758952" y="1938528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0" name="B  负相关／未检出">
            <a:extLst>
              <a:ext uri="{FF2B5EF4-FFF2-40B4-BE49-F238E27FC236}">
                <a16:creationId xmlns:a16="http://schemas.microsoft.com/office/drawing/2014/main" id="{DD9F8198-5CB3-46CC-BF26-1B04E8E4AC6A}"/>
              </a:ext>
            </a:extLst>
          </p:cNvPr>
          <p:cNvSpPr>
            <a:spLocks noGrp="1"/>
          </p:cNvSpPr>
          <p:nvPr/>
        </p:nvSpPr>
        <p:spPr>
          <a:xfrm>
            <a:off x="777240" y="2048256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B  负相关／未检出</a:t>
            </a:r>
          </a:p>
        </p:txBody>
      </p:sp>
      <p:sp>
        <p:nvSpPr>
          <p:cNvPr id="21" name="区分抑制效应与检测限，不等同于“纯几何”。">
            <a:extLst>
              <a:ext uri="{FF2B5EF4-FFF2-40B4-BE49-F238E27FC236}">
                <a16:creationId xmlns:a16="http://schemas.microsoft.com/office/drawing/2014/main" id="{5DA16FF9-1D8C-46C3-843E-D3CA6D4A6524}"/>
              </a:ext>
            </a:extLst>
          </p:cNvPr>
          <p:cNvSpPr>
            <a:spLocks noGrp="1"/>
          </p:cNvSpPr>
          <p:nvPr/>
        </p:nvSpPr>
        <p:spPr>
          <a:xfrm>
            <a:off x="4069080" y="2048256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区分抑制效应与检测限，不等同于“纯几何”。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90715265-A643-460F-9702-5204FF9F787F}"/>
              </a:ext>
            </a:extLst>
          </p:cNvPr>
          <p:cNvSpPr>
            <a:spLocks noGrp="1"/>
          </p:cNvSpPr>
          <p:nvPr/>
        </p:nvSpPr>
        <p:spPr>
          <a:xfrm>
            <a:off x="758952" y="2660904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3" name="C  封装受损">
            <a:extLst>
              <a:ext uri="{FF2B5EF4-FFF2-40B4-BE49-F238E27FC236}">
                <a16:creationId xmlns:a16="http://schemas.microsoft.com/office/drawing/2014/main" id="{1D795844-64D3-42CA-B545-C23ECAF2FC7B}"/>
              </a:ext>
            </a:extLst>
          </p:cNvPr>
          <p:cNvSpPr>
            <a:spLocks noGrp="1"/>
          </p:cNvSpPr>
          <p:nvPr/>
        </p:nvSpPr>
        <p:spPr>
          <a:xfrm>
            <a:off x="777240" y="2770632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C  封装受损</a:t>
            </a:r>
          </a:p>
        </p:txBody>
      </p:sp>
      <p:sp>
        <p:nvSpPr>
          <p:cNvPr id="24" name="界定本制备条件的边界，暂停价态归因。">
            <a:extLst>
              <a:ext uri="{FF2B5EF4-FFF2-40B4-BE49-F238E27FC236}">
                <a16:creationId xmlns:a16="http://schemas.microsoft.com/office/drawing/2014/main" id="{B010A8A4-600B-4AE0-9F11-D23CD829D2E3}"/>
              </a:ext>
            </a:extLst>
          </p:cNvPr>
          <p:cNvSpPr>
            <a:spLocks noGrp="1"/>
          </p:cNvSpPr>
          <p:nvPr/>
        </p:nvSpPr>
        <p:spPr>
          <a:xfrm>
            <a:off x="4069080" y="2770632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界定本制备条件的边界，暂停价态归因。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55B74BFD-7073-47A6-B2DB-0DB2319211F2}"/>
              </a:ext>
            </a:extLst>
          </p:cNvPr>
          <p:cNvSpPr>
            <a:spLocks noGrp="1"/>
          </p:cNvSpPr>
          <p:nvPr/>
        </p:nvSpPr>
        <p:spPr>
          <a:xfrm>
            <a:off x="758952" y="3383280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6" name="D  活性—稳定性权衡">
            <a:extLst>
              <a:ext uri="{FF2B5EF4-FFF2-40B4-BE49-F238E27FC236}">
                <a16:creationId xmlns:a16="http://schemas.microsoft.com/office/drawing/2014/main" id="{B91E158C-D942-4B5B-8900-2FC5B127DAB8}"/>
              </a:ext>
            </a:extLst>
          </p:cNvPr>
          <p:cNvSpPr>
            <a:spLocks noGrp="1"/>
          </p:cNvSpPr>
          <p:nvPr/>
        </p:nvSpPr>
        <p:spPr>
          <a:xfrm>
            <a:off x="777240" y="3493008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D  活性—稳定性权衡</a:t>
            </a:r>
          </a:p>
        </p:txBody>
      </p:sp>
      <p:sp>
        <p:nvSpPr>
          <p:cNvPr id="27" name="量化选择性、寿命与 CO 副产变化。">
            <a:extLst>
              <a:ext uri="{FF2B5EF4-FFF2-40B4-BE49-F238E27FC236}">
                <a16:creationId xmlns:a16="http://schemas.microsoft.com/office/drawing/2014/main" id="{A2EF711F-F438-4C44-A77A-91A8192B37A5}"/>
              </a:ext>
            </a:extLst>
          </p:cNvPr>
          <p:cNvSpPr>
            <a:spLocks noGrp="1"/>
          </p:cNvSpPr>
          <p:nvPr/>
        </p:nvSpPr>
        <p:spPr>
          <a:xfrm>
            <a:off x="4069080" y="3493008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量化选择性、寿命与 CO 副产变化。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3F8B0E6C-92C0-43FF-8F67-458C590849A1}"/>
              </a:ext>
            </a:extLst>
          </p:cNvPr>
          <p:cNvSpPr>
            <a:spLocks noGrp="1"/>
          </p:cNvSpPr>
          <p:nvPr/>
        </p:nvSpPr>
        <p:spPr>
          <a:xfrm>
            <a:off x="758952" y="4105656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9" name="E  无 Cu–RE 近邻证据">
            <a:extLst>
              <a:ext uri="{FF2B5EF4-FFF2-40B4-BE49-F238E27FC236}">
                <a16:creationId xmlns:a16="http://schemas.microsoft.com/office/drawing/2014/main" id="{CF8C898C-44A3-4704-A0A6-3EE2C107497B}"/>
              </a:ext>
            </a:extLst>
          </p:cNvPr>
          <p:cNvSpPr>
            <a:spLocks noGrp="1"/>
          </p:cNvSpPr>
          <p:nvPr/>
        </p:nvSpPr>
        <p:spPr>
          <a:xfrm>
            <a:off x="777240" y="4215384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E  无 Cu–RE 近邻证据</a:t>
            </a:r>
          </a:p>
        </p:txBody>
      </p:sp>
      <p:sp>
        <p:nvSpPr>
          <p:cNvPr id="30" name="不沿用双单原子机制，重审结构模型。">
            <a:extLst>
              <a:ext uri="{FF2B5EF4-FFF2-40B4-BE49-F238E27FC236}">
                <a16:creationId xmlns:a16="http://schemas.microsoft.com/office/drawing/2014/main" id="{7C5D470B-9408-4526-AB15-5A1BF2258446}"/>
              </a:ext>
            </a:extLst>
          </p:cNvPr>
          <p:cNvSpPr>
            <a:spLocks noGrp="1"/>
          </p:cNvSpPr>
          <p:nvPr/>
        </p:nvSpPr>
        <p:spPr>
          <a:xfrm>
            <a:off x="4069080" y="4215384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不沿用双单原子机制，重审结构模型。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0B7EFE10-FDE1-4133-8493-505F9B7D790B}"/>
              </a:ext>
            </a:extLst>
          </p:cNvPr>
          <p:cNvSpPr>
            <a:spLocks noGrp="1"/>
          </p:cNvSpPr>
          <p:nvPr/>
        </p:nvSpPr>
        <p:spPr>
          <a:xfrm>
            <a:off x="758952" y="4828032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32" name="F  工况 Cu⁺ 信号消失">
            <a:extLst>
              <a:ext uri="{FF2B5EF4-FFF2-40B4-BE49-F238E27FC236}">
                <a16:creationId xmlns:a16="http://schemas.microsoft.com/office/drawing/2014/main" id="{B4C0C053-16E7-4F1B-B029-ECB32C50154F}"/>
              </a:ext>
            </a:extLst>
          </p:cNvPr>
          <p:cNvSpPr>
            <a:spLocks noGrp="1"/>
          </p:cNvSpPr>
          <p:nvPr/>
        </p:nvSpPr>
        <p:spPr>
          <a:xfrm>
            <a:off x="777240" y="4937760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F  工况 Cu⁺ 信号消失</a:t>
            </a:r>
          </a:p>
        </p:txBody>
      </p:sp>
      <p:sp>
        <p:nvSpPr>
          <p:cNvPr id="33" name="检验初始态向工况的变化，排除探针与检出限。">
            <a:extLst>
              <a:ext uri="{FF2B5EF4-FFF2-40B4-BE49-F238E27FC236}">
                <a16:creationId xmlns:a16="http://schemas.microsoft.com/office/drawing/2014/main" id="{52E509AE-8C6D-42AE-85D1-22CDA8596374}"/>
              </a:ext>
            </a:extLst>
          </p:cNvPr>
          <p:cNvSpPr>
            <a:spLocks noGrp="1"/>
          </p:cNvSpPr>
          <p:nvPr/>
        </p:nvSpPr>
        <p:spPr>
          <a:xfrm>
            <a:off x="4069080" y="4937760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rPr>
              <a:t>检验初始态向工况的变化，排除探针与检出限。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0F684E89-7DF3-446F-B083-287007AE356B}"/>
              </a:ext>
            </a:extLst>
          </p:cNvPr>
          <p:cNvSpPr>
            <a:spLocks noGrp="1"/>
          </p:cNvSpPr>
          <p:nvPr/>
        </p:nvSpPr>
        <p:spPr>
          <a:xfrm>
            <a:off x="758952" y="5550408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35" name="">
            <a:extLst>
              <a:ext uri="{FF2B5EF4-FFF2-40B4-BE49-F238E27FC236}">
                <a16:creationId xmlns:a16="http://schemas.microsoft.com/office/drawing/2014/main" id="{969D080D-92A2-445A-831D-B832A2D0832F}"/>
              </a:ext>
            </a:extLst>
          </p:cNvPr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6" name="预期交付：可复用的界面谱学方法、受控构效证据与稀土">
            <a:extLst>
              <a:ext uri="{FF2B5EF4-FFF2-40B4-BE49-F238E27FC236}">
                <a16:creationId xmlns:a16="http://schemas.microsoft.com/office/drawing/2014/main" id="{B5619102-2347-486B-AEB5-607E60B96088}"/>
              </a:ext>
            </a:extLst>
          </p:cNvPr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预期交付：可复用的界面谱学方法、受控构效证据与稀土引入的可用边界。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2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3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4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5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6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7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8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9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0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1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2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3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4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5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6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7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8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19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20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21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22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23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24.xml><?xml version="1.0" encoding="utf-8"?>
<p:tagLst xmlns:p="http://schemas.openxmlformats.org/presentationml/2006/main">
  <p:tag name="KSO_WM_DIAGRAM_VIRTUALLY_FRAME" val="{&quot;height&quot;:373.04267716535435,&quot;left&quot;:407.36480314960625,&quot;top&quot;:102.2375590551181,&quot;width&quot;:363.8151181102363}"/>
</p:tagLst>
</file>

<file path=ppt/tags/tag25.xml><?xml version="1.0" encoding="utf-8"?>
<p:tagLst xmlns:p="http://schemas.openxmlformats.org/presentationml/2006/main">
  <p:tag name="ISPRING_PRESENTATION_TITLE" val="PowerPoint 演示文稿"/>
  <p:tag name="KSO_WPP_MARK_KEY" val="29a7757d-6c0b-44f1-9ac6-ae21c2ab77ee"/>
  <p:tag name="COMMONDATA" val="eyJoZGlkIjoiODE2OTQwZDllYTBhMDVkOWJjMjQzMTgyNDlkYTVhOTgifQ=="/>
  <p:tag name="commondata" val="eyJoZGlkIjoiOGIzZWI0MmEwM2M1Yjc0MGM4YzYyZDg4NzI4N2JiYWEifQ=="/>
  <p:tag name="resource_record_key" val="{&quot;70&quot;:[3327356,3312417,3321782]}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游ゴシック Light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游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游ゴシック Light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游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WPS 演示</Application>
  <PresentationFormat>宽屏</PresentationFormat>
  <Paragraphs>38</Paragraphs>
  <Slides>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微软雅黑</vt:lpstr>
      <vt:lpstr>Times New Roman</vt:lpstr>
      <vt:lpstr>方正超粗黑简体</vt:lpstr>
      <vt:lpstr>黑体</vt:lpstr>
      <vt:lpstr>Calibri</vt:lpstr>
      <vt:lpstr>等线</vt:lpstr>
      <vt:lpstr>阿里巴巴普惠体</vt:lpstr>
      <vt:lpstr>Times New Roman</vt:lpstr>
      <vt:lpstr>Microsoft JhengHei</vt:lpstr>
      <vt:lpstr>Arial Unicode MS</vt:lpstr>
      <vt:lpstr>Arial Unicode MS</vt:lpstr>
      <vt:lpstr>Wingdings</vt:lpstr>
      <vt:lpstr>等线 Light</vt:lpstr>
      <vt:lpstr>方正超粗黑简体</vt:lpstr>
      <vt:lpstr>阿里巴巴普惠体</vt:lpstr>
      <vt:lpstr>Segoe Print</vt:lpstr>
      <vt:lpstr>阿里巴巴和七个小矮人</vt:lpstr>
      <vt:lpstr>1_自定义设计方案</vt:lpstr>
      <vt:lpstr>自定义设计方案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张捷</cp:lastModifiedBy>
  <cp:revision>1420</cp:revision>
  <dcterms:created xsi:type="dcterms:W3CDTF">2026-07-19T04:26:00Z</dcterms:created>
  <dcterms:modified xsi:type="dcterms:W3CDTF">2026-10-11T16:09:27Z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CC98CDD3C944418992CAE26ADDD3B493_13</vt:lpwstr>
  </property>
  <property fmtid="{D5CDD505-2E9C-101B-9397-08002B2CF9AE}" pid="3" name="KSOProductBuildVer">
    <vt:lpwstr>2052-12.1.0.28505</vt:lpwstr>
  </property>
</Properties>
</file>