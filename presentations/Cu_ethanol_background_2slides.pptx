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71" r:id="rId3"/>
    <p:sldMasterId id="2147483685" r:id="rId4"/>
    <p:sldMasterId id="2147483704" r:id="rId5"/>
  </p:sldMasterIdLst>
  <p:notesMasterIdLst>
    <p:notesMasterId r:id="rId7"/>
  </p:notesMasterIdLst>
  <p:handoutMasterIdLst>
    <p:handoutMasterId r:id="rId15"/>
  </p:handoutMasterIdLst>
  <p:sldIdLst>
    <p:sldId id="261" r:id="rId13"/>
    <p:sldId id="264" r:id="rId14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1" userDrawn="1">
          <p15:clr>
            <a:srgbClr val="A4A3A4"/>
          </p15:clr>
        </p15:guide>
        <p15:guide id="2" orient="horz" pos="229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A2C7"/>
    <a:srgbClr val="D99694"/>
    <a:srgbClr val="2B71B1"/>
    <a:srgbClr val="17375E"/>
    <a:srgbClr val="002060"/>
    <a:srgbClr val="003F98"/>
    <a:srgbClr val="CDE1F2"/>
    <a:srgbClr val="F80304"/>
    <a:srgbClr val="BD3D6E"/>
    <a:srgbClr val="3760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60" autoAdjust="0"/>
    <p:restoredTop sz="91269" autoAdjust="0"/>
  </p:normalViewPr>
  <p:slideViewPr>
    <p:cSldViewPr snapToGrid="0" showGuides="1">
      <p:cViewPr varScale="1">
        <p:scale>
          <a:sx n="101" d="100"/>
          <a:sy n="101" d="100"/>
        </p:scale>
        <p:origin x="1008" y="72"/>
      </p:cViewPr>
      <p:guideLst>
        <p:guide pos="3841"/>
        <p:guide orient="horz" pos="229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24237"/>
    </p:cViewPr>
  </p:sorterViewPr>
  <p:notesViewPr>
    <p:cSldViewPr snapToGrid="0">
      <p:cViewPr varScale="1">
        <p:scale>
          <a:sx n="122" d="100"/>
          <a:sy n="122" d="100"/>
        </p:scale>
        <p:origin x="5004" y="6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7" Type="http://schemas.openxmlformats.org/officeDocument/2006/relationships/notesMaster" Target="notesMasters/notesMaster1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handoutMaster" Target="handoutMasters/handout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Relationship Id="rId19" Type="http://schemas.openxmlformats.org/officeDocument/2006/relationships/commentAuthors" Target="commentAuthors.xml"/><Relationship Id="rId20" Type="http://schemas.openxmlformats.org/officeDocument/2006/relationships/tags" Target="tags/tag1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0A402E-0A3A-4BB2-892E-2A006059FE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947892-CE47-41FF-9649-DF0E141C2DF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9CCD68-BB16-4B09-96DE-77E75F61787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B5D0D-1737-4DFB-8E55-DAD58C6B9E9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Noto Serif CJK SC"/>
        <a:ea typeface="Noto Serif CJK SC"/>
        <a:cs typeface="Noto Serif CJK SC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Noto Serif CJK SC"/>
        <a:ea typeface="Noto Serif CJK SC"/>
        <a:cs typeface="Noto Serif CJK SC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Noto Serif CJK SC"/>
        <a:ea typeface="Noto Serif CJK SC"/>
        <a:cs typeface="Noto Serif CJK SC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Noto Serif CJK SC"/>
        <a:ea typeface="Noto Serif CJK SC"/>
        <a:cs typeface="Noto Serif CJK SC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Noto Serif CJK SC"/>
        <a:ea typeface="Noto Serif CJK SC"/>
        <a:cs typeface="Noto Serif CJK SC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Noto Serif CJK SC"/>
        <a:ea typeface="Noto Serif CJK SC"/>
        <a:cs typeface="Noto Serif CJK SC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Noto Serif CJK SC"/>
        <a:ea typeface="Noto Serif CJK SC"/>
        <a:cs typeface="Noto Serif CJK SC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Noto Serif CJK SC"/>
        <a:ea typeface="Noto Serif CJK SC"/>
        <a:cs typeface="Noto Serif CJK SC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Noto Serif CJK SC"/>
        <a:ea typeface="Noto Serif CJK SC"/>
        <a:cs typeface="Noto Serif CJK SC"/>
      </a:defRPr>
    </a:lvl9pPr>
  </p:notesStyle>
</p:notesMaster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述建议（约40秒）：CO₂加氢制乙醇既可获得液体燃料，也可连接乙烯等化学品路线。核心难点是跨越C₁产物路径，实现选择性C–C偶联，并兼顾条件与稳定性。图中的Cu@Na-Beta仅用于说明压力会改变转化与副产物分布，不将其个例等同于全领域普遍规律。随后引出问题：几何结构之外，Cu的电子态如何影响乙醇形成？本研究以后续性能变化检验位点贡献，不预设一定提高STY。</a:t>
            </a:r>
          </a:p>
          <a:p/>
          <a:p>
            <a:r>
              <a:t>数据与图源：[1] Ding L. et al., CO₂ Hydrogenation to Ethanol over Cu@Na-Beta. Chem 2020, 6, 2673–2689. DOI: 10.1016/j.chempr.2020.07.001。反应热和能量保留比例来自正文Equations 1–3附近；约94%对应1 mol气态乙醇相对于6 mol H₂的化学能，约89%对应2CO+4H₂。这不是装置效率，也不含制氢、压缩、分离能耗。放热不等同于实际热管理已解决。</a:t>
            </a:r>
          </a:p>
          <a:p>
            <a:r>
              <a:t>Fig.1B原图裁片保留坐标、图例和B标记，来自用户此前上传的Cu_ethanol_proposal_v3.pptx内ppt/media/image10.png；未重画或修改曲线。已依据原文Fig.1图注核对：300 °C，H₂/CO₂=3，GHSV=12000 mL·gcat⁻¹·h⁻¹。原文公开文本核验：https://www.lookchem.com/FreePDFArticle_64-17-5_80493901.htm；出版页：https://www.sciencedirect.com/science/article/pii/S245192942030351X。</a:t>
            </a:r>
          </a:p>
          <a:p/>
          <a:p>
            <a:r>
              <a:t>[2] Kostyniuk A., Likozar B. State-of-the-art advancements in the thermocatalytic conversion of CO₂ into ethanol and higher alcohols: recent progress in catalyst development and reaction mechanisms. Chemical Engineering Journal 2025, 503, 158467. DOI: 10.1016/j.cej.2024.158467。支持CO₂惰性、竞争路径、C–C偶联及稳定性挑战；本次核对出版摘要和机构元数据，未取得可下载全文。</a:t>
            </a:r>
          </a:p>
          <a:p>
            <a:r>
              <a:t>[3] Recent advances in thermo-catalytic CO₂ hydrogenation to ethanol. Fuel 2026, 416, 138593. DOI: 10.1016/j.fuel.2026.138593。支持反应步骤与催化剂分类；本次核对出版摘要与可见章节摘要。</a:t>
            </a:r>
          </a:p>
          <a:p/>
          <a:p>
            <a:r>
              <a:t>相对工作流的精简与校正：未保留“乙醇无毒”“应用链条比甲醇长”等绝对说法；未把“电子态从未被当作变量”写成全领域事实。三条路线并非都含Cu，电子态研究也已有先例。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述建议（约60秒）：三条路线各有优势，重点看最右列。Rh基体系有较强的偶联能力，但成本和助剂效应明显；非贵金属复合体系常通过界面分工完成活化和偶联，但存在多产物竞争；Cu@Na-Beta在所报道条件下乙醇是唯一有机产物，且连续运行稳定。沿用同样制法与相同Cu含量，更换Na-ZSM-5后，乙醇STY由258降至59，说明封装环境重要。原文的机制解释突出限域、台阶及空位，同时已有Cu价态表征。自然引出的问题是：在尽量保持结构可比的条件下，能否建立可调、可量化的Cu⁰/Cu⁺—性能关系？这里提出问题，不展开XANES/XPS差异、不列后续研究方案。</a:t>
            </a:r>
          </a:p>
          <a:p/>
          <a:p>
            <a:r>
              <a:t>[1] Ding L. et al. Chem 2020, 6, 2673–2689. DOI: 10.1016/j.chempr.2020.07.001。</a:t>
            </a:r>
          </a:p>
          <a:p>
            <a:r>
              <a:t>258与59来自Table 1中Cu@Na-Beta和Cu@Na-ZSM-5，单位mg·gcat⁻¹·h⁻¹；同工况300 °C、1.3 MPa、H₂/CO₂=3、GHSV 12000 mL·gcat⁻¹·h⁻¹。Cu含量8.24 wt%为XRF测定。乙醇“唯一有机产物”并不排除CO；此条件下CO₂转化率7.9%，CO选择性30.5%，乙醇选择性100%仅限有机产物基准。</a:t>
            </a:r>
          </a:p>
          <a:p>
            <a:r>
              <a:t>Fig.1D原文裁片，来自用户此前上传Cu_ethanol_proposal_v3.pptx内ppt/media/image11.png。保留坐标、图例、D标记及原始插图，未重绘。100 h稳定性试验工况同上。已核对原文图注。</a:t>
            </a:r>
          </a:p>
          <a:p>
            <a:r>
              <a:t>0.19 eV来自Fig.4H/I和对应正文：Cu空位Cu(221)表面上CO₂*+CH₃*→CH₃COO*的DFT势垒，未含零点能校正。不是实验测得的总体活化能。DFT同时研究完整、Cu空位及O掺杂模型，故未采用工作流中“纯金属模型/只有几何”的绝对表述。Cu价态也确有XANES与XPS/Auger表征。</a:t>
            </a:r>
          </a:p>
          <a:p>
            <a:r>
              <a:t>原文链接：https://doi.org/10.1016/j.chempr.2020.07.001；核验文本：https://www.lookchem.com/FreePDFArticle_64-17-5_80493901.htm。</a:t>
            </a:r>
          </a:p>
          <a:p/>
          <a:p>
            <a:r>
              <a:t>[2] Kostyniuk A., Likozar B. Chemical Engineering Journal 2025, 503, 158467. DOI: 10.1016/j.cej.2024.158467。</a:t>
            </a:r>
          </a:p>
          <a:p>
            <a:r>
              <a:t>[3] Recent advances in thermo-catalytic CO₂ hydrogenation to ethanol. Fuel 2026, 416, 138593. DOI: 10.1016/j.fuel.2026.138593。</a:t>
            </a:r>
          </a:p>
          <a:p>
            <a:r>
              <a:t>[4] Kusama et al. Ethanol synthesis by catalytic hydrogenation of CO₂ over Rh–Fe/SiO₂ catalysts. Energy 1997, 22, 343–348. DOI: 10.1016/S0360-5442(96)00095-3。出版摘要明确讨论Fe改变Rh电子态，因此不能概括“三类路线从未研究电子态”。Chem 2020 Table 1的Ru–Fe标注与其引用原始论文的Rh–Fe存在差异，本页以原始论文为准。</a:t>
            </a:r>
          </a:p>
          <a:p/>
          <a:p>
            <a:r>
              <a:t>补充核验但未在正文展开：[5] Phongprueksathat et al. Key Drivers of Activity and Selectivity in Cu-Based Catalysts for Methanol Synthesis From CO₂. Angew. Chem. Int. Ed. 2026. DOI: 10.1002/anie.2693293。该文明确研究助剂电子效应，且反应是甲醇合成，不能据此直接证明乙醇领域存在同样缺口。工作流所列10.1016/j.apcatb.2025.125724同样研究CO₂制甲醇，不作为CO₂制乙醇的直接性能证据。</a:t>
            </a:r>
          </a:p>
          <a:p/>
          <a:p>
            <a:r>
              <a:t>边界：表格“活性位解释”为对代表文献的归纳，不是完整领域综述；不采用“无法工业化”“普遍10–30%”“选择性全领域最好”等未经统一口径支持的判断。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cas.cn/" TargetMode="External"/><Relationship Id="rId3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eg"/><Relationship Id="rId3" Type="http://schemas.openxmlformats.org/officeDocument/2006/relationships/image" Target="../media/image6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hyperlink" Target="https://www.cas.cn/" TargetMode="External"/><Relationship Id="rId3" Type="http://schemas.openxmlformats.org/officeDocument/2006/relationships/image" Target="../media/image1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</p:nvPr>
        </p:nvSpPr>
        <p:spPr bwMode="auto">
          <a:xfrm>
            <a:off x="395844" y="92549"/>
            <a:ext cx="9955481" cy="865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3600" b="1">
                <a:solidFill>
                  <a:srgbClr val="004E9C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</p:nvPr>
        </p:nvSpPr>
        <p:spPr bwMode="auto">
          <a:xfrm>
            <a:off x="395844" y="92549"/>
            <a:ext cx="9955481" cy="865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3600" b="1">
                <a:solidFill>
                  <a:srgbClr val="003F98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A377DF-5019-4FC8-B740-683B59BB8E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4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8BCE3B-6028-4C3D-8729-3D668FC96AA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4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4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F0A5B5-1DC6-47DF-A1A0-8E10E7CFC3C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7" y="1535113"/>
            <a:ext cx="538956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7" y="2174875"/>
            <a:ext cx="538956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F22B7B-0A96-49A8-898F-5B574246380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655F0F-D9CC-4BF0-90F7-37847E5637E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1DDE0F-F358-4CA8-AAFA-F2095135DD2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6" y="273054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3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5C656-63A1-45CE-9309-D42BAAFFA60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5ED2D-490B-4952-A88E-B23390CE812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F94509-8500-4816-8DAA-A8E2AFBA712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2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893167-8505-4AAC-89B2-3879FF204F4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239349" y="634677"/>
            <a:ext cx="11809312" cy="562075"/>
          </a:xfrm>
          <a:prstGeom prst="rect">
            <a:avLst/>
          </a:prstGeom>
        </p:spPr>
        <p:txBody>
          <a:bodyPr lIns="91062" tIns="45530" rIns="91062" bIns="45530"/>
          <a:lstStyle>
            <a:lvl1pPr algn="l">
              <a:defRPr sz="3735" spc="100" baseline="0">
                <a:solidFill>
                  <a:srgbClr val="C00000"/>
                </a:solidFill>
                <a:latin typeface="Noto Serif CJK SC"/>
                <a:ea typeface="Noto Serif CJK SC" panose="0201060003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 bwMode="auto">
          <a:xfrm>
            <a:off x="-1" y="1268760"/>
            <a:ext cx="9576000" cy="18000"/>
          </a:xfrm>
          <a:prstGeom prst="rect">
            <a:avLst/>
          </a:prstGeom>
          <a:gradFill flip="none" rotWithShape="1">
            <a:gsLst>
              <a:gs pos="50000">
                <a:srgbClr val="C00000"/>
              </a:gs>
              <a:gs pos="0">
                <a:schemeClr val="bg1"/>
              </a:gs>
            </a:gsLst>
            <a:lin ang="108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416" tIns="60706" rIns="121416" bIns="60706" numCol="1" rtlCol="0" anchor="t" anchorCtr="0" compatLnSpc="1"/>
          <a:lstStyle/>
          <a:p>
            <a:endParaRPr lang="zh-CN" altLang="en-US" sz="24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356354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354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356354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017A4A9B-9035-48C0-8290-E8CB8F97A013}" type="slidenum">
              <a:rPr lang="zh-CN" altLang="en-US"/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小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593248" y="6470450"/>
            <a:ext cx="589227" cy="365125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fld id="{C29D8F93-F8B8-48CE-B7F7-E780DAB890E3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0" y="0"/>
            <a:ext cx="4511824" cy="6858000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3500000" scaled="1"/>
            <a:tileRect/>
          </a:gradFill>
          <a:ln w="3175">
            <a:noFill/>
          </a:ln>
          <a:effectLst/>
        </p:spPr>
        <p:txBody>
          <a:bodyPr wrap="square" lIns="121912" tIns="60956" rIns="121912" bIns="60956" anchor="ctr">
            <a:noAutofit/>
          </a:bodyPr>
          <a:lstStyle/>
          <a:p>
            <a:pPr algn="ctr" eaLnBrk="0" hangingPunct="0">
              <a:buClr>
                <a:srgbClr val="66FFFF"/>
              </a:buClr>
            </a:pPr>
            <a:endParaRPr lang="zh-CN" altLang="en-US" sz="3200" b="1" kern="0">
              <a:solidFill>
                <a:prstClr val="white"/>
              </a:solidFill>
              <a:latin typeface="Noto Serif CJK SC" panose="020B0604020202020204" pitchFamily="34" charset="0"/>
              <a:ea typeface="Noto Serif CJK SC" panose="02010600030101010101" pitchFamily="2" charset="-122"/>
              <a:cs typeface="Noto Serif CJK SC" panose="020B0604020202020204" pitchFamily="34" charset="0"/>
            </a:endParaRPr>
          </a:p>
        </p:txBody>
      </p:sp>
      <p:sp>
        <p:nvSpPr>
          <p:cNvPr id="5" name="矩形 18"/>
          <p:cNvSpPr/>
          <p:nvPr userDrawn="1"/>
        </p:nvSpPr>
        <p:spPr>
          <a:xfrm>
            <a:off x="0" y="0"/>
            <a:ext cx="4511824" cy="6858000"/>
          </a:xfrm>
          <a:custGeom>
            <a:avLst/>
            <a:gdLst>
              <a:gd name="connsiteX0" fmla="*/ 0 w 3383868"/>
              <a:gd name="connsiteY0" fmla="*/ 0 h 6858000"/>
              <a:gd name="connsiteX1" fmla="*/ 3383868 w 3383868"/>
              <a:gd name="connsiteY1" fmla="*/ 0 h 6858000"/>
              <a:gd name="connsiteX2" fmla="*/ 3383868 w 3383868"/>
              <a:gd name="connsiteY2" fmla="*/ 6858000 h 6858000"/>
              <a:gd name="connsiteX3" fmla="*/ 0 w 3383868"/>
              <a:gd name="connsiteY3" fmla="*/ 6858000 h 6858000"/>
              <a:gd name="connsiteX4" fmla="*/ 0 w 3383868"/>
              <a:gd name="connsiteY4" fmla="*/ 0 h 6858000"/>
              <a:gd name="connsiteX0-1" fmla="*/ 0 w 3383868"/>
              <a:gd name="connsiteY0-2" fmla="*/ 0 h 6858000"/>
              <a:gd name="connsiteX1-3" fmla="*/ 3383868 w 3383868"/>
              <a:gd name="connsiteY1-4" fmla="*/ 0 h 6858000"/>
              <a:gd name="connsiteX2-5" fmla="*/ 3383868 w 3383868"/>
              <a:gd name="connsiteY2-6" fmla="*/ 6858000 h 6858000"/>
              <a:gd name="connsiteX3-7" fmla="*/ 0 w 3383868"/>
              <a:gd name="connsiteY3-8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383868" h="6858000">
                <a:moveTo>
                  <a:pt x="0" y="0"/>
                </a:moveTo>
                <a:lnTo>
                  <a:pt x="3383868" y="0"/>
                </a:lnTo>
                <a:lnTo>
                  <a:pt x="3383868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359912" y="3963139"/>
            <a:ext cx="37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0168" y="2664000"/>
            <a:ext cx="3471488" cy="1069979"/>
          </a:xfrm>
        </p:spPr>
        <p:txBody>
          <a:bodyPr/>
          <a:lstStyle>
            <a:lvl1pPr algn="dist">
              <a:defRPr sz="44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A784E-391F-4F89-A8E1-8860923EBC6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Title 1"/>
          <p:cNvSpPr txBox="1"/>
          <p:nvPr userDrawn="1"/>
        </p:nvSpPr>
        <p:spPr>
          <a:xfrm>
            <a:off x="47328" y="-27384"/>
            <a:ext cx="10515600" cy="864096"/>
          </a:xfrm>
          <a:prstGeom prst="rect">
            <a:avLst/>
          </a:prstGeom>
        </p:spPr>
        <p:txBody>
          <a:bodyPr vert="horz" lIns="96000" tIns="96000" rIns="96000" bIns="9600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  <a:cs typeface="Noto Serif CJK SC"/>
              </a:defRPr>
            </a:lvl1pPr>
          </a:lstStyle>
          <a:p>
            <a:pPr algn="l"/>
            <a:endParaRPr lang="en-US" sz="3735" dirty="0">
              <a:solidFill>
                <a:prstClr val="black"/>
              </a:solidFill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0" y="836712"/>
            <a:ext cx="12192000" cy="0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224790" y="117000"/>
            <a:ext cx="6159210" cy="629920"/>
          </a:xfr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rgbClr val="004098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8722" name="Picture 2" descr="https://www.cas.cn/images/z19_logo.png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479250" y="117000"/>
            <a:ext cx="2592750" cy="602187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Documents and Settings\Administrator\桌面\所标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9784" y="168275"/>
            <a:ext cx="6096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5"/>
          <p:cNvSpPr txBox="1">
            <a:spLocks noChangeArrowheads="1"/>
          </p:cNvSpPr>
          <p:nvPr userDrawn="1"/>
        </p:nvSpPr>
        <p:spPr bwMode="auto">
          <a:xfrm>
            <a:off x="10668001" y="136525"/>
            <a:ext cx="1024639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erif CJK SC"/>
                <a:ea typeface="Noto Serif CJK SC"/>
                <a:cs typeface="Noto Serif CJK SC"/>
              </a:rPr>
              <a:t>DICP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erif CJK SC"/>
              <a:ea typeface="Noto Serif CJK SC"/>
              <a:cs typeface="Noto Serif CJK SC"/>
            </a:endParaRPr>
          </a:p>
        </p:txBody>
      </p:sp>
      <p:sp>
        <p:nvSpPr>
          <p:cNvPr id="4" name="灯片编号占位符 5"/>
          <p:cNvSpPr txBox="1">
            <a:spLocks noChangeArrowheads="1"/>
          </p:cNvSpPr>
          <p:nvPr userDrawn="1"/>
        </p:nvSpPr>
        <p:spPr bwMode="auto">
          <a:xfrm>
            <a:off x="9347200" y="6491289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49958AC-D867-4BB1-89EA-99F8D89ECA74}" type="slidenum">
              <a:rPr kumimoji="0" lang="zh-CN" altLang="en-US" sz="1200" b="0" i="1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Noto Serif CJK SC" panose="020B0604020202020204" pitchFamily="34" charset="0"/>
                <a:ea typeface="Noto Serif CJK SC" panose="02010600030101010101" pitchFamily="2" charset="-122"/>
                <a:cs typeface="Noto Serif CJK SC"/>
              </a:rPr>
            </a:fld>
            <a:endParaRPr kumimoji="0" lang="zh-CN" altLang="en-US" sz="12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erif CJK SC" panose="020B0604020202020204" pitchFamily="34" charset="0"/>
              <a:ea typeface="Noto Serif CJK SC" panose="02010600030101010101" pitchFamily="2" charset="-122"/>
              <a:cs typeface="Noto Serif CJK SC"/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Noto Serif CJK SC"/>
              <a:ea typeface="Noto Serif CJK SC" panose="02010600030101010101" pitchFamily="2" charset="-122"/>
              <a:cs typeface="Noto Serif CJK SC"/>
            </a:endParaRPr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CJK SC"/>
              <a:ea typeface="Noto Serif CJK SC" panose="02010600030101010101" pitchFamily="2" charset="-122"/>
              <a:cs typeface="Noto Serif CJK SC"/>
            </a:endParaRPr>
          </a:p>
        </p:txBody>
      </p:sp>
    </p:spTree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 flipH="1">
            <a:off x="-1" y="1"/>
            <a:ext cx="12192001" cy="6858000"/>
          </a:xfrm>
          <a:prstGeom prst="rect">
            <a:avLst/>
          </a:prstGeom>
          <a:gradFill flip="none" rotWithShape="1">
            <a:gsLst>
              <a:gs pos="76000">
                <a:schemeClr val="bg1">
                  <a:lumMod val="85000"/>
                  <a:alpha val="30000"/>
                </a:schemeClr>
              </a:gs>
              <a:gs pos="14000">
                <a:srgbClr val="256385">
                  <a:alpha val="75000"/>
                </a:srgbClr>
              </a:gs>
              <a:gs pos="44000">
                <a:schemeClr val="bg1">
                  <a:lumMod val="85000"/>
                  <a:alpha val="5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pic>
        <p:nvPicPr>
          <p:cNvPr id="9" name="图片 8" descr="资源 9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58460" y="443230"/>
            <a:ext cx="1275080" cy="12750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16BECE2-2199-48FC-AAAD-F990584713F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07CAF2-55D6-4104-B3ED-B9F13A48519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8" y="958850"/>
            <a:ext cx="11396663" cy="6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9939" y="77788"/>
            <a:ext cx="863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604567" y="6356351"/>
            <a:ext cx="447502" cy="343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tx1"/>
                </a:solidFill>
                <a:latin typeface="Noto Serif CJK SC" panose="020B0604020202020204" pitchFamily="34" charset="0"/>
                <a:cs typeface="Noto Serif CJK SC" panose="020B0604020202020204" pitchFamily="34" charset="0"/>
              </a:defRPr>
            </a:lvl1pPr>
          </a:lstStyle>
          <a:p>
            <a:fld id="{5D42E840-DB4D-4613-9801-0A608BBD03C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769B5D-2B9E-4097-B447-B9AE8A9D542D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A377DF-5019-4FC8-B740-683B59BB8E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4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8BCE3B-6028-4C3D-8729-3D668FC96AA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4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4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F0A5B5-1DC6-47DF-A1A0-8E10E7CFC3C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7" y="1535113"/>
            <a:ext cx="538956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7" y="2174875"/>
            <a:ext cx="538956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F22B7B-0A96-49A8-898F-5B574246380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655F0F-D9CC-4BF0-90F7-37847E5637E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1DDE0F-F358-4CA8-AAFA-F2095135DD2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6" y="273054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3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5C656-63A1-45CE-9309-D42BAAFFA60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5ED2D-490B-4952-A88E-B23390CE812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F94509-8500-4816-8DAA-A8E2AFBA712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2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893167-8505-4AAC-89B2-3879FF204F4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239349" y="634677"/>
            <a:ext cx="11809312" cy="562075"/>
          </a:xfrm>
          <a:prstGeom prst="rect">
            <a:avLst/>
          </a:prstGeom>
        </p:spPr>
        <p:txBody>
          <a:bodyPr lIns="91062" tIns="45530" rIns="91062" bIns="45530"/>
          <a:lstStyle>
            <a:lvl1pPr algn="l">
              <a:defRPr sz="3735" spc="100" baseline="0">
                <a:solidFill>
                  <a:srgbClr val="C00000"/>
                </a:solidFill>
                <a:latin typeface="Noto Serif CJK SC"/>
                <a:ea typeface="Noto Serif CJK SC" panose="0201060003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 bwMode="auto">
          <a:xfrm>
            <a:off x="-1" y="1268760"/>
            <a:ext cx="9576000" cy="18000"/>
          </a:xfrm>
          <a:prstGeom prst="rect">
            <a:avLst/>
          </a:prstGeom>
          <a:gradFill flip="none" rotWithShape="1">
            <a:gsLst>
              <a:gs pos="50000">
                <a:srgbClr val="C00000"/>
              </a:gs>
              <a:gs pos="0">
                <a:schemeClr val="bg1"/>
              </a:gs>
            </a:gsLst>
            <a:lin ang="108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416" tIns="60706" rIns="121416" bIns="60706" numCol="1" rtlCol="0" anchor="t" anchorCtr="0" compatLnSpc="1"/>
          <a:lstStyle/>
          <a:p>
            <a:endParaRPr lang="zh-CN" altLang="en-US" sz="24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356354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8E0D15-1A6B-4929-BF9A-52CE8FD03295}" type="datetime1">
              <a:rPr lang="zh-CN" altLang="en-US" smtClean="0"/>
            </a:fld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354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356354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017A4A9B-9035-48C0-8290-E8CB8F97A013}" type="slidenum">
              <a:rPr lang="zh-CN" altLang="en-US"/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小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593248" y="6470450"/>
            <a:ext cx="589227" cy="365125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fld id="{C29D8F93-F8B8-48CE-B7F7-E780DAB890E3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0" y="0"/>
            <a:ext cx="4511824" cy="6858000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3500000" scaled="1"/>
            <a:tileRect/>
          </a:gradFill>
          <a:ln w="3175">
            <a:noFill/>
          </a:ln>
          <a:effectLst/>
        </p:spPr>
        <p:txBody>
          <a:bodyPr wrap="square" lIns="121912" tIns="60956" rIns="121912" bIns="60956" anchor="ctr">
            <a:noAutofit/>
          </a:bodyPr>
          <a:lstStyle/>
          <a:p>
            <a:pPr algn="ctr" eaLnBrk="0" hangingPunct="0">
              <a:buClr>
                <a:srgbClr val="66FFFF"/>
              </a:buClr>
            </a:pPr>
            <a:endParaRPr lang="zh-CN" altLang="en-US" sz="3200" b="1" kern="0">
              <a:solidFill>
                <a:prstClr val="white"/>
              </a:solidFill>
              <a:latin typeface="Noto Serif CJK SC" panose="020B0604020202020204" pitchFamily="34" charset="0"/>
              <a:ea typeface="Noto Serif CJK SC" panose="02010600030101010101" pitchFamily="2" charset="-122"/>
              <a:cs typeface="Noto Serif CJK SC" panose="020B0604020202020204" pitchFamily="34" charset="0"/>
            </a:endParaRPr>
          </a:p>
        </p:txBody>
      </p:sp>
      <p:sp>
        <p:nvSpPr>
          <p:cNvPr id="5" name="矩形 18"/>
          <p:cNvSpPr/>
          <p:nvPr userDrawn="1"/>
        </p:nvSpPr>
        <p:spPr>
          <a:xfrm>
            <a:off x="0" y="0"/>
            <a:ext cx="4511824" cy="6858000"/>
          </a:xfrm>
          <a:custGeom>
            <a:avLst/>
            <a:gdLst>
              <a:gd name="connsiteX0" fmla="*/ 0 w 3383868"/>
              <a:gd name="connsiteY0" fmla="*/ 0 h 6858000"/>
              <a:gd name="connsiteX1" fmla="*/ 3383868 w 3383868"/>
              <a:gd name="connsiteY1" fmla="*/ 0 h 6858000"/>
              <a:gd name="connsiteX2" fmla="*/ 3383868 w 3383868"/>
              <a:gd name="connsiteY2" fmla="*/ 6858000 h 6858000"/>
              <a:gd name="connsiteX3" fmla="*/ 0 w 3383868"/>
              <a:gd name="connsiteY3" fmla="*/ 6858000 h 6858000"/>
              <a:gd name="connsiteX4" fmla="*/ 0 w 3383868"/>
              <a:gd name="connsiteY4" fmla="*/ 0 h 6858000"/>
              <a:gd name="connsiteX0-1" fmla="*/ 0 w 3383868"/>
              <a:gd name="connsiteY0-2" fmla="*/ 0 h 6858000"/>
              <a:gd name="connsiteX1-3" fmla="*/ 3383868 w 3383868"/>
              <a:gd name="connsiteY1-4" fmla="*/ 0 h 6858000"/>
              <a:gd name="connsiteX2-5" fmla="*/ 3383868 w 3383868"/>
              <a:gd name="connsiteY2-6" fmla="*/ 6858000 h 6858000"/>
              <a:gd name="connsiteX3-7" fmla="*/ 0 w 3383868"/>
              <a:gd name="connsiteY3-8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383868" h="6858000">
                <a:moveTo>
                  <a:pt x="0" y="0"/>
                </a:moveTo>
                <a:lnTo>
                  <a:pt x="3383868" y="0"/>
                </a:lnTo>
                <a:lnTo>
                  <a:pt x="3383868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359912" y="3963139"/>
            <a:ext cx="37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0168" y="2664000"/>
            <a:ext cx="3471488" cy="1069979"/>
          </a:xfrm>
        </p:spPr>
        <p:txBody>
          <a:bodyPr/>
          <a:lstStyle>
            <a:lvl1pPr algn="dist">
              <a:defRPr sz="44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</p:nvPr>
        </p:nvSpPr>
        <p:spPr bwMode="auto">
          <a:xfrm>
            <a:off x="395844" y="92549"/>
            <a:ext cx="9955481" cy="865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3600" b="1">
                <a:solidFill>
                  <a:srgbClr val="004E9C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</p:nvPr>
        </p:nvSpPr>
        <p:spPr bwMode="auto">
          <a:xfrm>
            <a:off x="395844" y="92549"/>
            <a:ext cx="9955481" cy="865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3600" b="1">
                <a:solidFill>
                  <a:srgbClr val="003F98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A377DF-5019-4FC8-B740-683B59BB8E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4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8BCE3B-6028-4C3D-8729-3D668FC96AA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4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4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F0A5B5-1DC6-47DF-A1A0-8E10E7CFC3C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7" y="1535113"/>
            <a:ext cx="538956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7" y="2174875"/>
            <a:ext cx="538956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F22B7B-0A96-49A8-898F-5B574246380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655F0F-D9CC-4BF0-90F7-37847E5637E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1DDE0F-F358-4CA8-AAFA-F2095135DD2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6" y="273054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3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5C656-63A1-45CE-9309-D42BAAFFA60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5ED2D-490B-4952-A88E-B23390CE812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F94509-8500-4816-8DAA-A8E2AFBA712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2"/>
            <a:ext cx="80772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893167-8505-4AAC-89B2-3879FF204F4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BAA7-3AF6-4759-8086-FFC677CC6B1F}" type="slidenum">
              <a:rPr lang="zh-CN" altLang="en-US" smtClean="0"/>
            </a:fld>
            <a:endParaRPr lang="zh-CN" altLang="en-US"/>
          </a:p>
        </p:txBody>
      </p:sp>
      <p:sp>
        <p:nvSpPr>
          <p:cNvPr id="5" name="Content Placeholder 2"/>
          <p:cNvSpPr>
            <a:spLocks noGrp="1"/>
          </p:cNvSpPr>
          <p:nvPr>
            <p:ph idx="15"/>
          </p:nvPr>
        </p:nvSpPr>
        <p:spPr>
          <a:xfrm>
            <a:off x="3215680" y="28848"/>
            <a:ext cx="8366720" cy="504000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0000CC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239349" y="634677"/>
            <a:ext cx="11809312" cy="562075"/>
          </a:xfrm>
          <a:prstGeom prst="rect">
            <a:avLst/>
          </a:prstGeom>
        </p:spPr>
        <p:txBody>
          <a:bodyPr lIns="91062" tIns="45530" rIns="91062" bIns="45530"/>
          <a:lstStyle>
            <a:lvl1pPr algn="l">
              <a:defRPr sz="3735" spc="100" baseline="0">
                <a:solidFill>
                  <a:srgbClr val="C00000"/>
                </a:solidFill>
                <a:latin typeface="Noto Serif CJK SC"/>
                <a:ea typeface="Noto Serif CJK SC" panose="0201060003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 bwMode="auto">
          <a:xfrm>
            <a:off x="-1" y="1268760"/>
            <a:ext cx="9576000" cy="18000"/>
          </a:xfrm>
          <a:prstGeom prst="rect">
            <a:avLst/>
          </a:prstGeom>
          <a:gradFill flip="none" rotWithShape="1">
            <a:gsLst>
              <a:gs pos="50000">
                <a:srgbClr val="C00000"/>
              </a:gs>
              <a:gs pos="0">
                <a:schemeClr val="bg1"/>
              </a:gs>
            </a:gsLst>
            <a:lin ang="108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416" tIns="60706" rIns="121416" bIns="60706" numCol="1" rtlCol="0" anchor="t" anchorCtr="0" compatLnSpc="1"/>
          <a:lstStyle/>
          <a:p>
            <a:endParaRPr lang="zh-CN" altLang="en-US" sz="24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356354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 sz="1800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354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356354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017A4A9B-9035-48C0-8290-E8CB8F97A013}" type="slidenum">
              <a:rPr lang="zh-CN" altLang="en-US"/>
            </a:fld>
            <a:endParaRPr lang="en-US" altLang="zh-CN"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小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593248" y="6470450"/>
            <a:ext cx="589227" cy="365125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fld id="{C29D8F93-F8B8-48CE-B7F7-E780DAB890E3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矩形 3"/>
          <p:cNvSpPr/>
          <p:nvPr userDrawn="1"/>
        </p:nvSpPr>
        <p:spPr>
          <a:xfrm>
            <a:off x="0" y="0"/>
            <a:ext cx="4511824" cy="6858000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3500000" scaled="1"/>
            <a:tileRect/>
          </a:gradFill>
          <a:ln w="3175">
            <a:noFill/>
          </a:ln>
          <a:effectLst/>
        </p:spPr>
        <p:txBody>
          <a:bodyPr wrap="square" lIns="121912" tIns="60956" rIns="121912" bIns="60956" anchor="ctr">
            <a:noAutofit/>
          </a:bodyPr>
          <a:lstStyle/>
          <a:p>
            <a:pPr algn="ctr" eaLnBrk="0" hangingPunct="0">
              <a:buClr>
                <a:srgbClr val="66FFFF"/>
              </a:buClr>
            </a:pPr>
            <a:endParaRPr lang="zh-CN" altLang="en-US" sz="3200" b="1" kern="0">
              <a:solidFill>
                <a:prstClr val="white"/>
              </a:solidFill>
              <a:latin typeface="Noto Serif CJK SC" panose="020B0604020202020204" pitchFamily="34" charset="0"/>
              <a:ea typeface="Noto Serif CJK SC" panose="02010600030101010101" pitchFamily="2" charset="-122"/>
              <a:cs typeface="Noto Serif CJK SC" panose="020B0604020202020204" pitchFamily="34" charset="0"/>
            </a:endParaRPr>
          </a:p>
        </p:txBody>
      </p:sp>
      <p:sp>
        <p:nvSpPr>
          <p:cNvPr id="5" name="矩形 18"/>
          <p:cNvSpPr/>
          <p:nvPr userDrawn="1"/>
        </p:nvSpPr>
        <p:spPr>
          <a:xfrm>
            <a:off x="0" y="0"/>
            <a:ext cx="4511824" cy="6858000"/>
          </a:xfrm>
          <a:custGeom>
            <a:avLst/>
            <a:gdLst>
              <a:gd name="connsiteX0" fmla="*/ 0 w 3383868"/>
              <a:gd name="connsiteY0" fmla="*/ 0 h 6858000"/>
              <a:gd name="connsiteX1" fmla="*/ 3383868 w 3383868"/>
              <a:gd name="connsiteY1" fmla="*/ 0 h 6858000"/>
              <a:gd name="connsiteX2" fmla="*/ 3383868 w 3383868"/>
              <a:gd name="connsiteY2" fmla="*/ 6858000 h 6858000"/>
              <a:gd name="connsiteX3" fmla="*/ 0 w 3383868"/>
              <a:gd name="connsiteY3" fmla="*/ 6858000 h 6858000"/>
              <a:gd name="connsiteX4" fmla="*/ 0 w 3383868"/>
              <a:gd name="connsiteY4" fmla="*/ 0 h 6858000"/>
              <a:gd name="connsiteX0-1" fmla="*/ 0 w 3383868"/>
              <a:gd name="connsiteY0-2" fmla="*/ 0 h 6858000"/>
              <a:gd name="connsiteX1-3" fmla="*/ 3383868 w 3383868"/>
              <a:gd name="connsiteY1-4" fmla="*/ 0 h 6858000"/>
              <a:gd name="connsiteX2-5" fmla="*/ 3383868 w 3383868"/>
              <a:gd name="connsiteY2-6" fmla="*/ 6858000 h 6858000"/>
              <a:gd name="connsiteX3-7" fmla="*/ 0 w 3383868"/>
              <a:gd name="connsiteY3-8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383868" h="6858000">
                <a:moveTo>
                  <a:pt x="0" y="0"/>
                </a:moveTo>
                <a:lnTo>
                  <a:pt x="3383868" y="0"/>
                </a:lnTo>
                <a:lnTo>
                  <a:pt x="3383868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359912" y="3963139"/>
            <a:ext cx="37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0168" y="2664000"/>
            <a:ext cx="3471488" cy="1069979"/>
          </a:xfrm>
        </p:spPr>
        <p:txBody>
          <a:bodyPr/>
          <a:lstStyle>
            <a:lvl1pPr algn="dist">
              <a:defRPr sz="44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A784E-391F-4F89-A8E1-8860923EBC6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Title 1"/>
          <p:cNvSpPr txBox="1"/>
          <p:nvPr userDrawn="1"/>
        </p:nvSpPr>
        <p:spPr>
          <a:xfrm>
            <a:off x="47328" y="-27384"/>
            <a:ext cx="10515600" cy="864096"/>
          </a:xfrm>
          <a:prstGeom prst="rect">
            <a:avLst/>
          </a:prstGeom>
        </p:spPr>
        <p:txBody>
          <a:bodyPr vert="horz" lIns="96000" tIns="96000" rIns="96000" bIns="9600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  <a:cs typeface="Noto Serif CJK SC"/>
              </a:defRPr>
            </a:lvl1pPr>
          </a:lstStyle>
          <a:p>
            <a:pPr algn="l"/>
            <a:endParaRPr lang="en-US" sz="3735" dirty="0">
              <a:solidFill>
                <a:prstClr val="black"/>
              </a:solidFill>
            </a:endParaRPr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0" y="836712"/>
            <a:ext cx="12192000" cy="0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224790" y="117000"/>
            <a:ext cx="6159210" cy="629920"/>
          </a:xfr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rgbClr val="004098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158722" name="Picture 2" descr="https://www.cas.cn/images/z19_logo.png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479250" y="117000"/>
            <a:ext cx="2592750" cy="602187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Documents and Settings\Administrator\桌面\所标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9784" y="168275"/>
            <a:ext cx="6096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5"/>
          <p:cNvSpPr txBox="1">
            <a:spLocks noChangeArrowheads="1"/>
          </p:cNvSpPr>
          <p:nvPr userDrawn="1"/>
        </p:nvSpPr>
        <p:spPr bwMode="auto">
          <a:xfrm>
            <a:off x="10668001" y="136525"/>
            <a:ext cx="1024639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erif CJK SC"/>
                <a:ea typeface="Noto Serif CJK SC"/>
                <a:cs typeface="Noto Serif CJK SC"/>
              </a:rPr>
              <a:t>DICP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erif CJK SC"/>
              <a:ea typeface="Noto Serif CJK SC"/>
              <a:cs typeface="Noto Serif CJK SC"/>
            </a:endParaRPr>
          </a:p>
        </p:txBody>
      </p:sp>
      <p:sp>
        <p:nvSpPr>
          <p:cNvPr id="4" name="灯片编号占位符 5"/>
          <p:cNvSpPr txBox="1">
            <a:spLocks noChangeArrowheads="1"/>
          </p:cNvSpPr>
          <p:nvPr userDrawn="1"/>
        </p:nvSpPr>
        <p:spPr bwMode="auto">
          <a:xfrm>
            <a:off x="9347200" y="6491289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Noto Serif CJK SC" panose="020B0604020202020204" pitchFamily="34" charset="0"/>
                <a:ea typeface="Noto Serif CJK SC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49958AC-D867-4BB1-89EA-99F8D89ECA74}" type="slidenum">
              <a:rPr kumimoji="0" lang="zh-CN" altLang="en-US" sz="1200" b="0" i="1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Noto Serif CJK SC" panose="020B0604020202020204" pitchFamily="34" charset="0"/>
                <a:ea typeface="Noto Serif CJK SC" panose="02010600030101010101" pitchFamily="2" charset="-122"/>
                <a:cs typeface="Noto Serif CJK SC"/>
              </a:rPr>
            </a:fld>
            <a:endParaRPr kumimoji="0" lang="zh-CN" altLang="en-US" sz="12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erif CJK SC" panose="020B0604020202020204" pitchFamily="34" charset="0"/>
              <a:ea typeface="Noto Serif CJK SC" panose="02010600030101010101" pitchFamily="2" charset="-122"/>
              <a:cs typeface="Noto Serif CJK SC"/>
            </a:endParaRPr>
          </a:p>
        </p:txBody>
      </p:sp>
      <p:sp>
        <p:nvSpPr>
          <p:cNvPr id="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Noto Serif CJK SC"/>
              <a:ea typeface="Noto Serif CJK SC" panose="02010600030101010101" pitchFamily="2" charset="-122"/>
              <a:cs typeface="Noto Serif CJK SC"/>
            </a:endParaRPr>
          </a:p>
        </p:txBody>
      </p:sp>
      <p:sp>
        <p:nvSpPr>
          <p:cNvPr id="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erif CJK SC"/>
              <a:ea typeface="Noto Serif CJK SC" panose="02010600030101010101" pitchFamily="2" charset="-122"/>
              <a:cs typeface="Noto Serif CJK SC"/>
            </a:endParaRPr>
          </a:p>
        </p:txBody>
      </p:sp>
    </p:spTree>
  </p:cSld>
  <p:clrMapOvr>
    <a:masterClrMapping/>
  </p:clrMapOvr>
  <p:transition spd="slow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image" Target="../media/image5.jpeg"/><Relationship Id="rId24" Type="http://schemas.openxmlformats.org/officeDocument/2006/relationships/image" Target="../media/image6.png"/><Relationship Id="rId2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2.xml"/><Relationship Id="rId18" Type="http://schemas.openxmlformats.org/officeDocument/2006/relationships/slideLayout" Target="../slideLayouts/slideLayout53.xml"/><Relationship Id="rId19" Type="http://schemas.openxmlformats.org/officeDocument/2006/relationships/image" Target="../media/image5.jpeg"/><Relationship Id="rId20" Type="http://schemas.openxmlformats.org/officeDocument/2006/relationships/image" Target="../media/image6.png"/><Relationship Id="rId21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8.xml"/><Relationship Id="rId6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0.xml"/><Relationship Id="rId8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67.xml"/><Relationship Id="rId15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70.xml"/><Relationship Id="rId18" Type="http://schemas.openxmlformats.org/officeDocument/2006/relationships/slideLayout" Target="../slideLayouts/slideLayout71.xml"/><Relationship Id="rId19" Type="http://schemas.openxmlformats.org/officeDocument/2006/relationships/slideLayout" Target="../slideLayouts/slideLayout72.xml"/><Relationship Id="rId20" Type="http://schemas.openxmlformats.org/officeDocument/2006/relationships/slideLayout" Target="../slideLayouts/slideLayout73.xml"/><Relationship Id="rId21" Type="http://schemas.openxmlformats.org/officeDocument/2006/relationships/slideLayout" Target="../slideLayouts/slideLayout74.xml"/><Relationship Id="rId22" Type="http://schemas.openxmlformats.org/officeDocument/2006/relationships/slideLayout" Target="../slideLayouts/slideLayout75.xml"/><Relationship Id="rId23" Type="http://schemas.openxmlformats.org/officeDocument/2006/relationships/image" Target="../media/image5.jpeg"/><Relationship Id="rId24" Type="http://schemas.openxmlformats.org/officeDocument/2006/relationships/image" Target="../media/image6.png"/><Relationship Id="rId25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600204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Noto Serif CJK SC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Noto Serif CJK SC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C069E33-1594-4D12-9250-6C440E0726C8}" type="slidenum">
              <a:rPr lang="zh-CN" altLang="en-US">
                <a:latin typeface="Noto Serif CJK SC" panose="020B0604020202020204" pitchFamily="34" charset="0"/>
              </a:rPr>
            </a:fld>
            <a:endParaRPr lang="zh-CN" altLang="en-US">
              <a:latin typeface="Noto Serif CJK SC" panose="020B0604020202020204" pitchFamily="34" charset="0"/>
            </a:endParaRPr>
          </a:p>
        </p:txBody>
      </p:sp>
      <p:pic>
        <p:nvPicPr>
          <p:cNvPr id="2055" name="图片 8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8" y="958850"/>
            <a:ext cx="11396663" cy="6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" name="图片 7"/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9939" y="77788"/>
            <a:ext cx="863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600204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prstClr val="black">
                    <a:tint val="75000"/>
                  </a:prstClr>
                </a:solidFill>
                <a:latin typeface="Noto Serif CJK SC" panose="020B0604020202020204" pitchFamily="34" charset="0"/>
              </a:rPr>
              <a:t>2020-5-13</a:t>
            </a:r>
            <a:endParaRPr lang="zh-CN" altLang="en-US">
              <a:solidFill>
                <a:prstClr val="black">
                  <a:tint val="75000"/>
                </a:prstClr>
              </a:solidFill>
              <a:latin typeface="Noto Serif CJK SC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Noto Serif CJK SC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C069E33-1594-4D12-9250-6C440E0726C8}" type="slidenum">
              <a:rPr lang="zh-CN" altLang="en-US">
                <a:latin typeface="Noto Serif CJK SC" panose="020B0604020202020204" pitchFamily="34" charset="0"/>
              </a:rPr>
            </a:fld>
            <a:endParaRPr lang="zh-CN" altLang="en-US">
              <a:latin typeface="Noto Serif CJK SC" panose="020B0604020202020204" pitchFamily="34" charset="0"/>
            </a:endParaRPr>
          </a:p>
        </p:txBody>
      </p:sp>
      <p:pic>
        <p:nvPicPr>
          <p:cNvPr id="2055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8" y="958850"/>
            <a:ext cx="11396663" cy="6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" name="图片 7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9939" y="77788"/>
            <a:ext cx="863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600204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Noto Serif CJK SC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latin typeface="Noto Serif CJK SC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C069E33-1594-4D12-9250-6C440E0726C8}" type="slidenum">
              <a:rPr lang="zh-CN" altLang="en-US">
                <a:latin typeface="Noto Serif CJK SC" panose="020B0604020202020204" pitchFamily="34" charset="0"/>
              </a:rPr>
            </a:fld>
            <a:endParaRPr lang="zh-CN" altLang="en-US">
              <a:latin typeface="Noto Serif CJK SC" panose="020B0604020202020204" pitchFamily="34" charset="0"/>
            </a:endParaRPr>
          </a:p>
        </p:txBody>
      </p:sp>
      <p:pic>
        <p:nvPicPr>
          <p:cNvPr id="2055" name="图片 8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8" y="958850"/>
            <a:ext cx="11396663" cy="6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" name="图片 7"/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9939" y="77788"/>
            <a:ext cx="863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726" r:id="rId2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Noto Serif CJK SC" panose="020B0604020202020204" pitchFamily="34" charset="0"/>
          <a:ea typeface="Noto Serif CJK SC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Noto Serif CJK SC"/>
          <a:ea typeface="Noto Serif CJK SC"/>
          <a:cs typeface="Noto Serif CJK SC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" name=""/>
        <p:cNvGrpSpPr/>
        <p:nvPr/>
      </p:nvGrpSpPr>
      <p:grpSpPr/>
      <p:grpSp>
        <p:nvGrpSpPr>
          <p:cNvPr id="11" name="组合 32"/>
          <p:cNvGrpSpPr/>
          <p:nvPr/>
        </p:nvGrpSpPr>
        <p:grpSpPr>
          <a:xfrm>
            <a:off x="-2" y="261669"/>
            <a:ext cx="1827197" cy="486499"/>
            <a:chOff x="-114776" y="0"/>
            <a:chExt cx="1827197" cy="486499"/>
          </a:xfrm>
        </p:grpSpPr>
        <p:sp>
          <p:nvSpPr>
            <p:cNvPr id="12" name="矩形: 圆顶角 30"/>
            <p:cNvSpPr/>
            <p:nvPr/>
          </p:nvSpPr>
          <p:spPr>
            <a:xfrm rot="5400000">
              <a:off x="555573" y="-670349"/>
              <a:ext cx="486499" cy="182719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4E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13" name="文本框 31"/>
            <p:cNvSpPr txBox="1"/>
            <p:nvPr/>
          </p:nvSpPr>
          <p:spPr>
            <a:xfrm>
              <a:off x="-114141" y="66675"/>
              <a:ext cx="182626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b="1" dirty="0">
                  <a:solidFill>
                    <a:schemeClr val="bg1"/>
                  </a:solidFill>
                  <a:latin typeface="Noto Serif CJK SC" panose="02010600030101010101" pitchFamily="2" charset="-122"/>
                  <a:ea typeface="Noto Serif CJK SC" panose="02010600030101010101" pitchFamily="2" charset="-122"/>
                </a:rPr>
                <a:t>研究背景</a:t>
              </a:r>
              <a:endParaRPr lang="zh-CN" b="1" dirty="0">
                <a:solidFill>
                  <a:schemeClr val="bg1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endParaRPr>
            </a:p>
          </p:txBody>
        </p:sp>
      </p:grpSp>
      <p:sp>
        <p:nvSpPr>
          <p:cNvPr id="14" name="拟定合成路线与结构核验"/>
          <p:cNvSpPr>
            <a:spLocks noGrp="1"/>
          </p:cNvSpPr>
          <p:nvPr/>
        </p:nvSpPr>
        <p:spPr>
          <a:xfrm>
            <a:off x="1847088" y="256032"/>
            <a:ext cx="9189720" cy="5852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4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CO₂ 制乙醇：价值明确，难在选择性 C–C 偶联</a:t>
            </a:r>
            <a:endParaRPr sz="2500" b="1">
              <a:solidFill>
                <a:srgbClr val="014099"/>
              </a:solidFill>
              <a:latin typeface="Noto Serif CJK SC"/>
              <a:ea typeface="Noto Serif CJK SC"/>
              <a:cs typeface="Noto Serif CJK SC"/>
            </a:endParaRPr>
          </a:p>
        </p:txBody>
      </p:sp>
      <p:sp>
        <p:nvSpPr>
          <p:cNvPr id="16" name="6"/>
          <p:cNvSpPr>
            <a:spLocks noGrp="1"/>
          </p:cNvSpPr>
          <p:nvPr/>
        </p:nvSpPr>
        <p:spPr>
          <a:xfrm>
            <a:off x="11192256" y="6473952"/>
            <a:ext cx="45720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lang="en-US"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rPr>
              <a:t>1</a:t>
            </a:r>
            <a:endParaRPr lang="en-US" sz="1100" b="0">
              <a:solidFill>
                <a:srgbClr val="66717F"/>
              </a:solidFill>
              <a:latin typeface="Noto Serif CJK SC"/>
              <a:ea typeface="Noto Serif CJK SC"/>
              <a:cs typeface="Noto Serif CJK SC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58368" y="1234440"/>
            <a:ext cx="6629400" cy="1472184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" y="1380744"/>
            <a:ext cx="6309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14099"/>
                </a:solidFill>
                <a:latin typeface="Noto Serif CJK SC"/>
                <a:ea typeface="Noto Serif CJK SC"/>
              </a:rPr>
              <a:t>价值｜液体燃料与高值化学品原料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" y="1828800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25364A"/>
                </a:solidFill>
                <a:latin typeface="Noto Serif CJK SC"/>
                <a:ea typeface="Noto Serif CJK SC"/>
              </a:rPr>
              <a:t>乙醇可转化为乙烯等化学品；储存氢的化学能。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" y="2249424"/>
            <a:ext cx="630936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14099"/>
                </a:solidFill>
                <a:latin typeface="Noto Serif CJK SC"/>
                <a:ea typeface="Noto Serif CJK SC"/>
              </a:rPr>
              <a:t>2CO₂ + 6H₂ → C₂H₅OH(g) + 3H₂O(g)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2862072"/>
            <a:ext cx="6473952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>
                <a:solidFill>
                  <a:srgbClr val="66717F"/>
                </a:solidFill>
                <a:latin typeface="Noto Serif CJK SC"/>
                <a:ea typeface="Noto Serif CJK SC"/>
              </a:rPr>
              <a:t>ΔH = −173.7 kJ·mol⁻¹；乙醇保留约 94% 的进料 H₂ 化学能 [1]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3538728"/>
            <a:ext cx="187451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6D77"/>
                </a:solidFill>
                <a:latin typeface="Noto Serif CJK SC"/>
                <a:ea typeface="Noto Serif CJK SC"/>
              </a:rPr>
              <a:t>CO₂ 活化难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3538728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5364A"/>
                </a:solidFill>
                <a:latin typeface="Noto Serif CJK SC"/>
                <a:ea typeface="Noto Serif CJK SC"/>
              </a:rPr>
              <a:t>分子稳定，低温活化受限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" y="3995928"/>
            <a:ext cx="6492240" cy="10972"/>
          </a:xfrm>
          <a:prstGeom prst="rect">
            <a:avLst/>
          </a:prstGeom>
          <a:solidFill>
            <a:srgbClr val="D4D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4169664"/>
            <a:ext cx="187451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6D77"/>
                </a:solidFill>
                <a:latin typeface="Noto Serif CJK SC"/>
                <a:ea typeface="Noto Serif CJK SC"/>
              </a:rPr>
              <a:t>C–C 偶联难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4169664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5364A"/>
                </a:solidFill>
                <a:latin typeface="Noto Serif CJK SC"/>
                <a:ea typeface="Noto Serif CJK SC"/>
              </a:rPr>
              <a:t>CO、CH₄、CH₃OH 等 C₁ 路径竞争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" y="4626864"/>
            <a:ext cx="6492240" cy="10972"/>
          </a:xfrm>
          <a:prstGeom prst="rect">
            <a:avLst/>
          </a:prstGeom>
          <a:solidFill>
            <a:srgbClr val="D4D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4800600"/>
            <a:ext cx="187451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6D77"/>
                </a:solidFill>
                <a:latin typeface="Noto Serif CJK SC"/>
                <a:ea typeface="Noto Serif CJK SC"/>
              </a:rPr>
              <a:t>性能兼顾难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8920" y="48006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5364A"/>
                </a:solidFill>
                <a:latin typeface="Noto Serif CJK SC"/>
                <a:ea typeface="Noto Serif CJK SC"/>
              </a:rPr>
              <a:t>温和条件、高选择性与稳定性需兼顾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" y="5257800"/>
            <a:ext cx="6492240" cy="10972"/>
          </a:xfrm>
          <a:prstGeom prst="rect">
            <a:avLst/>
          </a:prstGeom>
          <a:solidFill>
            <a:srgbClr val="D4D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99248" y="1307592"/>
            <a:ext cx="3712463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14099"/>
                </a:solidFill>
                <a:latin typeface="Noto Serif CJK SC"/>
                <a:ea typeface="Noto Serif CJK SC"/>
              </a:rPr>
              <a:t>压力影响转化与产物分布</a:t>
            </a:r>
          </a:p>
        </p:txBody>
      </p:sp>
      <p:pic>
        <p:nvPicPr>
          <p:cNvPr id="32" name="Picture 31" descr="08_image10.png"/>
          <p:cNvPicPr>
            <a:picLocks noChangeAspect="1"/>
          </p:cNvPicPr>
          <p:nvPr/>
        </p:nvPicPr>
        <p:blipFill>
          <a:blip r:embed="rId3"/>
          <a:srcRect b="2200"/>
          <a:stretch>
            <a:fillRect/>
          </a:stretch>
        </p:blipFill>
        <p:spPr>
          <a:xfrm>
            <a:off x="7699248" y="1837943"/>
            <a:ext cx="3694176" cy="292997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735824" y="4928616"/>
            <a:ext cx="3685032" cy="55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717F"/>
                </a:solidFill>
                <a:latin typeface="Noto Serif CJK SC"/>
                <a:ea typeface="Noto Serif CJK SC"/>
              </a:rPr>
              <a:t>Cu@Na-Beta｜原文 Fig. 1B [1]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717F"/>
                </a:solidFill>
                <a:latin typeface="Noto Serif CJK SC"/>
                <a:ea typeface="Noto Serif CJK SC"/>
              </a:rPr>
              <a:t>乙醇为唯一有机产物，仍有 CO。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733288"/>
            <a:ext cx="10844784" cy="13716"/>
          </a:xfrm>
          <a:prstGeom prst="rect">
            <a:avLst/>
          </a:prstGeom>
          <a:solidFill>
            <a:srgbClr val="014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" y="5879592"/>
            <a:ext cx="1062532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14099"/>
                </a:solidFill>
                <a:latin typeface="Noto Serif CJK SC"/>
                <a:ea typeface="Noto Serif CJK SC"/>
              </a:rPr>
              <a:t>认知入口：几何结构之外，Cu 电子态如何影响乙醇形成？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" y="6428232"/>
            <a:ext cx="10332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10" b="0">
                <a:solidFill>
                  <a:srgbClr val="66717F"/>
                </a:solidFill>
                <a:latin typeface="Noto Serif CJK SC"/>
                <a:ea typeface="Noto Serif CJK SC"/>
              </a:rPr>
              <a:t>[1] Ding et al., Chem 2020, 6, 2673–2689.  [2] Chem. Eng. J. 2025, 503, 158467.  [3] Fuel 2026, 416, 138593.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" name=""/>
        <p:cNvGrpSpPr/>
        <p:nvPr/>
      </p:nvGrpSpPr>
      <p:grpSpPr/>
      <p:grpSp>
        <p:nvGrpSpPr>
          <p:cNvPr id="11" name="组合 32"/>
          <p:cNvGrpSpPr/>
          <p:nvPr/>
        </p:nvGrpSpPr>
        <p:grpSpPr>
          <a:xfrm>
            <a:off x="-2" y="261669"/>
            <a:ext cx="1827197" cy="486499"/>
            <a:chOff x="-114776" y="0"/>
            <a:chExt cx="1827197" cy="486499"/>
          </a:xfrm>
        </p:grpSpPr>
        <p:sp>
          <p:nvSpPr>
            <p:cNvPr id="12" name="矩形: 圆顶角 30"/>
            <p:cNvSpPr/>
            <p:nvPr/>
          </p:nvSpPr>
          <p:spPr>
            <a:xfrm rot="5400000">
              <a:off x="555573" y="-670349"/>
              <a:ext cx="486499" cy="182719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4E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/>
            </a:p>
          </p:txBody>
        </p:sp>
        <p:sp>
          <p:nvSpPr>
            <p:cNvPr id="13" name="文本框 31"/>
            <p:cNvSpPr txBox="1"/>
            <p:nvPr/>
          </p:nvSpPr>
          <p:spPr>
            <a:xfrm>
              <a:off x="-114141" y="66675"/>
              <a:ext cx="182626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b="1" dirty="0">
                  <a:solidFill>
                    <a:schemeClr val="bg1"/>
                  </a:solidFill>
                  <a:latin typeface="Noto Serif CJK SC" panose="02010600030101010101" pitchFamily="2" charset="-122"/>
                  <a:ea typeface="Noto Serif CJK SC" panose="02010600030101010101" pitchFamily="2" charset="-122"/>
                </a:rPr>
                <a:t>研究现状</a:t>
              </a:r>
              <a:endParaRPr lang="zh-CN" b="1" dirty="0">
                <a:solidFill>
                  <a:schemeClr val="bg1"/>
                </a:solidFill>
                <a:latin typeface="Noto Serif CJK SC" panose="02010600030101010101" pitchFamily="2" charset="-122"/>
                <a:ea typeface="Noto Serif CJK SC" panose="02010600030101010101" pitchFamily="2" charset="-122"/>
              </a:endParaRPr>
            </a:p>
          </p:txBody>
        </p:sp>
      </p:grpSp>
      <p:sp>
        <p:nvSpPr>
          <p:cNvPr id="14" name="预期结果与可得结论"/>
          <p:cNvSpPr>
            <a:spLocks noGrp="1"/>
          </p:cNvSpPr>
          <p:nvPr/>
        </p:nvSpPr>
        <p:spPr>
          <a:xfrm>
            <a:off x="1847088" y="256032"/>
            <a:ext cx="9189720" cy="58521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ctr">
              <a:defRPr sz="25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400" b="1">
                <a:solidFill>
                  <a:srgbClr val="014099"/>
                </a:solidFill>
                <a:latin typeface="Noto Serif CJK SC"/>
                <a:ea typeface="Noto Serif CJK SC"/>
                <a:cs typeface="Noto Serif CJK SC"/>
              </a:rPr>
              <a:t>封装 Cu 选择性突出，价态贡献仍待分离</a:t>
            </a:r>
            <a:endParaRPr sz="2500" b="1">
              <a:solidFill>
                <a:srgbClr val="014099"/>
              </a:solidFill>
              <a:latin typeface="Noto Serif CJK SC"/>
              <a:ea typeface="Noto Serif CJK SC"/>
              <a:cs typeface="Noto Serif CJK SC"/>
            </a:endParaRPr>
          </a:p>
        </p:txBody>
      </p:sp>
      <p:sp>
        <p:nvSpPr>
          <p:cNvPr id="16" name="9"/>
          <p:cNvSpPr>
            <a:spLocks noGrp="1"/>
          </p:cNvSpPr>
          <p:nvPr/>
        </p:nvSpPr>
        <p:spPr>
          <a:xfrm>
            <a:off x="11192256" y="6473952"/>
            <a:ext cx="45720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defPPr>
          </a:lstStyle>
          <a:p>
            <a:pPr algn="r">
              <a:defRPr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lang="en-US" sz="1100" b="0">
                <a:solidFill>
                  <a:srgbClr val="66717F"/>
                </a:solidFill>
                <a:latin typeface="Noto Serif CJK SC"/>
                <a:ea typeface="Noto Serif CJK SC"/>
                <a:cs typeface="Noto Serif CJK SC"/>
              </a:rPr>
              <a:t>2</a:t>
            </a:r>
            <a:endParaRPr lang="en-US" sz="1100" b="0">
              <a:solidFill>
                <a:srgbClr val="66717F"/>
              </a:solidFill>
              <a:latin typeface="Noto Serif CJK SC"/>
              <a:ea typeface="Noto Serif CJK SC"/>
              <a:cs typeface="Noto Serif CJK SC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58368" y="1316736"/>
            <a:ext cx="7662672" cy="438912"/>
          </a:xfrm>
          <a:prstGeom prst="rect">
            <a:avLst/>
          </a:prstGeom>
          <a:solidFill>
            <a:srgbClr val="014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1399032"/>
            <a:ext cx="204825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erif CJK SC"/>
                <a:ea typeface="Noto Serif CJK SC"/>
              </a:rPr>
              <a:t>路线 / 代表体系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4368" y="1399032"/>
            <a:ext cx="1298448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erif CJK SC"/>
                <a:ea typeface="Noto Serif CJK SC"/>
              </a:rPr>
              <a:t>强项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1399032"/>
            <a:ext cx="137160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erif CJK SC"/>
                <a:ea typeface="Noto Serif CJK SC"/>
              </a:rPr>
              <a:t>局限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07024" y="1399032"/>
            <a:ext cx="2359152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oto Serif CJK SC"/>
                <a:ea typeface="Noto Serif CJK SC"/>
              </a:rPr>
              <a:t>活性位解释¹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1755648"/>
            <a:ext cx="7662672" cy="932688"/>
          </a:xfrm>
          <a:prstGeom prst="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1938528"/>
            <a:ext cx="201167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>
                <a:solidFill>
                  <a:srgbClr val="014099"/>
                </a:solidFill>
                <a:latin typeface="Noto Serif CJK SC"/>
                <a:ea typeface="Noto Serif CJK SC"/>
              </a:rPr>
              <a:t>贵金属（Rh 基）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>
                <a:solidFill>
                  <a:srgbClr val="014099"/>
                </a:solidFill>
                <a:latin typeface="Noto Serif CJK SC"/>
                <a:ea typeface="Noto Serif CJK SC"/>
              </a:rPr>
              <a:t>Rh–Fe/SiO₂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53512" y="1938528"/>
            <a:ext cx="126187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25364A"/>
                </a:solidFill>
                <a:latin typeface="Noto Serif CJK SC"/>
                <a:ea typeface="Noto Serif CJK SC"/>
              </a:rPr>
              <a:t>偶联能力强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98264" y="1938528"/>
            <a:ext cx="1335024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25364A"/>
                </a:solidFill>
                <a:latin typeface="Noto Serif CJK SC"/>
                <a:ea typeface="Noto Serif CJK SC"/>
              </a:rPr>
              <a:t>成本高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25364A"/>
                </a:solidFill>
                <a:latin typeface="Noto Serif CJK SC"/>
                <a:ea typeface="Noto Serif CJK SC"/>
              </a:rPr>
              <a:t>助剂影响明显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16168" y="1938528"/>
            <a:ext cx="2322576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25364A"/>
                </a:solidFill>
                <a:latin typeface="Noto Serif CJK SC"/>
                <a:ea typeface="Noto Serif CJK SC"/>
              </a:rPr>
              <a:t>金属–助剂协同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25364A"/>
                </a:solidFill>
                <a:latin typeface="Noto Serif CJK SC"/>
                <a:ea typeface="Noto Serif CJK SC"/>
              </a:rPr>
              <a:t>包含电子态解释 [4]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2679191"/>
            <a:ext cx="7662672" cy="9144"/>
          </a:xfrm>
          <a:prstGeom prst="rect">
            <a:avLst/>
          </a:prstGeom>
          <a:solidFill>
            <a:srgbClr val="D4D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2688336"/>
            <a:ext cx="7662672" cy="932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" y="2871216"/>
            <a:ext cx="201167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>
                <a:solidFill>
                  <a:srgbClr val="014099"/>
                </a:solidFill>
                <a:latin typeface="Noto Serif CJK SC"/>
                <a:ea typeface="Noto Serif CJK SC"/>
              </a:rPr>
              <a:t>非贵金属复合体系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>
                <a:solidFill>
                  <a:srgbClr val="014099"/>
                </a:solidFill>
                <a:latin typeface="Noto Serif CJK SC"/>
                <a:ea typeface="Noto Serif CJK SC"/>
              </a:rPr>
              <a:t>CuZnFe–K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53512" y="2871216"/>
            <a:ext cx="126187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25364A"/>
                </a:solidFill>
                <a:latin typeface="Noto Serif CJK SC"/>
                <a:ea typeface="Noto Serif CJK SC"/>
              </a:rPr>
              <a:t>材料成本较低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98264" y="2871216"/>
            <a:ext cx="1335024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25364A"/>
                </a:solidFill>
                <a:latin typeface="Noto Serif CJK SC"/>
                <a:ea typeface="Noto Serif CJK SC"/>
              </a:rPr>
              <a:t>多产物竞争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25364A"/>
                </a:solidFill>
                <a:latin typeface="Noto Serif CJK SC"/>
                <a:ea typeface="Noto Serif CJK SC"/>
              </a:rPr>
              <a:t>选择性不一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16168" y="2871216"/>
            <a:ext cx="2322576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25364A"/>
                </a:solidFill>
                <a:latin typeface="Noto Serif CJK SC"/>
                <a:ea typeface="Noto Serif CJK SC"/>
              </a:rPr>
              <a:t>双功能界面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25364A"/>
                </a:solidFill>
                <a:latin typeface="Noto Serif CJK SC"/>
                <a:ea typeface="Noto Serif CJK SC"/>
              </a:rPr>
              <a:t>活化与偶联分工 [2,3]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611880"/>
            <a:ext cx="7662672" cy="9144"/>
          </a:xfrm>
          <a:prstGeom prst="rect">
            <a:avLst/>
          </a:prstGeom>
          <a:solidFill>
            <a:srgbClr val="D4D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3621024"/>
            <a:ext cx="7662672" cy="932688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" y="3803904"/>
            <a:ext cx="201167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>
                <a:solidFill>
                  <a:srgbClr val="014099"/>
                </a:solidFill>
                <a:latin typeface="Noto Serif CJK SC"/>
                <a:ea typeface="Noto Serif CJK SC"/>
              </a:rPr>
              <a:t>分子筛封装 Cu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>
                <a:solidFill>
                  <a:srgbClr val="014099"/>
                </a:solidFill>
                <a:latin typeface="Noto Serif CJK SC"/>
                <a:ea typeface="Noto Serif CJK SC"/>
              </a:rPr>
              <a:t>Cu@Na-Beta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53512" y="3803904"/>
            <a:ext cx="126187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25364A"/>
                </a:solidFill>
                <a:latin typeface="Noto Serif CJK SC"/>
                <a:ea typeface="Noto Serif CJK SC"/>
              </a:rPr>
              <a:t>乙醇为唯一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25364A"/>
                </a:solidFill>
                <a:latin typeface="Noto Serif CJK SC"/>
                <a:ea typeface="Noto Serif CJK SC"/>
              </a:rPr>
              <a:t>有机产物 [1]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98264" y="3803904"/>
            <a:ext cx="1335024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25364A"/>
                </a:solidFill>
                <a:latin typeface="Noto Serif CJK SC"/>
                <a:ea typeface="Noto Serif CJK SC"/>
              </a:rPr>
              <a:t>对分子筛环境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25364A"/>
                </a:solidFill>
                <a:latin typeface="Noto Serif CJK SC"/>
                <a:ea typeface="Noto Serif CJK SC"/>
              </a:rPr>
              <a:t>敏感 [1]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16168" y="3803904"/>
            <a:ext cx="2322576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25364A"/>
                </a:solidFill>
                <a:latin typeface="Noto Serif CJK SC"/>
                <a:ea typeface="Noto Serif CJK SC"/>
              </a:rPr>
              <a:t>台阶、空位与限域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60" b="0">
                <a:solidFill>
                  <a:srgbClr val="25364A"/>
                </a:solidFill>
                <a:latin typeface="Noto Serif CJK SC"/>
                <a:ea typeface="Noto Serif CJK SC"/>
              </a:rPr>
              <a:t>Cu 价态已有表征 [1]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544568"/>
            <a:ext cx="7662672" cy="9144"/>
          </a:xfrm>
          <a:prstGeom prst="rect">
            <a:avLst/>
          </a:prstGeom>
          <a:solidFill>
            <a:srgbClr val="D4D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" y="4736592"/>
            <a:ext cx="7589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6717F"/>
                </a:solidFill>
                <a:latin typeface="Noto Serif CJK SC"/>
                <a:ea typeface="Noto Serif CJK SC"/>
              </a:rPr>
              <a:t>同法更换分子筛：Na-Beta → Na-ZSM-5 [1]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" y="5157216"/>
            <a:ext cx="7598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14099"/>
                </a:solidFill>
                <a:latin typeface="Noto Serif CJK SC"/>
                <a:ea typeface="Noto Serif CJK SC"/>
              </a:rPr>
              <a:t>乙醇 STY：258 → 59 mg·gcat⁻¹·h⁻¹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68512" y="1335024"/>
            <a:ext cx="2788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14099"/>
                </a:solidFill>
                <a:latin typeface="Noto Serif CJK SC"/>
                <a:ea typeface="Noto Serif CJK SC"/>
              </a:rPr>
              <a:t>标杆：连续运行稳定</a:t>
            </a:r>
          </a:p>
        </p:txBody>
      </p:sp>
      <p:pic>
        <p:nvPicPr>
          <p:cNvPr id="43" name="Picture 42" descr="09_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2" y="1856231"/>
            <a:ext cx="2862072" cy="230361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668512" y="4251960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66717F"/>
                </a:solidFill>
                <a:latin typeface="Noto Serif CJK SC"/>
                <a:ea typeface="Noto Serif CJK SC"/>
              </a:rPr>
              <a:t>Cu@Na-Beta｜原文 Fig. 1D [1]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59368" y="4654296"/>
            <a:ext cx="28346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14099"/>
                </a:solidFill>
                <a:latin typeface="Noto Serif CJK SC"/>
                <a:ea typeface="Noto Serif CJK SC"/>
              </a:rPr>
              <a:t>Cu 载量 8.24 wt%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59368" y="5038344"/>
            <a:ext cx="28346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14099"/>
                </a:solidFill>
                <a:latin typeface="Noto Serif CJK SC"/>
                <a:ea typeface="Noto Serif CJK SC"/>
              </a:rPr>
              <a:t>偶联势垒 0.19 eV*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59368" y="5404104"/>
            <a:ext cx="2852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17F"/>
                </a:solidFill>
                <a:latin typeface="Noto Serif CJK SC"/>
                <a:ea typeface="Noto Serif CJK SC"/>
              </a:rPr>
              <a:t>* Cu 空位 Cu(221) 模型，DFT [1]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" y="5751576"/>
            <a:ext cx="10844784" cy="13716"/>
          </a:xfrm>
          <a:prstGeom prst="rect">
            <a:avLst/>
          </a:prstGeom>
          <a:solidFill>
            <a:srgbClr val="014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6384" y="5888736"/>
            <a:ext cx="1071676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14099"/>
                </a:solidFill>
                <a:latin typeface="Noto Serif CJK SC"/>
                <a:ea typeface="Noto Serif CJK SC"/>
              </a:rPr>
              <a:t>待回答：在结构可比的封装 Cu 中，Cu⁰ / Cu⁺ 各自贡献多少？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8952" y="6391656"/>
            <a:ext cx="103235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17F"/>
                </a:solidFill>
                <a:latin typeface="Noto Serif CJK SC"/>
                <a:ea typeface="Noto Serif CJK SC"/>
              </a:rPr>
              <a:t>¹ 活性位解释为文献归纳；不同文献的工况及选择性基准不一，不作跨体系性能排名。完整出处见备注。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8952" y="6629400"/>
            <a:ext cx="10323576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66717F"/>
                </a:solidFill>
                <a:latin typeface="Noto Serif CJK SC"/>
                <a:ea typeface="Noto Serif CJK SC"/>
              </a:rPr>
              <a:t>[1] Chem 2020, 6, 2673–2689.  [2] CEJ 2025, 503, 158467.  [3] Fuel 2026, 416, 138593.  [4] Energy 1997, 22, 343–348.</a:t>
            </a:r>
          </a:p>
        </p:txBody>
      </p:sp>
    </p:spTree>
  </p:cSld>
  <p:clrMapOvr>
    <a:masterClrMapping/>
  </p:clrMapOvr>
</p:sld>
</file>

<file path=ppt/tags/tag13.xml><?xml version="1.0" encoding="utf-8"?>
<p:tagLst xmlns:p="http://schemas.openxmlformats.org/presentationml/2006/main">
  <p:tag name="ISPRING_PRESENTATION_TITLE" val="PowerPoint 演示文稿"/>
  <p:tag name="KSO_WPP_MARK_KEY" val="29a7757d-6c0b-44f1-9ac6-ae21c2ab77ee"/>
  <p:tag name="COMMONDATA" val="eyJoZGlkIjoiODE2OTQwZDllYTBhMDVkOWJjMjQzMTgyNDlkYTVhOTgifQ=="/>
  <p:tag name="commondata" val="eyJoZGlkIjoiOGIzZWI0MmEwM2M1Yjc0MGM4YzYyZDg4NzI4N2JiYWEifQ=="/>
  <p:tag name="resource_record_key" val="{&quot;70&quot;:[3327356,3312417,3321782]}"/>
</p:tagLst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Noto Serif CJK SC"/>
        <a:ea typeface="Noto Serif CJK SC"/>
        <a:cs typeface="Noto Serif CJK SC"/>
        <a:font script="Jpan" typeface="ＭＳ Ｐゴシック"/>
        <a:font script="Hang" typeface="맑은 고딕"/>
        <a:font script="Hans" typeface="Noto Serif CJK SC"/>
        <a:font script="Hant" typeface="Noto Serif CJK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erif CJK SC"/>
        <a:ea typeface="Noto Serif CJK SC"/>
        <a:cs typeface="Noto Serif CJK SC"/>
        <a:font script="Jpan" typeface="ＭＳ Ｐゴシック"/>
        <a:font script="Hang" typeface="맑은 고딕"/>
        <a:font script="Hans" typeface="Noto Serif CJK SC"/>
        <a:font script="Hant" typeface="Noto Serif CJK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Noto Serif CJK SC"/>
        <a:cs typeface="Noto Serif CJK SC"/>
        <a:font script="Jpan" typeface="游ゴシック Light"/>
        <a:font script="Hang" typeface="맑은 고딕"/>
        <a:font script="Hans" typeface="Noto Serif CJK SC"/>
        <a:font script="Hant" typeface="Noto Serif CJK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erif CJK SC"/>
        <a:ea typeface="Noto Serif CJK SC"/>
        <a:cs typeface="Noto Serif CJK SC"/>
        <a:font script="Jpan" typeface="游ゴシック"/>
        <a:font script="Hang" typeface="맑은 고딕"/>
        <a:font script="Hans" typeface="Noto Serif CJK SC"/>
        <a:font script="Hant" typeface="Noto Serif CJK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Noto Serif CJK SC"/>
        <a:ea typeface="Noto Serif CJK SC"/>
        <a:cs typeface="Noto Serif CJK SC"/>
        <a:font script="Jpan" typeface="ＭＳ Ｐゴシック"/>
        <a:font script="Hang" typeface="맑은 고딕"/>
        <a:font script="Hans" typeface="Noto Serif CJK SC"/>
        <a:font script="Hant" typeface="Noto Serif CJK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erif CJK SC"/>
        <a:ea typeface="Noto Serif CJK SC"/>
        <a:cs typeface="Noto Serif CJK SC"/>
        <a:font script="Jpan" typeface="ＭＳ Ｐゴシック"/>
        <a:font script="Hang" typeface="맑은 고딕"/>
        <a:font script="Hans" typeface="Noto Serif CJK SC"/>
        <a:font script="Hant" typeface="Noto Serif CJK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Noto Serif CJK SC"/>
        <a:ea typeface="Noto Serif CJK SC"/>
        <a:cs typeface="Noto Serif CJK SC"/>
        <a:font script="Jpan" typeface="ＭＳ Ｐゴシック"/>
        <a:font script="Hang" typeface="맑은 고딕"/>
        <a:font script="Hans" typeface="Noto Serif CJK SC"/>
        <a:font script="Hant" typeface="Noto Serif CJK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erif CJK SC"/>
        <a:ea typeface="Noto Serif CJK SC"/>
        <a:cs typeface="Noto Serif CJK SC"/>
        <a:font script="Jpan" typeface="ＭＳ Ｐゴシック"/>
        <a:font script="Hang" typeface="맑은 고딕"/>
        <a:font script="Hans" typeface="Noto Serif CJK SC"/>
        <a:font script="Hant" typeface="Noto Serif CJK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Noto Serif CJK SC"/>
        <a:cs typeface="Noto Serif CJK SC"/>
        <a:font script="Jpan" typeface="ＭＳ Ｐゴシック"/>
        <a:font script="Hang" typeface="맑은 고딕"/>
        <a:font script="Hans" typeface="Noto Serif CJK SC"/>
        <a:font script="Hant" typeface="Noto Serif CJK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erif CJK SC"/>
        <a:ea typeface="Noto Serif CJK SC"/>
        <a:cs typeface="Noto Serif CJK SC"/>
        <a:font script="Jpan" typeface="ＭＳ Ｐゴシック"/>
        <a:font script="Hang" typeface="맑은 고딕"/>
        <a:font script="Hans" typeface="Noto Serif CJK SC"/>
        <a:font script="Hant" typeface="Noto Serif CJK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Noto Serif CJK SC"/>
        <a:cs typeface="Noto Serif CJK SC"/>
        <a:font script="Jpan" typeface="游ゴシック Light"/>
        <a:font script="Hang" typeface="맑은 고딕"/>
        <a:font script="Hans" typeface="Noto Serif CJK SC"/>
        <a:font script="Hant" typeface="Noto Serif CJK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erif CJK SC"/>
        <a:ea typeface="Noto Serif CJK SC"/>
        <a:cs typeface="Noto Serif CJK SC"/>
        <a:font script="Jpan" typeface="游ゴシック"/>
        <a:font script="Hang" typeface="맑은 고딕"/>
        <a:font script="Hans" typeface="Noto Serif CJK SC"/>
        <a:font script="Hant" typeface="Noto Serif CJK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2101</Words>
  <Application>WPS 演示</Application>
  <PresentationFormat>宽屏</PresentationFormat>
  <Paragraphs>298</Paragraphs>
  <Slides>8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宋体</vt:lpstr>
      <vt:lpstr>Wingdings</vt:lpstr>
      <vt:lpstr>Noto Serif CJK SC</vt:lpstr>
      <vt:lpstr>Noto Serif CJK SC</vt:lpstr>
      <vt:lpstr>Times New Roman</vt:lpstr>
      <vt:lpstr>Noto Serif CJK SC</vt:lpstr>
      <vt:lpstr>Times New Roman</vt:lpstr>
      <vt:lpstr>微软雅黑</vt:lpstr>
      <vt:lpstr>Arial Unicode MS</vt:lpstr>
      <vt:lpstr>1_自定义设计方案</vt:lpstr>
      <vt:lpstr>自定义设计方案</vt:lpstr>
      <vt:lpstr>2_自定义设计方案</vt:lpstr>
      <vt:lpstr>3_自定义设计方案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张捷</cp:lastModifiedBy>
  <cp:revision>1423</cp:revision>
  <dcterms:created xsi:type="dcterms:W3CDTF">2026-07-19T04:26:00Z</dcterms:created>
  <dcterms:modified xsi:type="dcterms:W3CDTF">2026-10-13T07:28:14Z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BEC41E318E2C44F4A2BF896433250AE3_13</vt:lpwstr>
  </property>
  <property fmtid="{D5CDD505-2E9C-101B-9397-08002B2CF9AE}" pid="3" name="KSOProductBuildVer">
    <vt:lpwstr>2052-12.1.0.28505</vt:lpwstr>
  </property>
</Properties>
</file>