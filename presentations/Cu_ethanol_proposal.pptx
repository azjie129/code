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71" r:id="rId3"/>
    <p:sldMasterId id="2147483685" r:id="rId4"/>
    <p:sldMasterId id="2147483704" r:id="rId5"/>
  </p:sldMasterIdLst>
  <p:notesMasterIdLst>
    <p:notesMasterId r:id="rId7"/>
  </p:notesMasterIdLst>
  <p:handoutMasterIdLst>
    <p:handoutMasterId r:id="rId11"/>
  </p:handoutMasterIdLst>
  <p:sldIdLst>
    <p:sldId id="11091409" r:id="rId6"/>
    <p:sldId id="11091458" r:id="rId17"/>
    <p:sldId id="11091459" r:id="rId18"/>
    <p:sldId id="11091460" r:id="rId19"/>
    <p:sldId id="11091461" r:id="rId20"/>
    <p:sldId id="11091462" r:id="rId21"/>
    <p:sldId id="11091463" r:id="rId22"/>
    <p:sldId id="11091464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5" userDrawn="1">
          <p15:clr>
            <a:srgbClr val="A4A3A4"/>
          </p15:clr>
        </p15:guide>
        <p15:guide id="2" orient="horz" pos="23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2C7"/>
    <a:srgbClr val="D99694"/>
    <a:srgbClr val="2B71B1"/>
    <a:srgbClr val="17375E"/>
    <a:srgbClr val="002060"/>
    <a:srgbClr val="003F98"/>
    <a:srgbClr val="CDE1F2"/>
    <a:srgbClr val="F80304"/>
    <a:srgbClr val="BD3D6E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 autoAdjust="0"/>
    <p:restoredTop sz="91269" autoAdjust="0"/>
  </p:normalViewPr>
  <p:slideViewPr>
    <p:cSldViewPr snapToGrid="0" showGuides="1">
      <p:cViewPr varScale="1">
        <p:scale>
          <a:sx n="101" d="100"/>
          <a:sy n="101" d="100"/>
        </p:scale>
        <p:origin x="1008" y="72"/>
      </p:cViewPr>
      <p:guideLst>
        <p:guide pos="3845"/>
        <p:guide orient="horz" pos="23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237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7" Type="http://schemas.openxmlformats.org/officeDocument/2006/relationships/tags" Target="tags/tag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402E-0A3A-4BB2-892E-2A006059FE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47892-CE47-41FF-9649-DF0E141C2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CD68-BB16-4B09-96DE-77E75F617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5D0D-1737-4DFB-8E55-DAD58C6B9E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本报告基于用户提供的逻辑文件，并核对两篇原始论文及 Chem 补充材料。目标是用稀土干预构建可检验的结构—价态—性能证据链，不预设稀土必然提升性能。参考文献：[1] Ding et al., Chem 2020, 6, 2673–2689, DOI:10.1016/j.chempr.2020.07.001；[2] Zhang et al., Angew. Chem. Int. Ed. 2025, 64, e202514920, DOI:10.1002/anie.202514920。机构标识和背景沿用用户模板，未补写汇报人或导师身份。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957E4-ECF1-46D8-A698-3B31F4379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图片直接截自 Chem 主文 PDF 第4页 Fig.1B、1D，无数据重绘。Table 1 的1.3 MPa基线为300°C，CO₂转化率7.9%，乙醇STY 258 mg gcat−1 h−1，CO选择性30.5%，有机产物中乙醇选择性约100%。因此不能将其写成全碳口径100%选择性；由CO比例可得乙醇碳选择性约69.5%。14%收率和约398 STY对应2.1 MPa而非1.3 MPa，已修正逻辑文件。对照浸渍Cu/Na-Beta STY46，258/46=5.61。原逻辑文件误将Cu@Na-ZSM-5的CO选择性25.4%写为乙醇选择性；原表乙醇在有机产物中占85.0%。100h稳定性在1.3MPa验证。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XANES为体相平均信息，表面敏感的XPS/AES可检测到少量电正性Cu，两者并非必然矛盾。Chem正文称金属铜主要为活性物种，并非严格证明只有Cu⁰活性。实验方法写明XPS/AES前在250°C、0.5MPa CO₂+3H₂处理40min后无空气转移；不表述为长期反应后直接淬冷数据。XPS Cu2p不能可靠区分Cu⁰/Cu⁺，AES为辅助而非取代工况定量。图片分别截自主文第6页Fig.2G和SI第8页Fig.S6b。原文也讨论铜与骨架氧的相互作用，故避免称原文“完全没有电子维度”。核心缺口为工况下电子态变化与反应性能的独立关联及因果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截自Angew主文第4页Fig.2d、2h，图中Cu(I)/Cu(0)含量根据谱学分析获得，非本项目数据。在固定6wt%Y系列中，Cu负载量改变后仍约0.4wt%Cu保持Cu(I)：具体约0.39±0.02、0.53±0.04、0.43±0.17wt%。不能把0.4wt%写成所有Cu中的0.4%，也不能把这些图说成已验证Y梯度对封装Cu颗粒的作用。原文乙醇脱氢不同于CO₂加氢，也不是该反应的严格逆反应。乙醇气氛下Cu(I)可继续还原，凸显工况依赖性。文中DFT支持Cu–Y邻近调节d态和还原中间体自由能。仅依据两篇文献不能断言全领域“从未报道”相关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拟开展方案，非已完成实验。原逻辑编号未使用S4，本报告保留S0/S1/S2/S3/S5/S6以便追溯。起步探索低负载Y/La离子交换或晶内锚定，晶内位置必须用表征验证；不宣称离子交换必然等同于进入骨架位。S3制备方式与位置同时变化，不能认为天然“只差一个变量”。S5考察稀土对介孔和酸性的独立影响；S6应与匹配低Cu负载、无稀土样品配对，才有助于区分载量、粒径和价态效应。Cu保留率80%来自逻辑文件的项目门槛，不是文献共识，酸洗条件需标准化并结合TEM/孔结构，不凭单一酸洗判断封装。f(Cu⁺)定义为工况Cu⁺在总Cu中的比例，报告置信区间和检出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左图为Chem原文第9页Fig.3A截图，展示已发表的同位素切换结果，不代表本课题结果。原位XANES以Cu foil/Cu₂O/CuO为标准，需检查LCF拟合残差、标准适配性与低含量检出限；EXAFS和CO-DRIFTS交叉验证。CO吸附红外峰位受配位与覆盖度影响，不固定套用2110/2070 cm−1作绝对定量。性能在可比转化率、粒径、孔结构、酸性和Cu负载下比较；TOF应注明位点计数方法。¹³CO₂切换的混合同位素乙醇响应可支持CO₂与表面C1物种耦合，但单独不能指认Cu(I)位点。DFT应构建自洽、合理电荷补偿的Cu–Y/载体界面模型，不能简单人为把金属表面一个Cu设为Cu⁺即视为真实活性位；以电荷、投影态密度和能垒表征电子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时间来自用户逻辑文件，为计划而非已实现进度。基线复现目标STY≥200 mg gcat−1 h−1，对应原文258的约77.5%，同时确认乙醇为唯一有机产物并完整记录CO和碳平衡。不复制未随文件提供的“四档DGC定稿配方”，具体制备依原文方法复现与本地实验条件确认。样品阶段若Cu保留率/介孔指标未达到门槛，先优化工艺，不跳到电子态归因。水共进料5–20vol%可作为待优化范围，需考虑分压与停留时间控制，并设置干燥基线回切以区分可逆抑制和失活。论文和专利为潜在产出，不作无条件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结局均是条件化的预期，不是对结果的承诺。价态与性能相关不自动等于Cu(I)直接参与C–C偶联；必须由结构控制、可逆干预、路径证据和理论解释共同支持。无变化不能证明活性位纯几何，也可能是Cu(I)调节范围不足、检出限、位点分布或覆盖度变化抵消等因素。若稀土破坏封装，仅证明当前制备条件的限制，不泛化为两类调控不可兼得。可复用的定量方法与负结果只有在检测能力、误差和对照充分时才构成可信产出。两篇论文完整DOI见封面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as.cn/" TargetMode="External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www.cas.cn/" TargetMode="External"/><Relationship Id="rId3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超粗黑简体"/>
                <a:ea typeface="方正超粗黑简体"/>
                <a:cs typeface="方正超粗黑简体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超粗黑简体"/>
              <a:ea typeface="方正超粗黑简体"/>
              <a:cs typeface="方正超粗黑简体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H="1">
            <a:off x="-1" y="1"/>
            <a:ext cx="12192001" cy="6858000"/>
          </a:xfrm>
          <a:prstGeom prst="rect">
            <a:avLst/>
          </a:prstGeom>
          <a:gradFill flip="none" rotWithShape="1">
            <a:gsLst>
              <a:gs pos="76000">
                <a:schemeClr val="bg1">
                  <a:lumMod val="85000"/>
                  <a:alpha val="30000"/>
                </a:schemeClr>
              </a:gs>
              <a:gs pos="14000">
                <a:srgbClr val="256385">
                  <a:alpha val="75000"/>
                </a:srgbClr>
              </a:gs>
              <a:gs pos="44000">
                <a:schemeClr val="bg1">
                  <a:lumMod val="85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9" name="图片 8" descr="资源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460" y="443230"/>
            <a:ext cx="1275080" cy="1275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04567" y="6356351"/>
            <a:ext cx="447502" cy="343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D42E840-DB4D-4613-9801-0A608BBD03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9B5D-2B9E-4097-B447-B9AE8A9D54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0D15-1A6B-4929-BF9A-52CE8FD03295}" type="datetime1">
              <a:rPr lang="zh-CN" altLang="en-US" smtClean="0"/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超粗黑简体"/>
                <a:ea typeface="方正超粗黑简体"/>
                <a:cs typeface="方正超粗黑简体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超粗黑简体"/>
              <a:ea typeface="方正超粗黑简体"/>
              <a:cs typeface="方正超粗黑简体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image" Target="../media/image5.jpeg"/><Relationship Id="rId24" Type="http://schemas.openxmlformats.org/officeDocument/2006/relationships/image" Target="../media/image6.png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image" Target="../media/image5.jpeg"/><Relationship Id="rId20" Type="http://schemas.openxmlformats.org/officeDocument/2006/relationships/image" Target="../media/image6.png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75.xml"/><Relationship Id="rId23" Type="http://schemas.openxmlformats.org/officeDocument/2006/relationships/image" Target="../media/image5.jpeg"/><Relationship Id="rId24" Type="http://schemas.openxmlformats.org/officeDocument/2006/relationships/image" Target="../media/image6.png"/><Relationship Id="rId2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microsoft.com/office/2007/relationships/hdphoto" Target="../media/image8.wdp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7084"/>
            <a:ext cx="12192000" cy="4390916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矩形: 圆角 12"/>
          <p:cNvSpPr/>
          <p:nvPr/>
        </p:nvSpPr>
        <p:spPr>
          <a:xfrm>
            <a:off x="-1" y="1576873"/>
            <a:ext cx="12192001" cy="1813093"/>
          </a:xfrm>
          <a:prstGeom prst="roundRect">
            <a:avLst>
              <a:gd name="adj" fmla="val 10350"/>
            </a:avLst>
          </a:prstGeom>
          <a:solidFill>
            <a:srgbClr val="014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阿里巴巴普惠体" panose="00020600040101010101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-38391" y="5731544"/>
            <a:ext cx="3468343" cy="1366557"/>
            <a:chOff x="-38391" y="5726916"/>
            <a:chExt cx="3468343" cy="1366557"/>
          </a:xfrm>
        </p:grpSpPr>
        <p:sp>
          <p:nvSpPr>
            <p:cNvPr id="23" name="任意多边形: 形状 3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任意多边形: 形状 4"/>
            <p:cNvSpPr/>
            <p:nvPr/>
          </p:nvSpPr>
          <p:spPr>
            <a:xfrm rot="20929187">
              <a:off x="-38391" y="6080250"/>
              <a:ext cx="2200002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16730 w 2200002"/>
                <a:gd name="connsiteY0-2" fmla="*/ 0 h 1000529"/>
                <a:gd name="connsiteX1-3" fmla="*/ 430196 w 2200002"/>
                <a:gd name="connsiteY1-4" fmla="*/ 182654 h 1000529"/>
                <a:gd name="connsiteX2-5" fmla="*/ 1815586 w 2200002"/>
                <a:gd name="connsiteY2-6" fmla="*/ 848052 h 1000529"/>
                <a:gd name="connsiteX3-7" fmla="*/ 2200002 w 2200002"/>
                <a:gd name="connsiteY3-8" fmla="*/ 1000529 h 1000529"/>
                <a:gd name="connsiteX4-9" fmla="*/ 0 w 2200002"/>
                <a:gd name="connsiteY4-10" fmla="*/ 572989 h 1000529"/>
                <a:gd name="connsiteX5-11" fmla="*/ 54717 w 2200002"/>
                <a:gd name="connsiteY5-12" fmla="*/ 313759 h 1000529"/>
                <a:gd name="connsiteX6" fmla="*/ 116730 w 2200002"/>
                <a:gd name="connsiteY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" y="connsiteY6"/>
                </a:cxn>
              </a:cxnLst>
              <a:rect l="l" t="t" r="r" b="b"/>
              <a:pathLst>
                <a:path w="2200002" h="1000529">
                  <a:moveTo>
                    <a:pt x="116730" y="0"/>
                  </a:moveTo>
                  <a:lnTo>
                    <a:pt x="430196" y="182654"/>
                  </a:lnTo>
                  <a:cubicBezTo>
                    <a:pt x="856807" y="419361"/>
                    <a:pt x="1319919" y="641763"/>
                    <a:pt x="1815586" y="848052"/>
                  </a:cubicBezTo>
                  <a:lnTo>
                    <a:pt x="2200002" y="1000529"/>
                  </a:lnTo>
                  <a:lnTo>
                    <a:pt x="0" y="572989"/>
                  </a:lnTo>
                  <a:lnTo>
                    <a:pt x="54717" y="313759"/>
                  </a:lnTo>
                  <a:lnTo>
                    <a:pt x="11673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flipH="1">
            <a:off x="8764681" y="5731544"/>
            <a:ext cx="3466057" cy="1366557"/>
            <a:chOff x="-36105" y="5726916"/>
            <a:chExt cx="3466057" cy="1366557"/>
          </a:xfrm>
        </p:grpSpPr>
        <p:sp>
          <p:nvSpPr>
            <p:cNvPr id="26" name="任意多边形: 形状 9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" name="任意多边形: 形状 10"/>
            <p:cNvSpPr/>
            <p:nvPr/>
          </p:nvSpPr>
          <p:spPr>
            <a:xfrm rot="20929187">
              <a:off x="-36105" y="6080027"/>
              <a:ext cx="2197695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29362 w 2212634"/>
                <a:gd name="connsiteY0-2" fmla="*/ 0 h 1000529"/>
                <a:gd name="connsiteX1-3" fmla="*/ 442828 w 2212634"/>
                <a:gd name="connsiteY1-4" fmla="*/ 182654 h 1000529"/>
                <a:gd name="connsiteX2-5" fmla="*/ 1828218 w 2212634"/>
                <a:gd name="connsiteY2-6" fmla="*/ 848052 h 1000529"/>
                <a:gd name="connsiteX3-7" fmla="*/ 2212634 w 2212634"/>
                <a:gd name="connsiteY3-8" fmla="*/ 1000529 h 1000529"/>
                <a:gd name="connsiteX4-9" fmla="*/ 0 w 2212634"/>
                <a:gd name="connsiteY4-10" fmla="*/ 563211 h 1000529"/>
                <a:gd name="connsiteX5-11" fmla="*/ 67349 w 2212634"/>
                <a:gd name="connsiteY5-12" fmla="*/ 313759 h 1000529"/>
                <a:gd name="connsiteX6" fmla="*/ 129362 w 2212634"/>
                <a:gd name="connsiteY6" fmla="*/ 0 h 1000529"/>
                <a:gd name="connsiteX0-13" fmla="*/ 114423 w 2197695"/>
                <a:gd name="connsiteY0-14" fmla="*/ 0 h 1000529"/>
                <a:gd name="connsiteX1-15" fmla="*/ 427889 w 2197695"/>
                <a:gd name="connsiteY1-16" fmla="*/ 182654 h 1000529"/>
                <a:gd name="connsiteX2-17" fmla="*/ 1813279 w 2197695"/>
                <a:gd name="connsiteY2-18" fmla="*/ 848052 h 1000529"/>
                <a:gd name="connsiteX3-19" fmla="*/ 2197695 w 2197695"/>
                <a:gd name="connsiteY3-20" fmla="*/ 1000529 h 1000529"/>
                <a:gd name="connsiteX4-21" fmla="*/ 0 w 2197695"/>
                <a:gd name="connsiteY4-22" fmla="*/ 561310 h 1000529"/>
                <a:gd name="connsiteX5-23" fmla="*/ 52410 w 2197695"/>
                <a:gd name="connsiteY5-24" fmla="*/ 313759 h 1000529"/>
                <a:gd name="connsiteX6-25" fmla="*/ 114423 w 2197695"/>
                <a:gd name="connsiteY6-2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25" y="connsiteY6-26"/>
                </a:cxn>
              </a:cxnLst>
              <a:rect l="l" t="t" r="r" b="b"/>
              <a:pathLst>
                <a:path w="2197695" h="1000529">
                  <a:moveTo>
                    <a:pt x="114423" y="0"/>
                  </a:moveTo>
                  <a:lnTo>
                    <a:pt x="427889" y="182654"/>
                  </a:lnTo>
                  <a:cubicBezTo>
                    <a:pt x="854500" y="419361"/>
                    <a:pt x="1317612" y="641763"/>
                    <a:pt x="1813279" y="848052"/>
                  </a:cubicBezTo>
                  <a:lnTo>
                    <a:pt x="2197695" y="1000529"/>
                  </a:lnTo>
                  <a:lnTo>
                    <a:pt x="0" y="561310"/>
                  </a:lnTo>
                  <a:lnTo>
                    <a:pt x="52410" y="313759"/>
                  </a:lnTo>
                  <a:lnTo>
                    <a:pt x="11442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4" y="189577"/>
            <a:ext cx="4490450" cy="687501"/>
          </a:xfrm>
          <a:prstGeom prst="rect">
            <a:avLst/>
          </a:prstGeom>
        </p:spPr>
      </p:pic>
      <p:pic>
        <p:nvPicPr>
          <p:cNvPr id="5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90" y="207483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640080" y="1783080"/>
            <a:ext cx="1090879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稀土调控 Cu 电子态</a:t>
            </a:r>
          </a:p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用于 CO₂ 加氢制乙醇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840480"/>
            <a:ext cx="99943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2300" b="1">
                <a:solidFill>
                  <a:srgbClr val="17375E"/>
                </a:solidFill>
                <a:latin typeface="Noto Sans CJK SC"/>
                <a:ea typeface="Noto Sans CJK SC"/>
              </a:rPr>
              <a:t>以稀土为探针，检验电子态对 C–C 偶联的作用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645152"/>
            <a:ext cx="85313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607083"/>
                </a:solidFill>
                <a:latin typeface="Noto Sans CJK SC"/>
                <a:ea typeface="Noto Sans CJK SC"/>
              </a:rPr>
              <a:t>文献依据与立项思路</a:t>
            </a:r>
          </a:p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607083"/>
                </a:solidFill>
                <a:latin typeface="Noto Sans CJK SC"/>
                <a:ea typeface="Noto Sans CJK SC"/>
              </a:rPr>
              <a:t>Cu@Na-Beta × Cu-Y/Beta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6016752"/>
            <a:ext cx="72511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014099"/>
                </a:solidFill>
                <a:latin typeface="Noto Sans CJK SC"/>
                <a:ea typeface="Noto Sans CJK SC"/>
              </a:rPr>
              <a:t>2026年10月12日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"/>
    </mc:Choice>
    <mc:Fallback>
      <p:transition spd="slow" advTm="938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Cu@Na-Beta：高选择性、可复现的研究基线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2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文献基础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[1] Ding et al., Chem 2020, 6, 2673–2689. Fig. 1B, 1D; Table 1.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1033271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014099"/>
                </a:solidFill>
                <a:latin typeface="Noto Sans CJK SC"/>
                <a:ea typeface="Noto Sans CJK SC"/>
              </a:rPr>
              <a:t>原文证据｜压力响应与 100 h 稳定性</a:t>
            </a:r>
          </a:p>
        </p:txBody>
      </p:sp>
      <p:pic>
        <p:nvPicPr>
          <p:cNvPr id="36" name="Picture 35" descr="chem_fig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0321"/>
            <a:ext cx="2743200" cy="2224668"/>
          </a:xfrm>
          <a:prstGeom prst="rect">
            <a:avLst/>
          </a:prstGeom>
        </p:spPr>
      </p:pic>
      <p:pic>
        <p:nvPicPr>
          <p:cNvPr id="37" name="Picture 36" descr="chem_fig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858685"/>
            <a:ext cx="2743200" cy="220794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" y="44165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300" b="0">
                <a:solidFill>
                  <a:srgbClr val="607083"/>
                </a:solidFill>
                <a:latin typeface="Noto Sans CJK SC"/>
                <a:ea typeface="Noto Sans CJK SC"/>
              </a:rPr>
              <a:t>Fig. 1B｜压力响应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4165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300" b="0">
                <a:solidFill>
                  <a:srgbClr val="607083"/>
                </a:solidFill>
                <a:latin typeface="Noto Sans CJK SC"/>
                <a:ea typeface="Noto Sans CJK SC"/>
              </a:rPr>
              <a:t>Fig. 1D｜连续运行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3776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26374B"/>
                </a:solidFill>
                <a:latin typeface="Noto Sans CJK SC"/>
                <a:ea typeface="Noto Sans CJK SC"/>
              </a:rPr>
              <a:t>乙醇为唯一有机产物；仍有 CO 副产物。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55664" y="1115568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12252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1.3 MPa 基线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1673352"/>
            <a:ext cx="45445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300" b="1">
                <a:solidFill>
                  <a:srgbClr val="17375E"/>
                </a:solidFill>
                <a:latin typeface="Noto Sans CJK SC"/>
                <a:ea typeface="Noto Sans CJK SC"/>
              </a:rPr>
              <a:t>STY 258  ·  CO₂ 转化率 7.9%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55664" y="2487168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25968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2.1 MPa 优化条件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044952"/>
            <a:ext cx="4572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200" b="1">
                <a:solidFill>
                  <a:srgbClr val="17375E"/>
                </a:solidFill>
                <a:latin typeface="Noto Sans CJK SC"/>
                <a:ea typeface="Noto Sans CJK SC"/>
              </a:rPr>
              <a:t>STY ≈398  ·  乙醇收率 ≈14%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3931920"/>
            <a:ext cx="477316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26374B"/>
                </a:solidFill>
                <a:latin typeface="Noto Sans CJK SC"/>
                <a:ea typeface="Noto Sans CJK SC"/>
              </a:rPr>
              <a:t>同条件下，封装型 STY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26374B"/>
                </a:solidFill>
                <a:latin typeface="Noto Sans CJK SC"/>
                <a:ea typeface="Noto Sans CJK SC"/>
              </a:rPr>
              <a:t>为浸渍型的 5.6 倍。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6248" y="4800600"/>
            <a:ext cx="479145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200" b="0">
                <a:solidFill>
                  <a:srgbClr val="607083"/>
                </a:solidFill>
                <a:latin typeface="Noto Sans CJK SC"/>
                <a:ea typeface="Noto Sans CJK SC"/>
              </a:rPr>
              <a:t>STY：mg·gcat⁻¹·h⁻¹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200" b="0">
                <a:solidFill>
                  <a:srgbClr val="607083"/>
                </a:solidFill>
                <a:latin typeface="Noto Sans CJK SC"/>
                <a:ea typeface="Noto Sans CJK SC"/>
              </a:rPr>
              <a:t>300 °C；H₂/CO₂ = 3；GHSV = 12,000 mL·gcat⁻¹·h⁻¹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研究起点：保留封装优势，进一步回答活性位的电子态问题。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金属 Cu 为主，少量电正性 Cu 的作用仍待厘清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3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科学问题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[1] Chem 2020. Fig. 2G; Supporting Information, Fig. S6b; pp. 2678, 2686.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051560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工况 XANES：以 Cu⁰ 为主</a:t>
            </a:r>
          </a:p>
        </p:txBody>
      </p:sp>
      <p:pic>
        <p:nvPicPr>
          <p:cNvPr id="36" name="Picture 35" descr="chem_fig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40" y="1645920"/>
            <a:ext cx="2754559" cy="35935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20" y="535838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250 °C，0.5 MPa，H₂/CO₂ =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105156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Cu LMM：少量电正性 Cu</a:t>
            </a:r>
          </a:p>
        </p:txBody>
      </p:sp>
      <p:pic>
        <p:nvPicPr>
          <p:cNvPr id="39" name="Picture 38" descr="chem_figS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3" y="1853762"/>
            <a:ext cx="3273552" cy="312304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087368" y="5358384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反应气处理后无空气转移表征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82127" y="1179576"/>
            <a:ext cx="3703320" cy="43708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9872" y="1399032"/>
            <a:ext cx="32461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014099"/>
                </a:solidFill>
                <a:latin typeface="Noto Sans CJK SC"/>
                <a:ea typeface="Noto Sans CJK SC"/>
              </a:rPr>
              <a:t>真正缺少的证据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11226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00" b="1">
                <a:solidFill>
                  <a:srgbClr val="087E8B"/>
                </a:solidFill>
                <a:latin typeface="Noto Sans CJK SC"/>
                <a:ea typeface="Noto Sans CJK SC"/>
              </a:rPr>
              <a:t>稳态含量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2505456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反应时有多少 Cu⁺？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200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00" b="1">
                <a:solidFill>
                  <a:srgbClr val="087E8B"/>
                </a:solidFill>
                <a:latin typeface="Noto Sans CJK SC"/>
                <a:ea typeface="Noto Sans CJK SC"/>
              </a:rPr>
              <a:t>功能贡献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593592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Cu⁺ 是否影响乙醇形成？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2885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00" b="1">
                <a:solidFill>
                  <a:srgbClr val="087E8B"/>
                </a:solidFill>
                <a:latin typeface="Noto Sans CJK SC"/>
                <a:ea typeface="Noto Sans CJK SC"/>
              </a:rPr>
              <a:t>独立变量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681728"/>
            <a:ext cx="3127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能否排除粒径、孔结构和酸性？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体相与表面信息不等同；需要同工况定量，而非直接认定谱学“矛盾”。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Y 能改变 Cu 的还原行为，但反应效应需重新验证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4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稀土依据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[2] Zhang et al., Angew. Chem. Int. Ed. 2025, 64, e202514920. Fig. 2d, 2h; Conclusion.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1069848"/>
            <a:ext cx="2487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2200" b="1">
                <a:solidFill>
                  <a:srgbClr val="014099"/>
                </a:solidFill>
                <a:latin typeface="Noto Sans CJK SC"/>
                <a:ea typeface="Noto Sans CJK SC"/>
              </a:rPr>
              <a:t>Cu-Y/Beta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1069848"/>
            <a:ext cx="2487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2200" b="1">
                <a:solidFill>
                  <a:srgbClr val="014099"/>
                </a:solidFill>
                <a:latin typeface="Noto Sans CJK SC"/>
                <a:ea typeface="Noto Sans CJK SC"/>
              </a:rPr>
              <a:t>Cu-Beta</a:t>
            </a:r>
          </a:p>
        </p:txBody>
      </p:sp>
      <p:pic>
        <p:nvPicPr>
          <p:cNvPr id="37" name="Picture 36" descr="ang_fig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7" y="1664208"/>
            <a:ext cx="2608564" cy="3429000"/>
          </a:xfrm>
          <a:prstGeom prst="rect">
            <a:avLst/>
          </a:prstGeom>
        </p:spPr>
      </p:pic>
      <p:pic>
        <p:nvPicPr>
          <p:cNvPr id="38" name="Picture 37" descr="ang_fig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130" y="1664208"/>
            <a:ext cx="2592658" cy="3429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4088" y="528523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200" b="0">
                <a:solidFill>
                  <a:srgbClr val="607083"/>
                </a:solidFill>
                <a:latin typeface="Noto Sans CJK SC"/>
                <a:ea typeface="Noto Sans CJK SC"/>
              </a:rPr>
              <a:t>Fig. 2d / 2h｜蓝色：Cu(I)；黑色：Cu(0)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55664" y="1152144"/>
            <a:ext cx="5074920" cy="192024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4264" y="1316736"/>
            <a:ext cx="45537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014099"/>
                </a:solidFill>
                <a:latin typeface="Noto Sans CJK SC"/>
                <a:ea typeface="Noto Sans CJK SC"/>
              </a:rPr>
              <a:t>已证实：存在价态调控手段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4264" y="1828800"/>
            <a:ext cx="45354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900" b="0">
                <a:solidFill>
                  <a:srgbClr val="26374B"/>
                </a:solidFill>
                <a:latin typeface="Noto Sans CJK SC"/>
                <a:ea typeface="Noto Sans CJK SC"/>
              </a:rPr>
              <a:t>6 wt% Y；350 °C，纯 H₂ 还原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900" b="0">
                <a:solidFill>
                  <a:srgbClr val="26374B"/>
                </a:solidFill>
                <a:latin typeface="Noto Sans CJK SC"/>
                <a:ea typeface="Noto Sans CJK SC"/>
              </a:rPr>
              <a:t>约 0.4 wt% Cu 仍为 Cu(I)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900" b="0">
                <a:solidFill>
                  <a:srgbClr val="26374B"/>
                </a:solidFill>
                <a:latin typeface="Noto Sans CJK SC"/>
                <a:ea typeface="Noto Sans CJK SC"/>
              </a:rPr>
              <a:t>该数值是占催化剂总质量的含量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55664" y="3346704"/>
            <a:ext cx="5074920" cy="2121408"/>
          </a:xfrm>
          <a:prstGeom prst="roundRect">
            <a:avLst>
              <a:gd name="adj" fmla="val 12000"/>
            </a:avLst>
          </a:prstGeom>
          <a:solidFill>
            <a:srgbClr val="FF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3502152"/>
            <a:ext cx="45537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A66312"/>
                </a:solidFill>
                <a:latin typeface="Noto Sans CJK SC"/>
                <a:ea typeface="Noto Sans CJK SC"/>
              </a:rPr>
              <a:t>待验证：能否迁移至目标体系？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4264" y="4041648"/>
            <a:ext cx="455371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50" b="0">
                <a:solidFill>
                  <a:srgbClr val="26374B"/>
                </a:solidFill>
                <a:latin typeface="Noto Sans CJK SC"/>
                <a:ea typeface="Noto Sans CJK SC"/>
              </a:rPr>
              <a:t>原文研究乙醇脱氢，Cu(I) 活性更低。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50" b="0">
                <a:solidFill>
                  <a:srgbClr val="26374B"/>
                </a:solidFill>
                <a:latin typeface="Noto Sans CJK SC"/>
                <a:ea typeface="Noto Sans CJK SC"/>
              </a:rPr>
              <a:t>脱铝 Beta 双单原子 ≠ Na-Beta 封装颗粒。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50" b="0">
                <a:solidFill>
                  <a:srgbClr val="26374B"/>
                </a:solidFill>
                <a:latin typeface="Noto Sans CJK SC"/>
                <a:ea typeface="Noto Sans CJK SC"/>
              </a:rPr>
              <a:t>目标工况能否稳定 Cu⁺，尚无直接证据。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立项依据：把 Cu 电子态变成可干预变量；不预设稀土一定促进乙醇合成。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六组对照：先检验封装，再区分几何与电子效应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5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研究设计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拟开展工作｜样品编号沿用逻辑文件；所有效应均待实验验证。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106984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014099"/>
                </a:solidFill>
                <a:latin typeface="Noto Sans CJK SC"/>
                <a:ea typeface="Noto Sans CJK SC"/>
              </a:rPr>
              <a:t>主变量：Y 负载 0.2 / 0.5 / 1 / 2 wt%  →  工况 f(Cu⁺)  →  乙醇碳选择性 / 速率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1783080"/>
            <a:ext cx="10908792" cy="438912"/>
          </a:xfrm>
          <a:prstGeom prst="rect">
            <a:avLst/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1815084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</a:rPr>
              <a:t>编号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1815084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</a:rPr>
              <a:t>拟构建样品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7" y="1815084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</a:rPr>
              <a:t>对照目的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2244852"/>
            <a:ext cx="10908792" cy="438912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2276856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2276856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Cu@Na-Beta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7" y="2276856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复现封装 Cu 基线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2706624"/>
            <a:ext cx="10908792" cy="43891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2738628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2738628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CuY@Na-Beta（拟晶内引入）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7" y="2738628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检验 Y 对 Cu 价态的干预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3168396"/>
            <a:ext cx="10908792" cy="438912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200400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3200400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CuLa@Na-Beta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7" y="3200400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比较稀土种类效应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3630168"/>
            <a:ext cx="10908792" cy="43891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3662172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91640" y="3662172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CuY/Na-Beta（晶外浸渍）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7" y="3662172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比较空间位置与接触方式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091939"/>
            <a:ext cx="10908792" cy="438912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4123944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1640" y="4123944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RE@Na-Beta（无 Cu）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207" y="4123944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识别稀土对孔结构与酸性的影响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553712"/>
            <a:ext cx="10908792" cy="43891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585716"/>
            <a:ext cx="7315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1">
                <a:solidFill>
                  <a:srgbClr val="26374B"/>
                </a:solidFill>
                <a:latin typeface="Noto Sans CJK SC"/>
                <a:ea typeface="Noto Sans CJK SC"/>
              </a:rPr>
              <a:t>S6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1640" y="4585716"/>
            <a:ext cx="43616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低 Cu 负载 + 稀土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207" y="4585716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50" b="0">
                <a:solidFill>
                  <a:srgbClr val="26374B"/>
                </a:solidFill>
                <a:latin typeface="Noto Sans CJK SC"/>
                <a:ea typeface="Noto Sans CJK SC"/>
              </a:rPr>
              <a:t>辅助区分粒径与价态效应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184648"/>
            <a:ext cx="1077163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26374B"/>
                </a:solidFill>
                <a:latin typeface="Noto Sans CJK SC"/>
                <a:ea typeface="Noto Sans CJK SC"/>
              </a:rPr>
              <a:t>匹配粒径 / Cu–Cu 配位数、孔结构、酸性；同时监测 Cu 流失与稀土位置。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A66312"/>
                </a:solidFill>
                <a:latin typeface="Noto Sans CJK SC"/>
                <a:ea typeface="Noto Sans CJK SC"/>
              </a:rPr>
              <a:t>拟定门槛：酸洗后 Cu 保留率 ≥80% 且介孔保留；不满足者先优化制备。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建立“价态—动力学—反应路径”的交叉证据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6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验证路线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[1] Chem 2020. Fig. 3A（原文同位素实验）；右侧为拟开展的验证路线。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1060704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原文方法基础｜同位素切换</a:t>
            </a:r>
          </a:p>
        </p:txBody>
      </p:sp>
      <p:pic>
        <p:nvPicPr>
          <p:cNvPr id="36" name="Picture 35" descr="chem_fig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14" y="1682496"/>
            <a:ext cx="2746026" cy="36393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3232" y="5413248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200" b="0">
                <a:solidFill>
                  <a:srgbClr val="607083"/>
                </a:solidFill>
                <a:latin typeface="Noto Sans CJK SC"/>
                <a:ea typeface="Noto Sans CJK SC"/>
              </a:rPr>
              <a:t>Fig. 3A｜¹²CO₂ / ¹³CO₂ 瞬态响应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44568" y="1207008"/>
            <a:ext cx="6922008" cy="125272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14721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600" b="1">
                <a:solidFill>
                  <a:srgbClr val="087E8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1316736"/>
            <a:ext cx="55778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014099"/>
                </a:solidFill>
                <a:latin typeface="Noto Sans CJK SC"/>
                <a:ea typeface="Noto Sans CJK SC"/>
              </a:rPr>
              <a:t>工况定量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1755648"/>
            <a:ext cx="557784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XANES 三标准拟合 + EXAFS；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报告 f(Cu⁺)、配位数及不确定度。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44568" y="2688336"/>
            <a:ext cx="6922008" cy="125272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2953512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600" b="1">
                <a:solidFill>
                  <a:srgbClr val="087E8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2798064"/>
            <a:ext cx="55778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014099"/>
                </a:solidFill>
                <a:latin typeface="Noto Sans CJK SC"/>
                <a:ea typeface="Noto Sans CJK SC"/>
              </a:rPr>
              <a:t>同条件关联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236976"/>
            <a:ext cx="557784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在线 GC 测 STY、含 CO 的碳选择性；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匹配结构后比较速率，检验可逆响应。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44568" y="4169663"/>
            <a:ext cx="6922008" cy="125272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2" y="4434840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600" b="1">
                <a:solidFill>
                  <a:srgbClr val="087E8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279392"/>
            <a:ext cx="55778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000" b="1">
                <a:solidFill>
                  <a:srgbClr val="014099"/>
                </a:solidFill>
                <a:latin typeface="Noto Sans CJK SC"/>
                <a:ea typeface="Noto Sans CJK SC"/>
              </a:rPr>
              <a:t>路径交叉验证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718303"/>
            <a:ext cx="557784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¹³CO₂ 切换 + GC-MS / 原位红外；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700" b="0">
                <a:solidFill>
                  <a:srgbClr val="26374B"/>
                </a:solidFill>
                <a:latin typeface="Noto Sans CJK SC"/>
                <a:ea typeface="Noto Sans CJK SC"/>
              </a:rPr>
              <a:t>DFT 比较有 / 无 Y 邻近的耦合势垒。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同位素证明碳源与路径；Cu⁺ 的位点归属还须谱学、扰动实验和理论共同支持。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24 个月路线：基线与定量方法先行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7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工作安排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拟开展工作｜阈值为本项目计划值；STY 基线取自 [1] Chem 2020, Table 1。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200" b="1">
                <a:solidFill>
                  <a:srgbClr val="014099"/>
                </a:solidFill>
                <a:latin typeface="Noto Sans CJK SC"/>
                <a:ea typeface="Noto Sans CJK SC"/>
              </a:rPr>
              <a:t>先复现，再调控；每一阶段都有进入下一步的判据。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1801368"/>
            <a:ext cx="1344168" cy="612648"/>
          </a:xfrm>
          <a:prstGeom prst="roundRect">
            <a:avLst>
              <a:gd name="adj" fmla="val 12000"/>
            </a:avLst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1856231"/>
            <a:ext cx="1271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01–04 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1801368"/>
            <a:ext cx="9281160" cy="61264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86584" y="1883664"/>
            <a:ext cx="19385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基线与定量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9704" y="1874519"/>
            <a:ext cx="3547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50" b="0">
                <a:solidFill>
                  <a:srgbClr val="26374B"/>
                </a:solidFill>
                <a:latin typeface="Noto Sans CJK SC"/>
                <a:ea typeface="Noto Sans CJK SC"/>
              </a:rPr>
              <a:t>复现 S0；建立 XANES 拟合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1865376"/>
            <a:ext cx="31181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0">
                <a:solidFill>
                  <a:srgbClr val="087E8B"/>
                </a:solidFill>
                <a:latin typeface="Noto Sans CJK SC"/>
                <a:ea typeface="Noto Sans CJK SC"/>
              </a:rPr>
              <a:t>STY ≥200；乙醇为唯一有机产物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" y="2551176"/>
            <a:ext cx="1344168" cy="612648"/>
          </a:xfrm>
          <a:prstGeom prst="roundRect">
            <a:avLst>
              <a:gd name="adj" fmla="val 12000"/>
            </a:avLst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2606040"/>
            <a:ext cx="1271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05–10 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2551176"/>
            <a:ext cx="9281160" cy="61264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86584" y="2633472"/>
            <a:ext cx="19385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样品与解耦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9704" y="2624328"/>
            <a:ext cx="3547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50" b="0">
                <a:solidFill>
                  <a:srgbClr val="26374B"/>
                </a:solidFill>
                <a:latin typeface="Noto Sans CJK SC"/>
                <a:ea typeface="Noto Sans CJK SC"/>
              </a:rPr>
              <a:t>稀土梯度 + 六组对照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592" y="2615184"/>
            <a:ext cx="31181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0">
                <a:solidFill>
                  <a:srgbClr val="087E8B"/>
                </a:solidFill>
                <a:latin typeface="Noto Sans CJK SC"/>
                <a:ea typeface="Noto Sans CJK SC"/>
              </a:rPr>
              <a:t>保留介孔；量化粒径与酸性变化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3300984"/>
            <a:ext cx="1344168" cy="612648"/>
          </a:xfrm>
          <a:prstGeom prst="roundRect">
            <a:avLst>
              <a:gd name="adj" fmla="val 12000"/>
            </a:avLst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355848"/>
            <a:ext cx="1271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11–16 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3300984"/>
            <a:ext cx="9281160" cy="61264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86584" y="3383279"/>
            <a:ext cx="19385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关联与机理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9704" y="3374136"/>
            <a:ext cx="3547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50" b="0">
                <a:solidFill>
                  <a:srgbClr val="26374B"/>
                </a:solidFill>
                <a:latin typeface="Noto Sans CJK SC"/>
                <a:ea typeface="Noto Sans CJK SC"/>
              </a:rPr>
              <a:t>价态 / 速率关联；同位素与红外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5592" y="3364991"/>
            <a:ext cx="31181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0">
                <a:solidFill>
                  <a:srgbClr val="087E8B"/>
                </a:solidFill>
                <a:latin typeface="Noto Sans CJK SC"/>
                <a:ea typeface="Noto Sans CJK SC"/>
              </a:rPr>
              <a:t>效应可重复；报告误差与负结果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4050791"/>
            <a:ext cx="1344168" cy="612648"/>
          </a:xfrm>
          <a:prstGeom prst="roundRect">
            <a:avLst>
              <a:gd name="adj" fmla="val 12000"/>
            </a:avLst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105655"/>
            <a:ext cx="1271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17–20 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94560" y="4050791"/>
            <a:ext cx="9281160" cy="61264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86584" y="4133087"/>
            <a:ext cx="19385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理论与稳健性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9704" y="4123944"/>
            <a:ext cx="3547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50" b="0">
                <a:solidFill>
                  <a:srgbClr val="26374B"/>
                </a:solidFill>
                <a:latin typeface="Noto Sans CJK SC"/>
                <a:ea typeface="Noto Sans CJK SC"/>
              </a:rPr>
              <a:t>DFT；100 h 与水共进料试验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5592" y="4114800"/>
            <a:ext cx="31181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0">
                <a:solidFill>
                  <a:srgbClr val="087E8B"/>
                </a:solidFill>
                <a:latin typeface="Noto Sans CJK SC"/>
                <a:ea typeface="Noto Sans CJK SC"/>
              </a:rPr>
              <a:t>解释价态演变、失活与性能权衡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4944" y="4800600"/>
            <a:ext cx="1344168" cy="612648"/>
          </a:xfrm>
          <a:prstGeom prst="roundRect">
            <a:avLst>
              <a:gd name="adj" fmla="val 12000"/>
            </a:avLst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855464"/>
            <a:ext cx="127101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21–24 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94560" y="4800600"/>
            <a:ext cx="9281160" cy="61264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86584" y="4882896"/>
            <a:ext cx="19385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证据整合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9704" y="4873752"/>
            <a:ext cx="3547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50" b="0">
                <a:solidFill>
                  <a:srgbClr val="26374B"/>
                </a:solidFill>
                <a:latin typeface="Noto Sans CJK SC"/>
                <a:ea typeface="Noto Sans CJK SC"/>
              </a:rPr>
              <a:t>整理数据；形成论文与方法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65592" y="4864608"/>
            <a:ext cx="31181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0">
                <a:solidFill>
                  <a:srgbClr val="087E8B"/>
                </a:solidFill>
                <a:latin typeface="Noto Sans CJK SC"/>
                <a:ea typeface="Noto Sans CJK SC"/>
              </a:rPr>
              <a:t>有充分证据后再评估专利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关键前提：先取得目标反应工况下可信的 Cu 价态定量，再讨论性能归因。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矩形 18"/>
          <p:cNvSpPr/>
          <p:nvPr/>
        </p:nvSpPr>
        <p:spPr>
          <a:xfrm>
            <a:off x="1920240" y="274320"/>
            <a:ext cx="9144000" cy="548640"/>
          </a:xfrm>
          <a:prstGeom prst="rect">
            <a:avLst/>
          </a:prstGeom>
        </p:spPr>
        <p:txBody>
          <a:bodyPr wrap="square" lIns="0" rIns="0" tIns="0" bIns="0" anchor="ctr">
            <a:spAutoFit/>
          </a:bodyPr>
          <a:p>
            <a:pPr algn="ctr">
              <a:lnSpc>
                <a:spcPct val="116000"/>
              </a:lnSpc>
              <a:spcAft>
                <a:spcPts val="500"/>
              </a:spcAft>
              <a:defRPr/>
            </a:pPr>
            <a:r>
              <a:rPr sz="2500" b="1">
                <a:solidFill>
                  <a:srgbClr val="014099"/>
                </a:solidFill>
                <a:latin typeface="Noto Sans CJK SC"/>
                <a:ea typeface="Noto Sans CJK SC"/>
              </a:rPr>
              <a:t>预期产出：回答电子态的作用，界定调控边界</a:t>
            </a:r>
            <a:endParaRPr lang="zh-CN" altLang="en-US" sz="2800" b="1" spc="100" dirty="0">
              <a:solidFill>
                <a:srgbClr val="003F9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灯片编号占位符 2"/>
          <p:cNvSpPr>
            <a:spLocks noGrp="1"/>
          </p:cNvSpPr>
          <p:nvPr/>
        </p:nvSpPr>
        <p:spPr>
          <a:xfrm>
            <a:off x="11228832" y="6492240"/>
            <a:ext cx="457200" cy="237744"/>
          </a:xfrm>
          <a:prstGeom prst="rect">
            <a:avLst/>
          </a:prstGeom>
        </p:spPr>
        <p:txBody>
          <a:bodyPr wrap="square" lIns="0" rIns="0" tIns="0" bIns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algn="r">
              <a:lnSpc>
                <a:spcPct val="116000"/>
              </a:lnSpc>
              <a:spcAft>
                <a:spcPts val="500"/>
              </a:spcAft>
              <a:defRPr/>
            </a:pPr>
            <a:r>
              <a:rPr sz="1100" b="0">
                <a:solidFill>
                  <a:srgbClr val="607083"/>
                </a:solidFill>
                <a:latin typeface="Noto Sans CJK SC"/>
                <a:ea typeface="Noto Sans CJK SC"/>
              </a:rPr>
              <a:t>8</a:t>
            </a:r>
            <a:endParaRPr lang="en-US" altLang="zh-CN" sz="1400" b="1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31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 lIns="0" rIns="0" tIns="0" bIns="0" anchor="ctr">
              <a:spAutoFit/>
            </a:bodyPr>
            <a:p>
              <a:pPr algn="ctr">
                <a:lnSpc>
                  <a:spcPct val="116000"/>
                </a:lnSpc>
                <a:spcAft>
                  <a:spcPts val="500"/>
                </a:spcAft>
              </a:pPr>
              <a:r>
                <a:rPr sz="1300" b="1">
                  <a:solidFill>
                    <a:srgbClr val="FFFFFF"/>
                  </a:solidFill>
                  <a:latin typeface="Noto Sans CJK SC"/>
                  <a:ea typeface="Noto Sans CJK SC"/>
                </a:rPr>
                <a:t>预期结果</a:t>
              </a:r>
              <a:endPara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38912" y="64922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950" b="0">
                <a:solidFill>
                  <a:srgbClr val="607083"/>
                </a:solidFill>
                <a:latin typeface="Noto Sans CJK SC"/>
                <a:ea typeface="Noto Sans CJK SC"/>
              </a:rPr>
              <a:t>依据：[1] Chem 2020, 6, 2673–2689；[2] Angew. Chem. Int. Ed. 2025, 64, e202514920。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106070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300" b="1">
                <a:solidFill>
                  <a:srgbClr val="014099"/>
                </a:solidFill>
                <a:latin typeface="Noto Sans CJK SC"/>
                <a:ea typeface="Noto Sans CJK SC"/>
              </a:rPr>
              <a:t>核心问题：在可比结构下，改变 f(Cu⁺) 是否改变乙醇形成？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" y="1856231"/>
            <a:ext cx="5184648" cy="157276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2039112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014099"/>
                </a:solidFill>
                <a:latin typeface="Noto Sans CJK SC"/>
                <a:ea typeface="Noto Sans CJK SC"/>
              </a:rPr>
              <a:t>A  性能随价态增强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2596896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支持电子态参与的假设；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进一步检验是否促进 C–C 偶联。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1856231"/>
            <a:ext cx="5184648" cy="157276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2039112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014099"/>
                </a:solidFill>
                <a:latin typeface="Noto Sans CJK SC"/>
                <a:ea typeface="Noto Sans CJK SC"/>
              </a:rPr>
              <a:t>B  负相关或未检出效应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2596896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界定抑制作用或检测范围；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不能据此证明“纯几何机制”。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" y="3685032"/>
            <a:ext cx="5184648" cy="1572768"/>
          </a:xfrm>
          <a:prstGeom prst="roundRect">
            <a:avLst>
              <a:gd name="adj" fmla="val 12000"/>
            </a:avLst>
          </a:prstGeom>
          <a:solidFill>
            <a:srgbClr val="FF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3867912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A66312"/>
                </a:solidFill>
                <a:latin typeface="Noto Sans CJK SC"/>
                <a:ea typeface="Noto Sans CJK SC"/>
              </a:rPr>
              <a:t>C  封装结构被破坏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425696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给出稀土引入的工艺边界；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暂停将性能变化归因于价态。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1072" y="3685032"/>
            <a:ext cx="5184648" cy="1572768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3867912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2100" b="1">
                <a:solidFill>
                  <a:srgbClr val="014099"/>
                </a:solidFill>
                <a:latin typeface="Noto Sans CJK SC"/>
                <a:ea typeface="Noto Sans CJK SC"/>
              </a:rPr>
              <a:t>D  活性与稳定性出现权衡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4425696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比较抗水汽、CO 副产与寿命；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800" b="0">
                <a:solidFill>
                  <a:srgbClr val="26374B"/>
                </a:solidFill>
                <a:latin typeface="Noto Sans CJK SC"/>
                <a:ea typeface="Noto Sans CJK SC"/>
              </a:rPr>
              <a:t>评价调控的实际收益。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84301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87959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500"/>
              </a:spcAft>
            </a:pPr>
            <a:r>
              <a:rPr sz="1800" b="1">
                <a:solidFill>
                  <a:srgbClr val="014099"/>
                </a:solidFill>
                <a:latin typeface="Noto Sans CJK SC"/>
                <a:ea typeface="Noto Sans CJK SC"/>
              </a:rPr>
              <a:t>交付目标：一套工况定量方法 + 一条受控证据链；不以性能超过文献为前提。</a:t>
            </a:r>
          </a:p>
        </p:txBody>
      </p:sp>
    </p:spTree>
  </p:cSld>
  <p:clrMapOvr>
    <a:masterClrMapping/>
  </p:clrMapOvr>
</p:sld>
</file>

<file path=ppt/tags/tag25.xml><?xml version="1.0" encoding="utf-8"?>
<p:tagLst xmlns:p="http://schemas.openxmlformats.org/presentationml/2006/main">
  <p:tag name="ISPRING_PRESENTATION_TITLE" val="PowerPoint 演示文稿"/>
  <p:tag name="KSO_WPP_MARK_KEY" val="29a7757d-6c0b-44f1-9ac6-ae21c2ab77ee"/>
  <p:tag name="COMMONDATA" val="eyJoZGlkIjoiODE2OTQwZDllYTBhMDVkOWJjMjQzMTgyNDlkYTVhOTgifQ=="/>
  <p:tag name="commondata" val="eyJoZGlkIjoiOGIzZWI0MmEwM2M1Yjc0MGM4YzYyZDg4NzI4N2JiYWEifQ=="/>
  <p:tag name="resource_record_key" val="{&quot;70&quot;:[3327356,3312417,3321782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演示</Application>
  <PresentationFormat>宽屏</PresentationFormat>
  <Paragraphs>38</Paragraphs>
  <Slides>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Times New Roman</vt:lpstr>
      <vt:lpstr>方正超粗黑简体</vt:lpstr>
      <vt:lpstr>黑体</vt:lpstr>
      <vt:lpstr>Calibri</vt:lpstr>
      <vt:lpstr>等线</vt:lpstr>
      <vt:lpstr>阿里巴巴普惠体</vt:lpstr>
      <vt:lpstr>Times New Roman</vt:lpstr>
      <vt:lpstr>Microsoft JhengHei</vt:lpstr>
      <vt:lpstr>Arial Unicode MS</vt:lpstr>
      <vt:lpstr>Arial Unicode MS</vt:lpstr>
      <vt:lpstr>Wingdings</vt:lpstr>
      <vt:lpstr>等线 Light</vt:lpstr>
      <vt:lpstr>方正超粗黑简体</vt:lpstr>
      <vt:lpstr>阿里巴巴普惠体</vt:lpstr>
      <vt:lpstr>Segoe Print</vt:lpstr>
      <vt:lpstr>阿里巴巴和七个小矮人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张捷</cp:lastModifiedBy>
  <cp:revision>1420</cp:revision>
  <dcterms:created xsi:type="dcterms:W3CDTF">2026-07-19T04:26:00Z</dcterms:created>
  <dcterms:modified xsi:type="dcterms:W3CDTF">2026-10-11T16:09:27Z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CC98CDD3C944418992CAE26ADDD3B493_13</vt:lpwstr>
  </property>
  <property fmtid="{D5CDD505-2E9C-101B-9397-08002B2CF9AE}" pid="3" name="KSOProductBuildVer">
    <vt:lpwstr>2052-12.1.0.28505</vt:lpwstr>
  </property>
</Properties>
</file>